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12"/>
  </p:notesMasterIdLst>
  <p:sldIdLst>
    <p:sldId id="256" r:id="rId2"/>
    <p:sldId id="257" r:id="rId3"/>
    <p:sldId id="267"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E90219-9BCA-445C-8DA3-690A7DE4E488}" type="datetimeFigureOut">
              <a:rPr lang="en-IN" smtClean="0"/>
              <a:t>12-02-2026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A92E3-1F09-4CCF-BF02-46ECB4325B6A}" type="slidenum">
              <a:rPr lang="en-IN" smtClean="0"/>
              <a:t>‹#›</a:t>
            </a:fld>
            <a:endParaRPr lang="en-IN"/>
          </a:p>
        </p:txBody>
      </p:sp>
    </p:spTree>
    <p:extLst>
      <p:ext uri="{BB962C8B-B14F-4D97-AF65-F5344CB8AC3E}">
        <p14:creationId xmlns:p14="http://schemas.microsoft.com/office/powerpoint/2010/main" val="1243800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6A92E3-1F09-4CCF-BF02-46ECB4325B6A}" type="slidenum">
              <a:rPr lang="en-IN" smtClean="0"/>
              <a:t>1</a:t>
            </a:fld>
            <a:endParaRPr lang="en-IN"/>
          </a:p>
        </p:txBody>
      </p:sp>
    </p:spTree>
    <p:extLst>
      <p:ext uri="{BB962C8B-B14F-4D97-AF65-F5344CB8AC3E}">
        <p14:creationId xmlns:p14="http://schemas.microsoft.com/office/powerpoint/2010/main" val="3793301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54C47B-8D98-8D62-457A-33780D050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E55578-E89D-40DA-4137-A45326780709}"/>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F13EBCF5-4BEF-7225-9A15-BD2D6BBAD7C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DFFE83F-E527-D05E-AE75-2DEEF1F64D33}"/>
              </a:ext>
            </a:extLst>
          </p:cNvPr>
          <p:cNvSpPr>
            <a:spLocks noGrp="1"/>
          </p:cNvSpPr>
          <p:nvPr>
            <p:ph type="sldNum" sz="quarter" idx="5"/>
          </p:nvPr>
        </p:nvSpPr>
        <p:spPr/>
        <p:txBody>
          <a:bodyPr/>
          <a:lstStyle/>
          <a:p>
            <a:fld id="{A76A92E3-1F09-4CCF-BF02-46ECB4325B6A}" type="slidenum">
              <a:rPr lang="en-IN" smtClean="0"/>
              <a:t>4</a:t>
            </a:fld>
            <a:endParaRPr lang="en-IN"/>
          </a:p>
        </p:txBody>
      </p:sp>
    </p:spTree>
    <p:extLst>
      <p:ext uri="{BB962C8B-B14F-4D97-AF65-F5344CB8AC3E}">
        <p14:creationId xmlns:p14="http://schemas.microsoft.com/office/powerpoint/2010/main" val="1271271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2/12/2026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2/12/2026</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A4B3C-3333-F7E8-CCF5-FBC38B1CEA9D}"/>
              </a:ext>
            </a:extLst>
          </p:cNvPr>
          <p:cNvSpPr>
            <a:spLocks noGrp="1"/>
          </p:cNvSpPr>
          <p:nvPr>
            <p:ph type="ctrTitle"/>
          </p:nvPr>
        </p:nvSpPr>
        <p:spPr/>
        <p:txBody>
          <a:bodyPr>
            <a:normAutofit/>
          </a:bodyPr>
          <a:lstStyle/>
          <a:p>
            <a:br>
              <a:rPr lang="en-US" altLang="en-US" sz="6000" b="1" dirty="0">
                <a:sym typeface="+mn-ea"/>
              </a:rPr>
            </a:br>
            <a:r>
              <a:rPr lang="en-US" altLang="en-US" sz="5400" b="1" dirty="0">
                <a:effectLst>
                  <a:glow rad="25400">
                    <a:schemeClr val="bg1">
                      <a:lumMod val="95000"/>
                    </a:schemeClr>
                  </a:glow>
                  <a:outerShdw blurRad="25400" dist="203200" dir="8520000" algn="ctr" rotWithShape="0">
                    <a:schemeClr val="tx2">
                      <a:lumMod val="75000"/>
                      <a:alpha val="43000"/>
                    </a:schemeClr>
                  </a:outerShdw>
                </a:effectLst>
                <a:latin typeface="Arial Black" panose="020B0A04020102020204" pitchFamily="34" charset="0"/>
                <a:sym typeface="+mn-ea"/>
              </a:rPr>
              <a:t>ELECTVIZ</a:t>
            </a:r>
            <a:endParaRPr lang="en-IN" dirty="0">
              <a:effectLst>
                <a:glow rad="25400">
                  <a:schemeClr val="bg1">
                    <a:lumMod val="95000"/>
                  </a:schemeClr>
                </a:glow>
                <a:outerShdw blurRad="25400" dist="203200" dir="8520000" algn="ctr" rotWithShape="0">
                  <a:schemeClr val="tx2">
                    <a:lumMod val="75000"/>
                    <a:alpha val="43000"/>
                  </a:schemeClr>
                </a:outerShdw>
              </a:effectLst>
            </a:endParaRPr>
          </a:p>
        </p:txBody>
      </p:sp>
      <p:sp>
        <p:nvSpPr>
          <p:cNvPr id="3" name="Subtitle 2">
            <a:extLst>
              <a:ext uri="{FF2B5EF4-FFF2-40B4-BE49-F238E27FC236}">
                <a16:creationId xmlns:a16="http://schemas.microsoft.com/office/drawing/2014/main" id="{7F013BE8-EA1C-FC52-5265-7B6C8DCF67CF}"/>
              </a:ext>
            </a:extLst>
          </p:cNvPr>
          <p:cNvSpPr>
            <a:spLocks noGrp="1"/>
          </p:cNvSpPr>
          <p:nvPr>
            <p:ph type="subTitle" idx="1"/>
          </p:nvPr>
        </p:nvSpPr>
        <p:spPr/>
        <p:txBody>
          <a:bodyPr/>
          <a:lstStyle/>
          <a:p>
            <a:r>
              <a:rPr lang="en-US" altLang="en-US" sz="2400" b="1" dirty="0">
                <a:effectLst>
                  <a:glow rad="63500">
                    <a:schemeClr val="bg1">
                      <a:lumMod val="95000"/>
                      <a:alpha val="40000"/>
                    </a:schemeClr>
                  </a:glow>
                  <a:outerShdw blurRad="50800" dist="76200" dir="2760000" algn="ctr" rotWithShape="0">
                    <a:srgbClr val="000000">
                      <a:alpha val="43137"/>
                    </a:srgbClr>
                  </a:outerShdw>
                </a:effectLst>
                <a:sym typeface="+mn-ea"/>
              </a:rPr>
              <a:t>Election Data Visualization for Media</a:t>
            </a:r>
            <a:endParaRPr lang="en-IN" dirty="0">
              <a:effectLst>
                <a:glow rad="63500">
                  <a:schemeClr val="bg1">
                    <a:lumMod val="95000"/>
                    <a:alpha val="40000"/>
                  </a:schemeClr>
                </a:glow>
                <a:outerShdw blurRad="50800" dist="76200" dir="2760000" algn="ctr" rotWithShape="0">
                  <a:srgbClr val="000000">
                    <a:alpha val="43137"/>
                  </a:srgbClr>
                </a:outerShdw>
              </a:effectLst>
            </a:endParaRPr>
          </a:p>
        </p:txBody>
      </p:sp>
      <p:sp>
        <p:nvSpPr>
          <p:cNvPr id="4" name="TextBox 3">
            <a:extLst>
              <a:ext uri="{FF2B5EF4-FFF2-40B4-BE49-F238E27FC236}">
                <a16:creationId xmlns:a16="http://schemas.microsoft.com/office/drawing/2014/main" id="{20D7FC20-94C1-7600-E0D1-F20C76367F17}"/>
              </a:ext>
            </a:extLst>
          </p:cNvPr>
          <p:cNvSpPr txBox="1"/>
          <p:nvPr/>
        </p:nvSpPr>
        <p:spPr>
          <a:xfrm>
            <a:off x="9454896" y="1216152"/>
            <a:ext cx="2532888" cy="3139321"/>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Infosys Springboard Data Visualization Internship 6.0 PPT</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By</a:t>
            </a:r>
          </a:p>
          <a:p>
            <a:r>
              <a:rPr lang="en-US" b="1" dirty="0">
                <a:latin typeface="Calibri" panose="020F0502020204030204" pitchFamily="34" charset="0"/>
                <a:ea typeface="Calibri" panose="020F0502020204030204" pitchFamily="34" charset="0"/>
                <a:cs typeface="Calibri" panose="020F0502020204030204" pitchFamily="34" charset="0"/>
              </a:rPr>
              <a:t>Diksha Palliwal,</a:t>
            </a:r>
          </a:p>
          <a:p>
            <a:r>
              <a:rPr lang="en-US" b="1" dirty="0">
                <a:latin typeface="Calibri" panose="020F0502020204030204" pitchFamily="34" charset="0"/>
                <a:ea typeface="Calibri" panose="020F0502020204030204" pitchFamily="34" charset="0"/>
                <a:cs typeface="Calibri" panose="020F0502020204030204" pitchFamily="34" charset="0"/>
              </a:rPr>
              <a:t>Batch 11, Team A</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Mentor</a:t>
            </a:r>
          </a:p>
          <a:p>
            <a:r>
              <a:rPr lang="en-US" b="1" dirty="0">
                <a:latin typeface="Calibri" panose="020F0502020204030204" pitchFamily="34" charset="0"/>
                <a:ea typeface="Calibri" panose="020F0502020204030204" pitchFamily="34" charset="0"/>
                <a:cs typeface="Calibri" panose="020F0502020204030204" pitchFamily="34" charset="0"/>
              </a:rPr>
              <a:t>Nityashri S. J.</a:t>
            </a:r>
          </a:p>
        </p:txBody>
      </p:sp>
    </p:spTree>
    <p:extLst>
      <p:ext uri="{BB962C8B-B14F-4D97-AF65-F5344CB8AC3E}">
        <p14:creationId xmlns:p14="http://schemas.microsoft.com/office/powerpoint/2010/main" val="30623233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97AC4D-732B-D7ED-F0F1-83157BF967BA}"/>
              </a:ext>
            </a:extLst>
          </p:cNvPr>
          <p:cNvSpPr>
            <a:spLocks noGrp="1"/>
          </p:cNvSpPr>
          <p:nvPr>
            <p:ph type="title"/>
          </p:nvPr>
        </p:nvSpPr>
        <p:spPr/>
        <p:txBody>
          <a:bodyPr>
            <a:normAutofit/>
          </a:bodyPr>
          <a:lstStyle/>
          <a:p>
            <a:r>
              <a:rPr lang="en-US" sz="3200" b="1" dirty="0">
                <a:latin typeface="Arial Black" panose="020B0A04020102020204" pitchFamily="34" charset="0"/>
              </a:rPr>
              <a:t>Introduction</a:t>
            </a:r>
            <a:endParaRPr lang="en-IN" sz="3200" b="1" dirty="0">
              <a:latin typeface="Arial Black" panose="020B0A04020102020204" pitchFamily="34" charset="0"/>
            </a:endParaRPr>
          </a:p>
        </p:txBody>
      </p:sp>
      <p:sp>
        <p:nvSpPr>
          <p:cNvPr id="3" name="Content Placeholder 2">
            <a:extLst>
              <a:ext uri="{FF2B5EF4-FFF2-40B4-BE49-F238E27FC236}">
                <a16:creationId xmlns:a16="http://schemas.microsoft.com/office/drawing/2014/main" id="{7FFA0CAD-3BF9-E7E0-57DD-1EE7AF7D067E}"/>
              </a:ext>
            </a:extLst>
          </p:cNvPr>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ElectViz is an interactive Power BI dashboard designed to analyze Indian election data across multiple years.</a:t>
            </a:r>
          </a:p>
          <a:p>
            <a:pPr marL="0" indent="0" algn="just">
              <a:buNone/>
            </a:pP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 It provides insights into party performance, voter turnout, candidate demographics, gender distribution, and election trends at national and state levels. </a:t>
            </a:r>
          </a:p>
          <a:p>
            <a:pPr marL="0" indent="0" algn="just">
              <a:buNone/>
            </a:pPr>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Using dynamic filters and visualizations, this dashboard helps in understanding voting patterns, electoral strength of parties, and key factors influencing election outcomes in a simple and data-driven way.</a:t>
            </a:r>
          </a:p>
          <a:p>
            <a:pPr marL="0" indent="0">
              <a:buNone/>
            </a:pPr>
            <a:endParaRPr lang="en-IN" dirty="0"/>
          </a:p>
        </p:txBody>
      </p:sp>
    </p:spTree>
    <p:extLst>
      <p:ext uri="{BB962C8B-B14F-4D97-AF65-F5344CB8AC3E}">
        <p14:creationId xmlns:p14="http://schemas.microsoft.com/office/powerpoint/2010/main" val="3031985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0D881-5183-FBE7-2A82-4622F3CE0872}"/>
              </a:ext>
            </a:extLst>
          </p:cNvPr>
          <p:cNvSpPr>
            <a:spLocks noGrp="1"/>
          </p:cNvSpPr>
          <p:nvPr>
            <p:ph type="title"/>
          </p:nvPr>
        </p:nvSpPr>
        <p:spPr/>
        <p:txBody>
          <a:bodyPr/>
          <a:lstStyle/>
          <a:p>
            <a:r>
              <a:rPr lang="en-US" b="1" dirty="0"/>
              <a:t>Milestones</a:t>
            </a:r>
            <a:endParaRPr lang="en-IN" b="1" dirty="0"/>
          </a:p>
        </p:txBody>
      </p:sp>
      <p:sp>
        <p:nvSpPr>
          <p:cNvPr id="3" name="Content Placeholder 2">
            <a:extLst>
              <a:ext uri="{FF2B5EF4-FFF2-40B4-BE49-F238E27FC236}">
                <a16:creationId xmlns:a16="http://schemas.microsoft.com/office/drawing/2014/main" id="{1B8D2FF0-806A-2316-A4D6-42F34DCC1536}"/>
              </a:ext>
            </a:extLst>
          </p:cNvPr>
          <p:cNvSpPr>
            <a:spLocks noGrp="1"/>
          </p:cNvSpPr>
          <p:nvPr>
            <p:ph idx="1"/>
          </p:nvPr>
        </p:nvSpPr>
        <p:spPr>
          <a:xfrm>
            <a:off x="3869268" y="864108"/>
            <a:ext cx="7315200" cy="5516372"/>
          </a:xfrm>
        </p:spPr>
        <p:txBody>
          <a:bodyPr/>
          <a:lstStyle/>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1 – Data Preparation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Data collection, cleaning, preprocessing &amp; feature engineering (Vote Share %, Winning Margin %, Age Groups).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2 – Modelling &amp; Dashboards (Pg 1–3)</a:t>
            </a:r>
            <a:br>
              <a:rPr lang="en-IN"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Data modelling, DAX measures, and development of Overview, Party Performance &amp; Gender Analysis dashboards.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3 – Advanced Analytics (Pg 4–5)</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Electability analysis, trend analysis, close contest rate &amp; party momentum insights.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solidFill>
                  <a:schemeClr val="tx1"/>
                </a:solidFill>
                <a:latin typeface="Times New Roman" panose="02020603050405020304" pitchFamily="18" charset="0"/>
                <a:cs typeface="Times New Roman" panose="02020603050405020304" pitchFamily="18" charset="0"/>
              </a:rPr>
              <a:t>🔹 </a:t>
            </a:r>
            <a:r>
              <a:rPr lang="en-IN" b="1" dirty="0">
                <a:solidFill>
                  <a:schemeClr val="tx1"/>
                </a:solidFill>
                <a:latin typeface="Times New Roman" panose="02020603050405020304" pitchFamily="18" charset="0"/>
                <a:cs typeface="Times New Roman" panose="02020603050405020304" pitchFamily="18" charset="0"/>
              </a:rPr>
              <a:t>Milestone 4 – Outcome &amp; Deployment (Pg 6–7)</a:t>
            </a:r>
            <a:br>
              <a:rPr lang="en-IN" dirty="0">
                <a:solidFill>
                  <a:schemeClr val="tx1"/>
                </a:solidFill>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Winning factor analysis, decision support insights, GitHub/GitLab deployment &amp; milestone reports.</a:t>
            </a:r>
          </a:p>
          <a:p>
            <a:endParaRPr lang="en-IN" dirty="0"/>
          </a:p>
        </p:txBody>
      </p:sp>
    </p:spTree>
    <p:extLst>
      <p:ext uri="{BB962C8B-B14F-4D97-AF65-F5344CB8AC3E}">
        <p14:creationId xmlns:p14="http://schemas.microsoft.com/office/powerpoint/2010/main" val="21278842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041326-0B19-FEA1-F58F-18DF77A06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A95D64-731E-8A00-D6BF-5FB76F490A95}"/>
              </a:ext>
            </a:extLst>
          </p:cNvPr>
          <p:cNvSpPr>
            <a:spLocks noGrp="1"/>
          </p:cNvSpPr>
          <p:nvPr>
            <p:ph type="ctrTitle"/>
          </p:nvPr>
        </p:nvSpPr>
        <p:spPr>
          <a:xfrm>
            <a:off x="204216" y="859536"/>
            <a:ext cx="8866632" cy="1069848"/>
          </a:xfrm>
          <a:noFill/>
        </p:spPr>
        <p:txBody>
          <a:bodyPr>
            <a:normAutofit fontScale="90000"/>
          </a:bodyPr>
          <a:lstStyle/>
          <a:p>
            <a:br>
              <a:rPr lang="en-US" altLang="en-US" sz="6000" b="1" dirty="0">
                <a:sym typeface="+mn-ea"/>
              </a:rPr>
            </a:br>
            <a:r>
              <a:rPr lang="en-US" sz="3600" b="1" dirty="0">
                <a:latin typeface="Arial Black" panose="020B0A04020102020204" pitchFamily="34" charset="0"/>
              </a:rPr>
              <a:t>System Design </a:t>
            </a:r>
            <a:br>
              <a:rPr lang="en-US" sz="3600" b="1" dirty="0">
                <a:latin typeface="Arial Black" panose="020B0A04020102020204" pitchFamily="34" charset="0"/>
              </a:rPr>
            </a:br>
            <a:r>
              <a:rPr lang="en-US" sz="3600" b="1" dirty="0">
                <a:latin typeface="Arial Black" panose="020B0A04020102020204" pitchFamily="34" charset="0"/>
              </a:rPr>
              <a:t>                           </a:t>
            </a:r>
            <a:r>
              <a:rPr lang="en-US" sz="3600" dirty="0">
                <a:latin typeface="Arial Black" panose="020B0A04020102020204" pitchFamily="34" charset="0"/>
              </a:rPr>
              <a:t>– High Level Architecture</a:t>
            </a:r>
            <a:endParaRPr lang="en-IN" sz="3600" dirty="0"/>
          </a:p>
        </p:txBody>
      </p:sp>
      <p:sp>
        <p:nvSpPr>
          <p:cNvPr id="3" name="Subtitle 2">
            <a:extLst>
              <a:ext uri="{FF2B5EF4-FFF2-40B4-BE49-F238E27FC236}">
                <a16:creationId xmlns:a16="http://schemas.microsoft.com/office/drawing/2014/main" id="{1FE279BF-04F5-4E1B-0FCA-FB94C8AD083F}"/>
              </a:ext>
            </a:extLst>
          </p:cNvPr>
          <p:cNvSpPr>
            <a:spLocks noGrp="1"/>
          </p:cNvSpPr>
          <p:nvPr>
            <p:ph type="subTitle" idx="1"/>
          </p:nvPr>
        </p:nvSpPr>
        <p:spPr>
          <a:xfrm>
            <a:off x="204216" y="2084832"/>
            <a:ext cx="8210999" cy="3499814"/>
          </a:xfrm>
        </p:spPr>
        <p:txBody>
          <a:bodyPr>
            <a:normAutofit fontScale="92500" lnSpcReduction="20000"/>
          </a:bodyPr>
          <a:lstStyle/>
          <a:p>
            <a:pPr lvl="0" eaLnBrk="0" fontAlgn="base" hangingPunct="0">
              <a:lnSpc>
                <a:spcPct val="100000"/>
              </a:lnSpc>
              <a:spcBef>
                <a:spcPct val="0"/>
              </a:spcBef>
              <a:spcAft>
                <a:spcPct val="0"/>
              </a:spcAft>
              <a:buClrTx/>
              <a:buFontTx/>
              <a:buChar char="•"/>
            </a:pPr>
            <a:r>
              <a:rPr lang="en-US" altLang="en-US" b="1" dirty="0"/>
              <a:t>Data Sources</a:t>
            </a:r>
            <a:br>
              <a:rPr lang="en-US" altLang="en-US" dirty="0">
                <a:solidFill>
                  <a:schemeClr val="tx1"/>
                </a:solidFill>
                <a:latin typeface="Times New Roman" panose="02020603050405020304" pitchFamily="18" charset="0"/>
                <a:cs typeface="Times New Roman" panose="02020603050405020304" pitchFamily="18" charset="0"/>
              </a:rPr>
            </a:br>
            <a:r>
              <a:rPr lang="en-US" altLang="en-US" dirty="0">
                <a:solidFill>
                  <a:schemeClr val="tx1"/>
                </a:solidFill>
                <a:latin typeface="Times New Roman" panose="02020603050405020304" pitchFamily="18" charset="0"/>
                <a:cs typeface="Times New Roman" panose="02020603050405020304" pitchFamily="18" charset="0"/>
              </a:rPr>
              <a:t>  </a:t>
            </a:r>
            <a:r>
              <a:rPr lang="en-US" altLang="en-US" dirty="0"/>
              <a:t>Election datasets (CSV / Excel / Database)</a:t>
            </a:r>
          </a:p>
          <a:p>
            <a:pPr lvl="0" eaLnBrk="0" fontAlgn="base" hangingPunct="0">
              <a:lnSpc>
                <a:spcPct val="100000"/>
              </a:lnSpc>
              <a:spcBef>
                <a:spcPct val="0"/>
              </a:spcBef>
              <a:spcAft>
                <a:spcPct val="0"/>
              </a:spcAft>
              <a:buClrTx/>
            </a:pPr>
            <a:endParaRPr lang="en-US" altLang="en-US" dirty="0">
              <a:solidFill>
                <a:schemeClr val="tx1"/>
              </a:solidFill>
              <a:latin typeface="Times New Roman" panose="02020603050405020304" pitchFamily="18" charset="0"/>
              <a:cs typeface="Times New Roman" panose="02020603050405020304" pitchFamily="18" charset="0"/>
            </a:endParaRPr>
          </a:p>
          <a:p>
            <a:pPr lvl="0" eaLnBrk="0" fontAlgn="base" hangingPunct="0">
              <a:lnSpc>
                <a:spcPct val="100000"/>
              </a:lnSpc>
              <a:spcBef>
                <a:spcPct val="0"/>
              </a:spcBef>
              <a:spcAft>
                <a:spcPct val="0"/>
              </a:spcAft>
              <a:buClrTx/>
              <a:buFontTx/>
              <a:buChar char="•"/>
            </a:pPr>
            <a:r>
              <a:rPr lang="en-US" altLang="en-US" b="1" dirty="0"/>
              <a:t>Data Processing (Data Science Layer)</a:t>
            </a:r>
            <a:br>
              <a:rPr lang="en-US" altLang="en-US" dirty="0"/>
            </a:br>
            <a:r>
              <a:rPr lang="en-US" altLang="en-US" dirty="0"/>
              <a:t> Data cleaning, transformation, and feature engineering</a:t>
            </a:r>
            <a:br>
              <a:rPr lang="en-US" altLang="en-US" dirty="0"/>
            </a:br>
            <a:r>
              <a:rPr lang="en-US" altLang="en-US" dirty="0"/>
              <a:t> (vote share, turnout %, margins, age groups)</a:t>
            </a:r>
          </a:p>
          <a:p>
            <a:pPr lvl="0" eaLnBrk="0" fontAlgn="base" hangingPunct="0">
              <a:lnSpc>
                <a:spcPct val="100000"/>
              </a:lnSpc>
              <a:spcBef>
                <a:spcPct val="0"/>
              </a:spcBef>
              <a:spcAft>
                <a:spcPct val="0"/>
              </a:spcAft>
              <a:buClrTx/>
              <a:buFontTx/>
              <a:buChar char="•"/>
            </a:pPr>
            <a:endParaRPr lang="en-US" altLang="en-US" dirty="0"/>
          </a:p>
          <a:p>
            <a:pPr lvl="0" eaLnBrk="0" fontAlgn="base" hangingPunct="0">
              <a:lnSpc>
                <a:spcPct val="100000"/>
              </a:lnSpc>
              <a:spcBef>
                <a:spcPct val="0"/>
              </a:spcBef>
              <a:spcAft>
                <a:spcPct val="0"/>
              </a:spcAft>
              <a:buClrTx/>
              <a:buFontTx/>
              <a:buChar char="•"/>
            </a:pPr>
            <a:r>
              <a:rPr lang="en-US" altLang="en-US" b="1" dirty="0"/>
              <a:t>Data Modeling</a:t>
            </a:r>
            <a:br>
              <a:rPr lang="en-US" altLang="en-US" dirty="0"/>
            </a:br>
            <a:r>
              <a:rPr lang="en-US" altLang="en-US" dirty="0"/>
              <a:t> Fact–Dimension (Star Schema) model </a:t>
            </a:r>
            <a:br>
              <a:rPr lang="en-US" altLang="en-US" dirty="0"/>
            </a:br>
            <a:r>
              <a:rPr lang="en-US" altLang="en-US" dirty="0"/>
              <a:t> Enables fast aggregation and filtering</a:t>
            </a:r>
          </a:p>
          <a:p>
            <a:pPr lvl="0" eaLnBrk="0" fontAlgn="base" hangingPunct="0">
              <a:lnSpc>
                <a:spcPct val="100000"/>
              </a:lnSpc>
              <a:spcBef>
                <a:spcPct val="0"/>
              </a:spcBef>
              <a:spcAft>
                <a:spcPct val="0"/>
              </a:spcAft>
              <a:buClrTx/>
            </a:pPr>
            <a:endParaRPr lang="en-US" altLang="en-US" dirty="0"/>
          </a:p>
          <a:p>
            <a:pPr lvl="0" eaLnBrk="0" fontAlgn="base" hangingPunct="0">
              <a:lnSpc>
                <a:spcPct val="100000"/>
              </a:lnSpc>
              <a:spcBef>
                <a:spcPct val="0"/>
              </a:spcBef>
              <a:spcAft>
                <a:spcPct val="0"/>
              </a:spcAft>
              <a:buClrTx/>
              <a:buFontTx/>
              <a:buChar char="•"/>
            </a:pPr>
            <a:r>
              <a:rPr lang="en-US" altLang="en-US" b="1" dirty="0"/>
              <a:t>Visualization Tool</a:t>
            </a:r>
            <a:br>
              <a:rPr lang="en-US" altLang="en-US" dirty="0"/>
            </a:br>
            <a:r>
              <a:rPr lang="en-US" altLang="en-US" dirty="0"/>
              <a:t> Power BI for interactive dashboards and analytics</a:t>
            </a:r>
          </a:p>
          <a:p>
            <a:endParaRPr lang="en-IN" dirty="0"/>
          </a:p>
        </p:txBody>
      </p:sp>
      <p:sp>
        <p:nvSpPr>
          <p:cNvPr id="4" name="TextBox 3">
            <a:extLst>
              <a:ext uri="{FF2B5EF4-FFF2-40B4-BE49-F238E27FC236}">
                <a16:creationId xmlns:a16="http://schemas.microsoft.com/office/drawing/2014/main" id="{63710FE6-C211-2A3D-9792-75CF5F13A46B}"/>
              </a:ext>
            </a:extLst>
          </p:cNvPr>
          <p:cNvSpPr txBox="1"/>
          <p:nvPr/>
        </p:nvSpPr>
        <p:spPr>
          <a:xfrm>
            <a:off x="9454896" y="1216152"/>
            <a:ext cx="2532888" cy="3139321"/>
          </a:xfrm>
          <a:prstGeom prst="rect">
            <a:avLst/>
          </a:prstGeom>
          <a:noFill/>
        </p:spPr>
        <p:txBody>
          <a:bodyPr wrap="square" rtlCol="0">
            <a:spAutoFit/>
          </a:bodyPr>
          <a:lstStyle/>
          <a:p>
            <a:r>
              <a:rPr lang="en-US" b="1" dirty="0">
                <a:latin typeface="Calibri" panose="020F0502020204030204" pitchFamily="34" charset="0"/>
                <a:ea typeface="Calibri" panose="020F0502020204030204" pitchFamily="34" charset="0"/>
                <a:cs typeface="Calibri" panose="020F0502020204030204" pitchFamily="34" charset="0"/>
              </a:rPr>
              <a:t>Infosys Springboard Data Visualization Internship 6.0 PPT</a:t>
            </a: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By</a:t>
            </a:r>
          </a:p>
          <a:p>
            <a:r>
              <a:rPr lang="en-US" b="1" dirty="0">
                <a:latin typeface="Calibri" panose="020F0502020204030204" pitchFamily="34" charset="0"/>
                <a:ea typeface="Calibri" panose="020F0502020204030204" pitchFamily="34" charset="0"/>
                <a:cs typeface="Calibri" panose="020F0502020204030204" pitchFamily="34" charset="0"/>
              </a:rPr>
              <a:t>Diksha Palliwal,</a:t>
            </a:r>
          </a:p>
          <a:p>
            <a:r>
              <a:rPr lang="en-US" b="1" dirty="0">
                <a:latin typeface="Calibri" panose="020F0502020204030204" pitchFamily="34" charset="0"/>
                <a:ea typeface="Calibri" panose="020F0502020204030204" pitchFamily="34" charset="0"/>
                <a:cs typeface="Calibri" panose="020F0502020204030204" pitchFamily="34" charset="0"/>
              </a:rPr>
              <a:t>Batch 11, Team A</a:t>
            </a:r>
          </a:p>
          <a:p>
            <a:endParaRPr lang="en-US" b="1" dirty="0">
              <a:latin typeface="Calibri" panose="020F0502020204030204" pitchFamily="34" charset="0"/>
              <a:ea typeface="Calibri" panose="020F0502020204030204" pitchFamily="34" charset="0"/>
              <a:cs typeface="Calibri" panose="020F0502020204030204" pitchFamily="34" charset="0"/>
            </a:endParaRPr>
          </a:p>
          <a:p>
            <a:endParaRPr lang="en-US" b="1" dirty="0">
              <a:latin typeface="Calibri" panose="020F0502020204030204" pitchFamily="34" charset="0"/>
              <a:ea typeface="Calibri" panose="020F0502020204030204" pitchFamily="34" charset="0"/>
              <a:cs typeface="Calibri" panose="020F0502020204030204" pitchFamily="34" charset="0"/>
            </a:endParaRPr>
          </a:p>
          <a:p>
            <a:r>
              <a:rPr lang="en-US" b="1" dirty="0">
                <a:latin typeface="Calibri" panose="020F0502020204030204" pitchFamily="34" charset="0"/>
                <a:ea typeface="Calibri" panose="020F0502020204030204" pitchFamily="34" charset="0"/>
                <a:cs typeface="Calibri" panose="020F0502020204030204" pitchFamily="34" charset="0"/>
              </a:rPr>
              <a:t>Mentor</a:t>
            </a:r>
          </a:p>
          <a:p>
            <a:r>
              <a:rPr lang="en-US" b="1" dirty="0">
                <a:latin typeface="Calibri" panose="020F0502020204030204" pitchFamily="34" charset="0"/>
                <a:ea typeface="Calibri" panose="020F0502020204030204" pitchFamily="34" charset="0"/>
                <a:cs typeface="Calibri" panose="020F0502020204030204" pitchFamily="34" charset="0"/>
              </a:rPr>
              <a:t>Nityashri S. J.</a:t>
            </a:r>
          </a:p>
        </p:txBody>
      </p:sp>
      <p:pic>
        <p:nvPicPr>
          <p:cNvPr id="8" name="Picture 7">
            <a:extLst>
              <a:ext uri="{FF2B5EF4-FFF2-40B4-BE49-F238E27FC236}">
                <a16:creationId xmlns:a16="http://schemas.microsoft.com/office/drawing/2014/main" id="{D1FD5D0A-4809-8DCE-646F-BC67474DE175}"/>
              </a:ext>
            </a:extLst>
          </p:cNvPr>
          <p:cNvPicPr>
            <a:picLocks noChangeAspect="1"/>
          </p:cNvPicPr>
          <p:nvPr/>
        </p:nvPicPr>
        <p:blipFill>
          <a:blip r:embed="rId3"/>
          <a:stretch>
            <a:fillRect/>
          </a:stretch>
        </p:blipFill>
        <p:spPr>
          <a:xfrm>
            <a:off x="9273540" y="723900"/>
            <a:ext cx="2895600" cy="5410200"/>
          </a:xfrm>
          <a:prstGeom prst="rect">
            <a:avLst/>
          </a:prstGeom>
        </p:spPr>
      </p:pic>
    </p:spTree>
    <p:extLst>
      <p:ext uri="{BB962C8B-B14F-4D97-AF65-F5344CB8AC3E}">
        <p14:creationId xmlns:p14="http://schemas.microsoft.com/office/powerpoint/2010/main" val="3110699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80E6D2-E124-C3B9-2548-4E14696DFA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D680C7-C46F-1072-C7DD-177DC0E32CA9}"/>
              </a:ext>
            </a:extLst>
          </p:cNvPr>
          <p:cNvSpPr>
            <a:spLocks noGrp="1"/>
          </p:cNvSpPr>
          <p:nvPr>
            <p:ph type="title"/>
          </p:nvPr>
        </p:nvSpPr>
        <p:spPr>
          <a:xfrm>
            <a:off x="1" y="1123837"/>
            <a:ext cx="3210560" cy="4616563"/>
          </a:xfrm>
        </p:spPr>
        <p:txBody>
          <a:bodyPr>
            <a:normAutofit fontScale="90000"/>
          </a:bodyPr>
          <a:lstStyle/>
          <a:p>
            <a:r>
              <a:rPr lang="en-US" b="1" dirty="0">
                <a:effectLst/>
              </a:rPr>
              <a:t>Acknowledgment</a:t>
            </a:r>
            <a:br>
              <a:rPr lang="en-US" sz="3200" b="1"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endParaRPr lang="en-IN" sz="3200" b="1" dirty="0">
              <a:latin typeface="Arial Black" panose="020B0A04020102020204" pitchFamily="34" charset="0"/>
            </a:endParaRPr>
          </a:p>
        </p:txBody>
      </p:sp>
      <p:sp>
        <p:nvSpPr>
          <p:cNvPr id="3" name="Content Placeholder 2">
            <a:extLst>
              <a:ext uri="{FF2B5EF4-FFF2-40B4-BE49-F238E27FC236}">
                <a16:creationId xmlns:a16="http://schemas.microsoft.com/office/drawing/2014/main" id="{8C597B8F-C55B-78A1-32FE-0F81E5EC9B25}"/>
              </a:ext>
            </a:extLst>
          </p:cNvPr>
          <p:cNvSpPr>
            <a:spLocks noGrp="1"/>
          </p:cNvSpPr>
          <p:nvPr>
            <p:ph idx="1"/>
          </p:nvPr>
        </p:nvSpPr>
        <p:spPr>
          <a:xfrm>
            <a:off x="3869268" y="741680"/>
            <a:ext cx="7315200" cy="5243068"/>
          </a:xfrm>
          <a:noFill/>
        </p:spPr>
        <p:txBody>
          <a:bodyPr/>
          <a:lstStyle/>
          <a:p>
            <a:pPr marL="0" indent="0" algn="ctr">
              <a:buNone/>
            </a:pPr>
            <a:r>
              <a:rPr lang="en-US" sz="28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rPr>
              <a:t>We sincerely thank the Infosys Springboard Team for organizing this valuable internship opportunity. We are grateful to our mentor for her continuous guidance and support, and to our teammates for their collaboration and encouragement.</a:t>
            </a:r>
          </a:p>
          <a:p>
            <a:pPr marL="0" indent="0" algn="ctr">
              <a:buNone/>
            </a:pPr>
            <a:endParaRPr lang="en-US" sz="28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endParaRPr>
          </a:p>
          <a:p>
            <a:pPr marL="0" indent="0" algn="ctr">
              <a:buNone/>
            </a:pPr>
            <a:r>
              <a:rPr lang="en-US" sz="28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2060"/>
                </a:solidFill>
                <a:effectLst/>
              </a:rPr>
              <a:t>This internship has been an important step in our professional and technical growth.</a:t>
            </a:r>
          </a:p>
          <a:p>
            <a:pPr marL="0" indent="0" algn="just">
              <a:buNone/>
            </a:pPr>
            <a:endParaRPr lang="en-IN" dirty="0"/>
          </a:p>
        </p:txBody>
      </p:sp>
    </p:spTree>
    <p:extLst>
      <p:ext uri="{BB962C8B-B14F-4D97-AF65-F5344CB8AC3E}">
        <p14:creationId xmlns:p14="http://schemas.microsoft.com/office/powerpoint/2010/main" val="5655571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EA87E7A-D1F4-9702-CC80-487804D5DB93}"/>
              </a:ext>
            </a:extLst>
          </p:cNvPr>
          <p:cNvPicPr>
            <a:picLocks noChangeAspect="1"/>
          </p:cNvPicPr>
          <p:nvPr/>
        </p:nvPicPr>
        <p:blipFill>
          <a:blip r:embed="rId2"/>
          <a:stretch>
            <a:fillRect/>
          </a:stretch>
        </p:blipFill>
        <p:spPr>
          <a:xfrm>
            <a:off x="1110397" y="780661"/>
            <a:ext cx="4718792" cy="2643661"/>
          </a:xfrm>
          <a:prstGeom prst="rect">
            <a:avLst/>
          </a:prstGeom>
        </p:spPr>
      </p:pic>
      <p:pic>
        <p:nvPicPr>
          <p:cNvPr id="3" name="Picture 2">
            <a:extLst>
              <a:ext uri="{FF2B5EF4-FFF2-40B4-BE49-F238E27FC236}">
                <a16:creationId xmlns:a16="http://schemas.microsoft.com/office/drawing/2014/main" id="{B6C75154-664E-47CB-5897-38B271D91700}"/>
              </a:ext>
            </a:extLst>
          </p:cNvPr>
          <p:cNvPicPr>
            <a:picLocks noChangeAspect="1"/>
          </p:cNvPicPr>
          <p:nvPr/>
        </p:nvPicPr>
        <p:blipFill>
          <a:blip r:embed="rId3"/>
          <a:stretch>
            <a:fillRect/>
          </a:stretch>
        </p:blipFill>
        <p:spPr>
          <a:xfrm>
            <a:off x="6362813" y="775983"/>
            <a:ext cx="4718793" cy="2648339"/>
          </a:xfrm>
          <a:prstGeom prst="rect">
            <a:avLst/>
          </a:prstGeom>
        </p:spPr>
      </p:pic>
      <p:pic>
        <p:nvPicPr>
          <p:cNvPr id="4" name="Picture 3">
            <a:extLst>
              <a:ext uri="{FF2B5EF4-FFF2-40B4-BE49-F238E27FC236}">
                <a16:creationId xmlns:a16="http://schemas.microsoft.com/office/drawing/2014/main" id="{F032E49C-504C-2FA2-0EF8-B1663AD62A88}"/>
              </a:ext>
            </a:extLst>
          </p:cNvPr>
          <p:cNvPicPr>
            <a:picLocks noChangeAspect="1"/>
          </p:cNvPicPr>
          <p:nvPr/>
        </p:nvPicPr>
        <p:blipFill>
          <a:blip r:embed="rId4"/>
          <a:stretch>
            <a:fillRect/>
          </a:stretch>
        </p:blipFill>
        <p:spPr>
          <a:xfrm>
            <a:off x="1110397" y="3850060"/>
            <a:ext cx="4718792" cy="2655659"/>
          </a:xfrm>
          <a:prstGeom prst="rect">
            <a:avLst/>
          </a:prstGeom>
        </p:spPr>
      </p:pic>
      <p:pic>
        <p:nvPicPr>
          <p:cNvPr id="5" name="Picture 4">
            <a:extLst>
              <a:ext uri="{FF2B5EF4-FFF2-40B4-BE49-F238E27FC236}">
                <a16:creationId xmlns:a16="http://schemas.microsoft.com/office/drawing/2014/main" id="{EDF27215-4DF2-9353-4A97-42E015065438}"/>
              </a:ext>
            </a:extLst>
          </p:cNvPr>
          <p:cNvPicPr>
            <a:picLocks noChangeAspect="1"/>
          </p:cNvPicPr>
          <p:nvPr/>
        </p:nvPicPr>
        <p:blipFill>
          <a:blip r:embed="rId5"/>
          <a:stretch>
            <a:fillRect/>
          </a:stretch>
        </p:blipFill>
        <p:spPr>
          <a:xfrm>
            <a:off x="6348099" y="3850060"/>
            <a:ext cx="4733504" cy="2648339"/>
          </a:xfrm>
          <a:prstGeom prst="rect">
            <a:avLst/>
          </a:prstGeom>
        </p:spPr>
      </p:pic>
      <p:sp>
        <p:nvSpPr>
          <p:cNvPr id="6" name="TextBox 5">
            <a:extLst>
              <a:ext uri="{FF2B5EF4-FFF2-40B4-BE49-F238E27FC236}">
                <a16:creationId xmlns:a16="http://schemas.microsoft.com/office/drawing/2014/main" id="{44A00F1A-54F5-31AB-9A2F-75DD7799AD16}"/>
              </a:ext>
            </a:extLst>
          </p:cNvPr>
          <p:cNvSpPr txBox="1"/>
          <p:nvPr/>
        </p:nvSpPr>
        <p:spPr>
          <a:xfrm>
            <a:off x="1110397" y="91440"/>
            <a:ext cx="9826843" cy="584775"/>
          </a:xfrm>
          <a:prstGeom prst="rect">
            <a:avLst/>
          </a:prstGeom>
          <a:noFill/>
        </p:spPr>
        <p:txBody>
          <a:bodyPr wrap="square" rtlCol="0">
            <a:spAutoFit/>
          </a:bodyPr>
          <a:lstStyle/>
          <a:p>
            <a:r>
              <a:rPr lang="en-US" sz="3200" b="1" dirty="0">
                <a:latin typeface="Arial Black" panose="020B0A04020102020204" pitchFamily="34" charset="0"/>
              </a:rPr>
              <a:t>SNAPSHOTS</a:t>
            </a:r>
            <a:endParaRPr lang="en-IN" sz="3200" b="1" dirty="0">
              <a:latin typeface="Arial Black" panose="020B0A04020102020204" pitchFamily="34" charset="0"/>
            </a:endParaRPr>
          </a:p>
        </p:txBody>
      </p:sp>
    </p:spTree>
    <p:extLst>
      <p:ext uri="{BB962C8B-B14F-4D97-AF65-F5344CB8AC3E}">
        <p14:creationId xmlns:p14="http://schemas.microsoft.com/office/powerpoint/2010/main" val="461628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EE81E-7F3E-A4E4-3CCF-3217EF2AAF1F}"/>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3A53ACF-9D02-593F-FDA3-24A708E8C37E}"/>
              </a:ext>
            </a:extLst>
          </p:cNvPr>
          <p:cNvSpPr txBox="1"/>
          <p:nvPr/>
        </p:nvSpPr>
        <p:spPr>
          <a:xfrm>
            <a:off x="1110397" y="91440"/>
            <a:ext cx="9826843" cy="584775"/>
          </a:xfrm>
          <a:prstGeom prst="rect">
            <a:avLst/>
          </a:prstGeom>
          <a:noFill/>
        </p:spPr>
        <p:txBody>
          <a:bodyPr wrap="square" rtlCol="0">
            <a:spAutoFit/>
          </a:bodyPr>
          <a:lstStyle/>
          <a:p>
            <a:r>
              <a:rPr lang="en-US" sz="3200" b="1" dirty="0">
                <a:latin typeface="Arial Black" panose="020B0A04020102020204" pitchFamily="34" charset="0"/>
              </a:rPr>
              <a:t>SNAPSHOTS</a:t>
            </a:r>
            <a:endParaRPr lang="en-IN" sz="3200" b="1" dirty="0">
              <a:latin typeface="Arial Black" panose="020B0A04020102020204" pitchFamily="34" charset="0"/>
            </a:endParaRPr>
          </a:p>
        </p:txBody>
      </p:sp>
      <p:pic>
        <p:nvPicPr>
          <p:cNvPr id="7" name="Picture 6">
            <a:extLst>
              <a:ext uri="{FF2B5EF4-FFF2-40B4-BE49-F238E27FC236}">
                <a16:creationId xmlns:a16="http://schemas.microsoft.com/office/drawing/2014/main" id="{1CE973D9-698A-805F-E3A4-CAE8E521A7E9}"/>
              </a:ext>
            </a:extLst>
          </p:cNvPr>
          <p:cNvPicPr>
            <a:picLocks noChangeAspect="1"/>
          </p:cNvPicPr>
          <p:nvPr/>
        </p:nvPicPr>
        <p:blipFill>
          <a:blip r:embed="rId2"/>
          <a:stretch>
            <a:fillRect/>
          </a:stretch>
        </p:blipFill>
        <p:spPr>
          <a:xfrm>
            <a:off x="1217543" y="865855"/>
            <a:ext cx="4363278" cy="2439753"/>
          </a:xfrm>
          <a:prstGeom prst="rect">
            <a:avLst/>
          </a:prstGeom>
        </p:spPr>
      </p:pic>
      <p:pic>
        <p:nvPicPr>
          <p:cNvPr id="8" name="Picture 7">
            <a:extLst>
              <a:ext uri="{FF2B5EF4-FFF2-40B4-BE49-F238E27FC236}">
                <a16:creationId xmlns:a16="http://schemas.microsoft.com/office/drawing/2014/main" id="{86325C06-32CF-B932-6BA0-B64F031B674D}"/>
              </a:ext>
            </a:extLst>
          </p:cNvPr>
          <p:cNvPicPr>
            <a:picLocks noChangeAspect="1"/>
          </p:cNvPicPr>
          <p:nvPr/>
        </p:nvPicPr>
        <p:blipFill>
          <a:blip r:embed="rId3"/>
          <a:stretch>
            <a:fillRect/>
          </a:stretch>
        </p:blipFill>
        <p:spPr>
          <a:xfrm>
            <a:off x="6292319" y="865855"/>
            <a:ext cx="4363279" cy="2451465"/>
          </a:xfrm>
          <a:prstGeom prst="rect">
            <a:avLst/>
          </a:prstGeom>
        </p:spPr>
      </p:pic>
      <p:pic>
        <p:nvPicPr>
          <p:cNvPr id="9" name="Picture 8">
            <a:extLst>
              <a:ext uri="{FF2B5EF4-FFF2-40B4-BE49-F238E27FC236}">
                <a16:creationId xmlns:a16="http://schemas.microsoft.com/office/drawing/2014/main" id="{FB244454-D2AC-DE23-C559-4B10352D07AF}"/>
              </a:ext>
            </a:extLst>
          </p:cNvPr>
          <p:cNvPicPr>
            <a:picLocks noChangeAspect="1"/>
          </p:cNvPicPr>
          <p:nvPr/>
        </p:nvPicPr>
        <p:blipFill>
          <a:blip r:embed="rId4"/>
          <a:stretch>
            <a:fillRect/>
          </a:stretch>
        </p:blipFill>
        <p:spPr>
          <a:xfrm>
            <a:off x="3399182" y="3791671"/>
            <a:ext cx="4827103" cy="2696645"/>
          </a:xfrm>
          <a:prstGeom prst="rect">
            <a:avLst/>
          </a:prstGeom>
        </p:spPr>
      </p:pic>
    </p:spTree>
    <p:extLst>
      <p:ext uri="{BB962C8B-B14F-4D97-AF65-F5344CB8AC3E}">
        <p14:creationId xmlns:p14="http://schemas.microsoft.com/office/powerpoint/2010/main" val="3391589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F3CE4-00CA-6291-C83E-7903E1B4E0CC}"/>
              </a:ext>
            </a:extLst>
          </p:cNvPr>
          <p:cNvSpPr>
            <a:spLocks noGrp="1"/>
          </p:cNvSpPr>
          <p:nvPr>
            <p:ph type="title"/>
          </p:nvPr>
        </p:nvSpPr>
        <p:spPr/>
        <p:txBody>
          <a:bodyPr/>
          <a:lstStyle/>
          <a:p>
            <a:r>
              <a:rPr lang="en-US" b="1" dirty="0"/>
              <a:t>Key Insights Gained – ElectViz Dashboard</a:t>
            </a:r>
            <a:endParaRPr lang="en-IN" b="1" dirty="0"/>
          </a:p>
        </p:txBody>
      </p:sp>
      <p:sp>
        <p:nvSpPr>
          <p:cNvPr id="3" name="Content Placeholder 2">
            <a:extLst>
              <a:ext uri="{FF2B5EF4-FFF2-40B4-BE49-F238E27FC236}">
                <a16:creationId xmlns:a16="http://schemas.microsoft.com/office/drawing/2014/main" id="{E445BC38-D8E9-4CCA-3A52-C94751AAF73D}"/>
              </a:ext>
            </a:extLst>
          </p:cNvPr>
          <p:cNvSpPr>
            <a:spLocks noGrp="1"/>
          </p:cNvSpPr>
          <p:nvPr>
            <p:ph idx="1"/>
          </p:nvPr>
        </p:nvSpPr>
        <p:spPr/>
        <p:txBody>
          <a:bodyPr>
            <a:normAutofit fontScale="92500"/>
          </a:bodyPr>
          <a:lstStyle/>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Identified major political parties’ performance trends across multiple election years</a:t>
            </a: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Observed significant variations in voter turnout across states and regions</a:t>
            </a: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Analyzed vote share distribution to understand party dominance and competition</a:t>
            </a: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Found demographic patterns such as age and gender influencing election outcomes</a:t>
            </a: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Detected closely contested constituencies using winning margin analysis</a:t>
            </a: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Highlighted regional strongholds and weak zones for major parties</a:t>
            </a:r>
          </a:p>
          <a:p>
            <a:pPr marL="0" lvl="0" indent="0" eaLnBrk="0" fontAlgn="base" hangingPunct="0">
              <a:lnSpc>
                <a:spcPct val="100000"/>
              </a:lnSpc>
              <a:spcBef>
                <a:spcPct val="0"/>
              </a:spcBef>
              <a:spcAft>
                <a:spcPct val="0"/>
              </a:spcAft>
              <a:buClrTx/>
              <a:buNone/>
            </a:pPr>
            <a:endParaRPr lang="en-US" altLang="en-US"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FontTx/>
              <a:buChar char="•"/>
            </a:pPr>
            <a:r>
              <a:rPr lang="en-US" altLang="en-US" dirty="0">
                <a:solidFill>
                  <a:schemeClr val="tx1"/>
                </a:solidFill>
                <a:latin typeface="Times New Roman" panose="02020603050405020304" pitchFamily="18" charset="0"/>
                <a:cs typeface="Times New Roman" panose="02020603050405020304" pitchFamily="18" charset="0"/>
              </a:rPr>
              <a:t>Revealed long-term electoral trends through year-wise comparative analysis</a:t>
            </a:r>
          </a:p>
          <a:p>
            <a:endParaRPr lang="en-IN" dirty="0"/>
          </a:p>
        </p:txBody>
      </p:sp>
    </p:spTree>
    <p:extLst>
      <p:ext uri="{BB962C8B-B14F-4D97-AF65-F5344CB8AC3E}">
        <p14:creationId xmlns:p14="http://schemas.microsoft.com/office/powerpoint/2010/main" val="817002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6CC4E-D4AB-A686-A55A-D99621516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34079-A554-15D5-3D99-86E544CAF3AA}"/>
              </a:ext>
            </a:extLst>
          </p:cNvPr>
          <p:cNvSpPr>
            <a:spLocks noGrp="1"/>
          </p:cNvSpPr>
          <p:nvPr>
            <p:ph type="title"/>
          </p:nvPr>
        </p:nvSpPr>
        <p:spPr>
          <a:xfrm>
            <a:off x="1" y="1123837"/>
            <a:ext cx="3210560" cy="4616563"/>
          </a:xfrm>
        </p:spPr>
        <p:txBody>
          <a:bodyPr>
            <a:normAutofit fontScale="90000"/>
          </a:bodyPr>
          <a:lstStyle/>
          <a:p>
            <a:pPr algn="ctr"/>
            <a:r>
              <a:rPr lang="en-US" b="1" dirty="0"/>
              <a:t>Conclusion</a:t>
            </a:r>
            <a:br>
              <a:rPr lang="en-US" sz="3200" b="1"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br>
              <a:rPr lang="en-US" sz="3200" dirty="0"/>
            </a:br>
            <a:endParaRPr lang="en-IN" sz="3200" b="1" dirty="0">
              <a:latin typeface="Arial Black" panose="020B0A04020102020204" pitchFamily="34" charset="0"/>
            </a:endParaRPr>
          </a:p>
        </p:txBody>
      </p:sp>
      <p:sp>
        <p:nvSpPr>
          <p:cNvPr id="3" name="Content Placeholder 2">
            <a:extLst>
              <a:ext uri="{FF2B5EF4-FFF2-40B4-BE49-F238E27FC236}">
                <a16:creationId xmlns:a16="http://schemas.microsoft.com/office/drawing/2014/main" id="{ED8AE09E-581D-E3DC-0FDF-EDF9E61E1B34}"/>
              </a:ext>
            </a:extLst>
          </p:cNvPr>
          <p:cNvSpPr>
            <a:spLocks noGrp="1"/>
          </p:cNvSpPr>
          <p:nvPr>
            <p:ph idx="1"/>
          </p:nvPr>
        </p:nvSpPr>
        <p:spPr>
          <a:xfrm>
            <a:off x="3869268" y="741680"/>
            <a:ext cx="7315200" cy="5243068"/>
          </a:xfrm>
          <a:noFill/>
        </p:spPr>
        <p:txBody>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ElectViz successfully transforms raw election data into meaningful insights using data science and visualization techniques.</a:t>
            </a:r>
          </a:p>
          <a:p>
            <a:r>
              <a:rPr lang="en-US" b="1" dirty="0">
                <a:solidFill>
                  <a:schemeClr val="accent2">
                    <a:lumMod val="75000"/>
                  </a:schemeClr>
                </a:solidFill>
                <a:latin typeface="Times New Roman" panose="02020603050405020304" pitchFamily="18" charset="0"/>
                <a:cs typeface="Times New Roman" panose="02020603050405020304" pitchFamily="18" charset="0"/>
              </a:rPr>
              <a:t>The dashboard enables clear analysis of party performance, voter behavior, and electoral trends across regions and years.</a:t>
            </a:r>
          </a:p>
          <a:p>
            <a:r>
              <a:rPr lang="en-US" b="1" dirty="0">
                <a:solidFill>
                  <a:schemeClr val="accent2">
                    <a:lumMod val="75000"/>
                  </a:schemeClr>
                </a:solidFill>
                <a:latin typeface="Times New Roman" panose="02020603050405020304" pitchFamily="18" charset="0"/>
                <a:cs typeface="Times New Roman" panose="02020603050405020304" pitchFamily="18" charset="0"/>
              </a:rPr>
              <a:t>Interactive Power BI visuals make complex data easy to explore and understand.</a:t>
            </a:r>
          </a:p>
          <a:p>
            <a:r>
              <a:rPr lang="en-US" b="1" dirty="0">
                <a:solidFill>
                  <a:schemeClr val="accent2">
                    <a:lumMod val="75000"/>
                  </a:schemeClr>
                </a:solidFill>
                <a:latin typeface="Times New Roman" panose="02020603050405020304" pitchFamily="18" charset="0"/>
                <a:cs typeface="Times New Roman" panose="02020603050405020304" pitchFamily="18" charset="0"/>
              </a:rPr>
              <a:t>This project demonstrates the effective use of data preprocessing, analytical modeling, and visual storytelling for decision support.</a:t>
            </a:r>
          </a:p>
          <a:p>
            <a:r>
              <a:rPr lang="en-US" b="1" dirty="0">
                <a:solidFill>
                  <a:schemeClr val="accent2">
                    <a:lumMod val="75000"/>
                  </a:schemeClr>
                </a:solidFill>
                <a:latin typeface="Times New Roman" panose="02020603050405020304" pitchFamily="18" charset="0"/>
                <a:cs typeface="Times New Roman" panose="02020603050405020304" pitchFamily="18" charset="0"/>
              </a:rPr>
              <a:t>ElectViz can be further enhanced with predictive analytics and real-time data to support advanced electoral analysis.</a:t>
            </a:r>
          </a:p>
          <a:p>
            <a:pPr marL="0" indent="0" algn="just">
              <a:buNone/>
            </a:pPr>
            <a:endParaRPr lang="en-IN" dirty="0"/>
          </a:p>
        </p:txBody>
      </p:sp>
    </p:spTree>
    <p:extLst>
      <p:ext uri="{BB962C8B-B14F-4D97-AF65-F5344CB8AC3E}">
        <p14:creationId xmlns:p14="http://schemas.microsoft.com/office/powerpoint/2010/main" val="11735257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C88FA-0749-57A9-2F17-60A956C871D8}"/>
              </a:ext>
            </a:extLst>
          </p:cNvPr>
          <p:cNvSpPr>
            <a:spLocks noGrp="1"/>
          </p:cNvSpPr>
          <p:nvPr>
            <p:ph type="ctrTitle"/>
          </p:nvPr>
        </p:nvSpPr>
        <p:spPr>
          <a:xfrm>
            <a:off x="1069848" y="1298448"/>
            <a:ext cx="7315200" cy="2130552"/>
          </a:xfrm>
        </p:spPr>
        <p:txBody>
          <a:bodyPr/>
          <a:lstStyle/>
          <a:p>
            <a:r>
              <a:rPr lang="en-US" b="1" dirty="0">
                <a:effectLst>
                  <a:glow rad="38100">
                    <a:schemeClr val="tx2">
                      <a:lumMod val="75000"/>
                    </a:schemeClr>
                  </a:glow>
                </a:effectLst>
                <a:latin typeface="Arial Black" panose="020B0A04020102020204" pitchFamily="34" charset="0"/>
              </a:rPr>
              <a:t>Thankyou</a:t>
            </a:r>
            <a:endParaRPr lang="en-IN" b="1" dirty="0">
              <a:effectLst>
                <a:glow rad="38100">
                  <a:schemeClr val="tx2">
                    <a:lumMod val="75000"/>
                  </a:schemeClr>
                </a:glow>
              </a:effectLst>
              <a:latin typeface="Arial Black" panose="020B0A04020102020204" pitchFamily="34" charset="0"/>
            </a:endParaRPr>
          </a:p>
        </p:txBody>
      </p:sp>
    </p:spTree>
    <p:extLst>
      <p:ext uri="{BB962C8B-B14F-4D97-AF65-F5344CB8AC3E}">
        <p14:creationId xmlns:p14="http://schemas.microsoft.com/office/powerpoint/2010/main" val="815838928"/>
      </p:ext>
    </p:extLst>
  </p:cSld>
  <p:clrMapOvr>
    <a:masterClrMapping/>
  </p:clrMapOvr>
</p:sld>
</file>

<file path=ppt/theme/theme1.xml><?xml version="1.0" encoding="utf-8"?>
<a:theme xmlns:a="http://schemas.openxmlformats.org/drawingml/2006/main" name="Frame">
  <a:themeElements>
    <a:clrScheme name="Custom 1">
      <a:dk1>
        <a:srgbClr val="17406D"/>
      </a:dk1>
      <a:lt1>
        <a:sysClr val="window" lastClr="FFFFFF"/>
      </a:lt1>
      <a:dk2>
        <a:srgbClr val="17406D"/>
      </a:dk2>
      <a:lt2>
        <a:srgbClr val="17406D"/>
      </a:lt2>
      <a:accent1>
        <a:srgbClr val="17406D"/>
      </a:accent1>
      <a:accent2>
        <a:srgbClr val="17406D"/>
      </a:accent2>
      <a:accent3>
        <a:srgbClr val="0BD0D9"/>
      </a:accent3>
      <a:accent4>
        <a:srgbClr val="10CF9B"/>
      </a:accent4>
      <a:accent5>
        <a:srgbClr val="7CCA62"/>
      </a:accent5>
      <a:accent6>
        <a:srgbClr val="A5C249"/>
      </a:accent6>
      <a:hlink>
        <a:srgbClr val="F49100"/>
      </a:hlink>
      <a:folHlink>
        <a:srgbClr val="17406D"/>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{D2846DD4-3D67-4B2D-97FD-9FACDC3B1432}TF5b254a55-10e1-4643-bbf8-937ce7de93d8c0d90256-2070aae5d615</Template>
  <TotalTime>84</TotalTime>
  <Words>556</Words>
  <Application>Microsoft Office PowerPoint</Application>
  <PresentationFormat>Widescreen</PresentationFormat>
  <Paragraphs>71</Paragraphs>
  <Slides>10</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 Black</vt:lpstr>
      <vt:lpstr>Calibri</vt:lpstr>
      <vt:lpstr>Corbel</vt:lpstr>
      <vt:lpstr>Times New Roman</vt:lpstr>
      <vt:lpstr>Wingdings 2</vt:lpstr>
      <vt:lpstr>Frame</vt:lpstr>
      <vt:lpstr> ELECTVIZ</vt:lpstr>
      <vt:lpstr>Introduction</vt:lpstr>
      <vt:lpstr>Milestones</vt:lpstr>
      <vt:lpstr> System Design                             – High Level Architecture</vt:lpstr>
      <vt:lpstr>Acknowledgment          </vt:lpstr>
      <vt:lpstr>PowerPoint Presentation</vt:lpstr>
      <vt:lpstr>PowerPoint Presentation</vt:lpstr>
      <vt:lpstr>Key Insights Gained – ElectViz Dashboard</vt:lpstr>
      <vt:lpstr>Conclusion          </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Diksha Palliwal</dc:creator>
  <cp:lastModifiedBy>Diksha Palliwal</cp:lastModifiedBy>
  <cp:revision>2</cp:revision>
  <dcterms:created xsi:type="dcterms:W3CDTF">2026-02-12T11:57:39Z</dcterms:created>
  <dcterms:modified xsi:type="dcterms:W3CDTF">2026-02-12T13:22:24Z</dcterms:modified>
</cp:coreProperties>
</file>