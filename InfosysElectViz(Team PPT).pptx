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1430000" cy="6438900"/>
  <p:notesSz cx="6858000" cy="9144000"/>
  <p:embeddedFontLst>
    <p:embeddedFont>
      <p:font typeface="ฟ้อนต์ Light" charset="-34"/>
      <p:regular r:id="rId11"/>
    </p:embeddedFont>
    <p:embeddedFont>
      <p:font typeface="Martel Sans" charset="0"/>
      <p:regular r:id="rId12"/>
    </p:embeddedFont>
    <p:embeddedFont>
      <p:font typeface="Martel Sans Bold" charset="0"/>
      <p:bold r:id="rId13"/>
    </p:embeddedFont>
    <p:embeddedFont>
      <p:font typeface="ฟ้อนต์ Bold" charset="-34"/>
      <p:bold r:id="rId14"/>
    </p:embeddedFont>
    <p:embeddedFont>
      <p:font typeface="Calibri" pitchFamily="34" charset="0"/>
      <p:regular r:id="rId15"/>
      <p:bold r:id="rId16"/>
      <p:italic r:id="rId17"/>
      <p:boldItalic r:id="rId18"/>
    </p:embeddedFont>
    <p:embeddedFont>
      <p:font typeface="Arimo" charset="0"/>
      <p:regular r:id="rId19"/>
    </p:embeddedFont>
    <p:embeddedFont>
      <p:font typeface="ฟ้อนต์" charset="-3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92" d="100"/>
          <a:sy n="92" d="100"/>
        </p:scale>
        <p:origin x="-28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143750" y="257"/>
            <a:ext cx="4286250" cy="6438643"/>
            <a:chOff x="0" y="0"/>
            <a:chExt cx="5715000" cy="85848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15000" cy="8584819"/>
            </a:xfrm>
            <a:custGeom>
              <a:avLst/>
              <a:gdLst/>
              <a:ahLst/>
              <a:cxnLst/>
              <a:rect l="l" t="t" r="r" b="b"/>
              <a:pathLst>
                <a:path w="5715000" h="8584819">
                  <a:moveTo>
                    <a:pt x="0" y="0"/>
                  </a:moveTo>
                  <a:lnTo>
                    <a:pt x="5715000" y="0"/>
                  </a:lnTo>
                  <a:lnTo>
                    <a:pt x="5715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/>
              <a:stretch>
                <a:fillRect l="-74" t="-3" r="-7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09600" y="3381375"/>
            <a:ext cx="66675" cy="66675"/>
            <a:chOff x="0" y="0"/>
            <a:chExt cx="66675" cy="666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6675" cy="66548"/>
            </a:xfrm>
            <a:custGeom>
              <a:avLst/>
              <a:gdLst/>
              <a:ahLst/>
              <a:cxnLst/>
              <a:rect l="l" t="t" r="r" b="b"/>
              <a:pathLst>
                <a:path w="66675" h="66548">
                  <a:moveTo>
                    <a:pt x="66675" y="33274"/>
                  </a:moveTo>
                  <a:cubicBezTo>
                    <a:pt x="66675" y="37719"/>
                    <a:pt x="65786" y="41910"/>
                    <a:pt x="64135" y="45974"/>
                  </a:cubicBezTo>
                  <a:cubicBezTo>
                    <a:pt x="62484" y="50038"/>
                    <a:pt x="60071" y="53721"/>
                    <a:pt x="56896" y="56769"/>
                  </a:cubicBezTo>
                  <a:cubicBezTo>
                    <a:pt x="53721" y="59817"/>
                    <a:pt x="50165" y="62357"/>
                    <a:pt x="46101" y="64008"/>
                  </a:cubicBezTo>
                  <a:cubicBezTo>
                    <a:pt x="42037" y="65659"/>
                    <a:pt x="37719" y="66548"/>
                    <a:pt x="33401" y="66548"/>
                  </a:cubicBezTo>
                  <a:cubicBezTo>
                    <a:pt x="29083" y="66548"/>
                    <a:pt x="24765" y="65659"/>
                    <a:pt x="20701" y="64008"/>
                  </a:cubicBezTo>
                  <a:cubicBezTo>
                    <a:pt x="16637" y="62357"/>
                    <a:pt x="12954" y="59944"/>
                    <a:pt x="9906" y="56769"/>
                  </a:cubicBezTo>
                  <a:cubicBezTo>
                    <a:pt x="6858" y="53594"/>
                    <a:pt x="4191" y="50165"/>
                    <a:pt x="2540" y="46101"/>
                  </a:cubicBezTo>
                  <a:cubicBezTo>
                    <a:pt x="889" y="42037"/>
                    <a:pt x="0" y="37719"/>
                    <a:pt x="0" y="33401"/>
                  </a:cubicBezTo>
                  <a:cubicBezTo>
                    <a:pt x="0" y="29083"/>
                    <a:pt x="889" y="24765"/>
                    <a:pt x="2540" y="20574"/>
                  </a:cubicBezTo>
                  <a:cubicBezTo>
                    <a:pt x="4191" y="16383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401"/>
                  </a:cubicBezTo>
                </a:path>
              </a:pathLst>
            </a:custGeom>
            <a:solidFill>
              <a:srgbClr val="2C3249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609600" y="3714750"/>
            <a:ext cx="66675" cy="66675"/>
            <a:chOff x="0" y="0"/>
            <a:chExt cx="66675" cy="666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6675" cy="66548"/>
            </a:xfrm>
            <a:custGeom>
              <a:avLst/>
              <a:gdLst/>
              <a:ahLst/>
              <a:cxnLst/>
              <a:rect l="l" t="t" r="r" b="b"/>
              <a:pathLst>
                <a:path w="66675" h="66548">
                  <a:moveTo>
                    <a:pt x="66675" y="33274"/>
                  </a:moveTo>
                  <a:cubicBezTo>
                    <a:pt x="66675" y="37719"/>
                    <a:pt x="65786" y="41910"/>
                    <a:pt x="64135" y="45974"/>
                  </a:cubicBezTo>
                  <a:cubicBezTo>
                    <a:pt x="62484" y="50038"/>
                    <a:pt x="60071" y="53721"/>
                    <a:pt x="56896" y="56769"/>
                  </a:cubicBezTo>
                  <a:cubicBezTo>
                    <a:pt x="53721" y="59817"/>
                    <a:pt x="50165" y="62357"/>
                    <a:pt x="46101" y="64008"/>
                  </a:cubicBezTo>
                  <a:cubicBezTo>
                    <a:pt x="42037" y="65659"/>
                    <a:pt x="37719" y="66548"/>
                    <a:pt x="33401" y="66548"/>
                  </a:cubicBezTo>
                  <a:cubicBezTo>
                    <a:pt x="29083" y="66548"/>
                    <a:pt x="24765" y="65659"/>
                    <a:pt x="20701" y="64008"/>
                  </a:cubicBezTo>
                  <a:cubicBezTo>
                    <a:pt x="16637" y="62357"/>
                    <a:pt x="12954" y="59944"/>
                    <a:pt x="9906" y="56769"/>
                  </a:cubicBezTo>
                  <a:cubicBezTo>
                    <a:pt x="6858" y="53594"/>
                    <a:pt x="4191" y="50165"/>
                    <a:pt x="2540" y="46101"/>
                  </a:cubicBezTo>
                  <a:cubicBezTo>
                    <a:pt x="889" y="42037"/>
                    <a:pt x="0" y="37719"/>
                    <a:pt x="0" y="33401"/>
                  </a:cubicBezTo>
                  <a:cubicBezTo>
                    <a:pt x="0" y="29083"/>
                    <a:pt x="889" y="24765"/>
                    <a:pt x="2540" y="20574"/>
                  </a:cubicBezTo>
                  <a:cubicBezTo>
                    <a:pt x="4191" y="16383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401"/>
                  </a:cubicBezTo>
                </a:path>
              </a:pathLst>
            </a:custGeom>
            <a:solidFill>
              <a:srgbClr val="2C3249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609600" y="4048125"/>
            <a:ext cx="66675" cy="66675"/>
            <a:chOff x="0" y="0"/>
            <a:chExt cx="66675" cy="6667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6675" cy="66548"/>
            </a:xfrm>
            <a:custGeom>
              <a:avLst/>
              <a:gdLst/>
              <a:ahLst/>
              <a:cxnLst/>
              <a:rect l="l" t="t" r="r" b="b"/>
              <a:pathLst>
                <a:path w="66675" h="66548">
                  <a:moveTo>
                    <a:pt x="66675" y="33274"/>
                  </a:moveTo>
                  <a:cubicBezTo>
                    <a:pt x="66675" y="37719"/>
                    <a:pt x="65786" y="41910"/>
                    <a:pt x="64135" y="45974"/>
                  </a:cubicBezTo>
                  <a:cubicBezTo>
                    <a:pt x="62484" y="50038"/>
                    <a:pt x="60071" y="53721"/>
                    <a:pt x="56896" y="56769"/>
                  </a:cubicBezTo>
                  <a:cubicBezTo>
                    <a:pt x="53721" y="59817"/>
                    <a:pt x="50165" y="62357"/>
                    <a:pt x="46101" y="64008"/>
                  </a:cubicBezTo>
                  <a:cubicBezTo>
                    <a:pt x="42037" y="65659"/>
                    <a:pt x="37719" y="66548"/>
                    <a:pt x="33401" y="66548"/>
                  </a:cubicBezTo>
                  <a:cubicBezTo>
                    <a:pt x="29083" y="66548"/>
                    <a:pt x="24765" y="65659"/>
                    <a:pt x="20701" y="64008"/>
                  </a:cubicBezTo>
                  <a:cubicBezTo>
                    <a:pt x="16637" y="62357"/>
                    <a:pt x="12954" y="59944"/>
                    <a:pt x="9906" y="56769"/>
                  </a:cubicBezTo>
                  <a:cubicBezTo>
                    <a:pt x="6858" y="53594"/>
                    <a:pt x="4191" y="50165"/>
                    <a:pt x="2540" y="46101"/>
                  </a:cubicBezTo>
                  <a:cubicBezTo>
                    <a:pt x="889" y="42037"/>
                    <a:pt x="0" y="37719"/>
                    <a:pt x="0" y="33401"/>
                  </a:cubicBezTo>
                  <a:cubicBezTo>
                    <a:pt x="0" y="29083"/>
                    <a:pt x="889" y="24765"/>
                    <a:pt x="2540" y="20574"/>
                  </a:cubicBezTo>
                  <a:cubicBezTo>
                    <a:pt x="4191" y="16383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401"/>
                  </a:cubicBezTo>
                </a:path>
              </a:pathLst>
            </a:custGeom>
            <a:solidFill>
              <a:srgbClr val="2C3249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609600" y="4381500"/>
            <a:ext cx="66675" cy="66675"/>
            <a:chOff x="0" y="0"/>
            <a:chExt cx="66675" cy="666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6675" cy="66548"/>
            </a:xfrm>
            <a:custGeom>
              <a:avLst/>
              <a:gdLst/>
              <a:ahLst/>
              <a:cxnLst/>
              <a:rect l="l" t="t" r="r" b="b"/>
              <a:pathLst>
                <a:path w="66675" h="66548">
                  <a:moveTo>
                    <a:pt x="66675" y="33274"/>
                  </a:moveTo>
                  <a:cubicBezTo>
                    <a:pt x="66675" y="37719"/>
                    <a:pt x="65786" y="41910"/>
                    <a:pt x="64135" y="45974"/>
                  </a:cubicBezTo>
                  <a:cubicBezTo>
                    <a:pt x="62484" y="50038"/>
                    <a:pt x="60071" y="53721"/>
                    <a:pt x="56896" y="56769"/>
                  </a:cubicBezTo>
                  <a:cubicBezTo>
                    <a:pt x="53721" y="59817"/>
                    <a:pt x="50165" y="62357"/>
                    <a:pt x="46101" y="64008"/>
                  </a:cubicBezTo>
                  <a:cubicBezTo>
                    <a:pt x="42037" y="65659"/>
                    <a:pt x="37719" y="66548"/>
                    <a:pt x="33401" y="66548"/>
                  </a:cubicBezTo>
                  <a:cubicBezTo>
                    <a:pt x="29083" y="66548"/>
                    <a:pt x="24765" y="65659"/>
                    <a:pt x="20701" y="64008"/>
                  </a:cubicBezTo>
                  <a:cubicBezTo>
                    <a:pt x="16637" y="62357"/>
                    <a:pt x="12954" y="59944"/>
                    <a:pt x="9906" y="56769"/>
                  </a:cubicBezTo>
                  <a:cubicBezTo>
                    <a:pt x="6858" y="53594"/>
                    <a:pt x="4191" y="50165"/>
                    <a:pt x="2540" y="46101"/>
                  </a:cubicBezTo>
                  <a:cubicBezTo>
                    <a:pt x="889" y="42037"/>
                    <a:pt x="0" y="37719"/>
                    <a:pt x="0" y="33401"/>
                  </a:cubicBezTo>
                  <a:cubicBezTo>
                    <a:pt x="0" y="29083"/>
                    <a:pt x="889" y="24765"/>
                    <a:pt x="2540" y="20574"/>
                  </a:cubicBezTo>
                  <a:cubicBezTo>
                    <a:pt x="4191" y="16383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401"/>
                  </a:cubicBezTo>
                </a:path>
              </a:pathLst>
            </a:custGeom>
            <a:solidFill>
              <a:srgbClr val="2C3249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609600" y="4714875"/>
            <a:ext cx="66675" cy="66675"/>
            <a:chOff x="0" y="0"/>
            <a:chExt cx="66675" cy="6667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6675" cy="66548"/>
            </a:xfrm>
            <a:custGeom>
              <a:avLst/>
              <a:gdLst/>
              <a:ahLst/>
              <a:cxnLst/>
              <a:rect l="l" t="t" r="r" b="b"/>
              <a:pathLst>
                <a:path w="66675" h="66548">
                  <a:moveTo>
                    <a:pt x="66675" y="33274"/>
                  </a:moveTo>
                  <a:cubicBezTo>
                    <a:pt x="66675" y="37719"/>
                    <a:pt x="65786" y="41910"/>
                    <a:pt x="64135" y="45974"/>
                  </a:cubicBezTo>
                  <a:cubicBezTo>
                    <a:pt x="62484" y="50038"/>
                    <a:pt x="60071" y="53721"/>
                    <a:pt x="56896" y="56769"/>
                  </a:cubicBezTo>
                  <a:cubicBezTo>
                    <a:pt x="53721" y="59817"/>
                    <a:pt x="50165" y="62357"/>
                    <a:pt x="46101" y="64008"/>
                  </a:cubicBezTo>
                  <a:cubicBezTo>
                    <a:pt x="42037" y="65659"/>
                    <a:pt x="37719" y="66548"/>
                    <a:pt x="33401" y="66548"/>
                  </a:cubicBezTo>
                  <a:cubicBezTo>
                    <a:pt x="29083" y="66548"/>
                    <a:pt x="24765" y="65659"/>
                    <a:pt x="20701" y="64008"/>
                  </a:cubicBezTo>
                  <a:cubicBezTo>
                    <a:pt x="16637" y="62357"/>
                    <a:pt x="12954" y="59944"/>
                    <a:pt x="9906" y="56769"/>
                  </a:cubicBezTo>
                  <a:cubicBezTo>
                    <a:pt x="6858" y="53594"/>
                    <a:pt x="4191" y="50165"/>
                    <a:pt x="2540" y="46101"/>
                  </a:cubicBezTo>
                  <a:cubicBezTo>
                    <a:pt x="889" y="42037"/>
                    <a:pt x="0" y="37719"/>
                    <a:pt x="0" y="33401"/>
                  </a:cubicBezTo>
                  <a:cubicBezTo>
                    <a:pt x="0" y="29083"/>
                    <a:pt x="889" y="24765"/>
                    <a:pt x="2540" y="20574"/>
                  </a:cubicBezTo>
                  <a:cubicBezTo>
                    <a:pt x="4191" y="16383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401"/>
                  </a:cubicBezTo>
                </a:path>
              </a:pathLst>
            </a:custGeom>
            <a:solidFill>
              <a:srgbClr val="2C3249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609600" y="5048250"/>
            <a:ext cx="66675" cy="66675"/>
            <a:chOff x="0" y="0"/>
            <a:chExt cx="66675" cy="6667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6675" cy="66548"/>
            </a:xfrm>
            <a:custGeom>
              <a:avLst/>
              <a:gdLst/>
              <a:ahLst/>
              <a:cxnLst/>
              <a:rect l="l" t="t" r="r" b="b"/>
              <a:pathLst>
                <a:path w="66675" h="66548">
                  <a:moveTo>
                    <a:pt x="66675" y="33274"/>
                  </a:moveTo>
                  <a:cubicBezTo>
                    <a:pt x="66675" y="37719"/>
                    <a:pt x="65786" y="41910"/>
                    <a:pt x="64135" y="45974"/>
                  </a:cubicBezTo>
                  <a:cubicBezTo>
                    <a:pt x="62484" y="50038"/>
                    <a:pt x="60071" y="53721"/>
                    <a:pt x="56896" y="56769"/>
                  </a:cubicBezTo>
                  <a:cubicBezTo>
                    <a:pt x="53721" y="59817"/>
                    <a:pt x="50165" y="62357"/>
                    <a:pt x="46101" y="64008"/>
                  </a:cubicBezTo>
                  <a:cubicBezTo>
                    <a:pt x="42037" y="65659"/>
                    <a:pt x="37719" y="66548"/>
                    <a:pt x="33401" y="66548"/>
                  </a:cubicBezTo>
                  <a:cubicBezTo>
                    <a:pt x="29083" y="66548"/>
                    <a:pt x="24765" y="65659"/>
                    <a:pt x="20701" y="64008"/>
                  </a:cubicBezTo>
                  <a:cubicBezTo>
                    <a:pt x="16637" y="62357"/>
                    <a:pt x="12954" y="59944"/>
                    <a:pt x="9906" y="56769"/>
                  </a:cubicBezTo>
                  <a:cubicBezTo>
                    <a:pt x="6858" y="53594"/>
                    <a:pt x="4191" y="50165"/>
                    <a:pt x="2540" y="46101"/>
                  </a:cubicBezTo>
                  <a:cubicBezTo>
                    <a:pt x="889" y="42037"/>
                    <a:pt x="0" y="37719"/>
                    <a:pt x="0" y="33401"/>
                  </a:cubicBezTo>
                  <a:cubicBezTo>
                    <a:pt x="0" y="29083"/>
                    <a:pt x="889" y="24765"/>
                    <a:pt x="2540" y="20574"/>
                  </a:cubicBezTo>
                  <a:cubicBezTo>
                    <a:pt x="4191" y="16383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401"/>
                  </a:cubicBezTo>
                </a:path>
              </a:pathLst>
            </a:custGeom>
            <a:solidFill>
              <a:srgbClr val="2C3249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536572" y="2717797"/>
            <a:ext cx="1612897" cy="450847"/>
            <a:chOff x="0" y="0"/>
            <a:chExt cx="1612900" cy="450850"/>
          </a:xfrm>
        </p:grpSpPr>
        <p:sp>
          <p:nvSpPr>
            <p:cNvPr id="17" name="Freeform 17"/>
            <p:cNvSpPr/>
            <p:nvPr/>
          </p:nvSpPr>
          <p:spPr>
            <a:xfrm>
              <a:off x="63500" y="63500"/>
              <a:ext cx="1486027" cy="323977"/>
            </a:xfrm>
            <a:custGeom>
              <a:avLst/>
              <a:gdLst/>
              <a:ahLst/>
              <a:cxnLst/>
              <a:rect l="l" t="t" r="r" b="b"/>
              <a:pathLst>
                <a:path w="1486027" h="323977">
                  <a:moveTo>
                    <a:pt x="0" y="275844"/>
                  </a:moveTo>
                  <a:lnTo>
                    <a:pt x="0" y="48006"/>
                  </a:lnTo>
                  <a:cubicBezTo>
                    <a:pt x="0" y="41656"/>
                    <a:pt x="1270" y="35560"/>
                    <a:pt x="3683" y="29591"/>
                  </a:cubicBezTo>
                  <a:cubicBezTo>
                    <a:pt x="6096" y="23622"/>
                    <a:pt x="9525" y="18542"/>
                    <a:pt x="14097" y="13970"/>
                  </a:cubicBezTo>
                  <a:cubicBezTo>
                    <a:pt x="18669" y="9398"/>
                    <a:pt x="23749" y="5969"/>
                    <a:pt x="29718" y="3556"/>
                  </a:cubicBezTo>
                  <a:cubicBezTo>
                    <a:pt x="35687" y="1143"/>
                    <a:pt x="41656" y="0"/>
                    <a:pt x="48006" y="0"/>
                  </a:cubicBezTo>
                  <a:lnTo>
                    <a:pt x="1437894" y="0"/>
                  </a:lnTo>
                  <a:cubicBezTo>
                    <a:pt x="1444244" y="0"/>
                    <a:pt x="1450340" y="1270"/>
                    <a:pt x="1456309" y="3683"/>
                  </a:cubicBezTo>
                  <a:cubicBezTo>
                    <a:pt x="1462278" y="6096"/>
                    <a:pt x="1467358" y="9525"/>
                    <a:pt x="1471930" y="14097"/>
                  </a:cubicBezTo>
                  <a:cubicBezTo>
                    <a:pt x="1476502" y="18669"/>
                    <a:pt x="1479931" y="23749"/>
                    <a:pt x="1482344" y="29718"/>
                  </a:cubicBezTo>
                  <a:cubicBezTo>
                    <a:pt x="1484757" y="35687"/>
                    <a:pt x="1486027" y="41783"/>
                    <a:pt x="1486027" y="48133"/>
                  </a:cubicBezTo>
                  <a:lnTo>
                    <a:pt x="1486027" y="275844"/>
                  </a:lnTo>
                  <a:cubicBezTo>
                    <a:pt x="1486027" y="282194"/>
                    <a:pt x="1484757" y="288290"/>
                    <a:pt x="1482344" y="294259"/>
                  </a:cubicBezTo>
                  <a:cubicBezTo>
                    <a:pt x="1479931" y="300228"/>
                    <a:pt x="1476375" y="305308"/>
                    <a:pt x="1471930" y="309880"/>
                  </a:cubicBezTo>
                  <a:cubicBezTo>
                    <a:pt x="1467485" y="314452"/>
                    <a:pt x="1462278" y="317881"/>
                    <a:pt x="1456309" y="320294"/>
                  </a:cubicBezTo>
                  <a:cubicBezTo>
                    <a:pt x="1450340" y="322707"/>
                    <a:pt x="1444244" y="323977"/>
                    <a:pt x="1437894" y="323977"/>
                  </a:cubicBezTo>
                  <a:lnTo>
                    <a:pt x="48006" y="323977"/>
                  </a:lnTo>
                  <a:cubicBezTo>
                    <a:pt x="41656" y="323977"/>
                    <a:pt x="35560" y="322707"/>
                    <a:pt x="29591" y="320294"/>
                  </a:cubicBezTo>
                  <a:cubicBezTo>
                    <a:pt x="23622" y="317881"/>
                    <a:pt x="18542" y="314452"/>
                    <a:pt x="13970" y="309880"/>
                  </a:cubicBezTo>
                  <a:cubicBezTo>
                    <a:pt x="9398" y="305308"/>
                    <a:pt x="5969" y="300228"/>
                    <a:pt x="3556" y="294259"/>
                  </a:cubicBezTo>
                  <a:cubicBezTo>
                    <a:pt x="1143" y="288290"/>
                    <a:pt x="0" y="282194"/>
                    <a:pt x="0" y="275844"/>
                  </a:cubicBezTo>
                </a:path>
              </a:pathLst>
            </a:custGeom>
            <a:solidFill>
              <a:srgbClr val="DFECE9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175479" y="287333"/>
              <a:ext cx="15021" cy="11498"/>
            </a:xfrm>
            <a:custGeom>
              <a:avLst/>
              <a:gdLst/>
              <a:ahLst/>
              <a:cxnLst/>
              <a:rect l="l" t="t" r="r" b="b"/>
              <a:pathLst>
                <a:path w="15021" h="11498">
                  <a:moveTo>
                    <a:pt x="5877" y="2481"/>
                  </a:moveTo>
                  <a:cubicBezTo>
                    <a:pt x="6131" y="3751"/>
                    <a:pt x="6258" y="4132"/>
                    <a:pt x="6893" y="5021"/>
                  </a:cubicBezTo>
                  <a:lnTo>
                    <a:pt x="4480" y="6799"/>
                  </a:lnTo>
                  <a:lnTo>
                    <a:pt x="6385" y="4513"/>
                  </a:lnTo>
                  <a:cubicBezTo>
                    <a:pt x="6893" y="5021"/>
                    <a:pt x="7401" y="5275"/>
                    <a:pt x="8417" y="5529"/>
                  </a:cubicBezTo>
                  <a:lnTo>
                    <a:pt x="7655" y="8450"/>
                  </a:lnTo>
                  <a:lnTo>
                    <a:pt x="7655" y="5402"/>
                  </a:lnTo>
                  <a:lnTo>
                    <a:pt x="11973" y="5402"/>
                  </a:lnTo>
                  <a:cubicBezTo>
                    <a:pt x="13624" y="5402"/>
                    <a:pt x="15021" y="6799"/>
                    <a:pt x="15021" y="8450"/>
                  </a:cubicBezTo>
                  <a:cubicBezTo>
                    <a:pt x="15021" y="10101"/>
                    <a:pt x="13624" y="11498"/>
                    <a:pt x="11973" y="11498"/>
                  </a:cubicBezTo>
                  <a:lnTo>
                    <a:pt x="7655" y="11498"/>
                  </a:lnTo>
                  <a:cubicBezTo>
                    <a:pt x="7401" y="11498"/>
                    <a:pt x="7147" y="11498"/>
                    <a:pt x="6893" y="11371"/>
                  </a:cubicBezTo>
                  <a:cubicBezTo>
                    <a:pt x="5242" y="10863"/>
                    <a:pt x="3845" y="10228"/>
                    <a:pt x="2575" y="9212"/>
                  </a:cubicBezTo>
                  <a:cubicBezTo>
                    <a:pt x="2448" y="9085"/>
                    <a:pt x="2194" y="8831"/>
                    <a:pt x="2067" y="8704"/>
                  </a:cubicBezTo>
                  <a:cubicBezTo>
                    <a:pt x="797" y="7053"/>
                    <a:pt x="289" y="5656"/>
                    <a:pt x="35" y="3624"/>
                  </a:cubicBezTo>
                  <a:cubicBezTo>
                    <a:pt x="-219" y="1973"/>
                    <a:pt x="924" y="449"/>
                    <a:pt x="2575" y="68"/>
                  </a:cubicBezTo>
                  <a:cubicBezTo>
                    <a:pt x="4226" y="-313"/>
                    <a:pt x="5750" y="957"/>
                    <a:pt x="6131" y="2608"/>
                  </a:cubicBezTo>
                  <a:close/>
                </a:path>
              </a:pathLst>
            </a:custGeom>
            <a:solidFill>
              <a:srgbClr val="2C3249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285360" y="284226"/>
              <a:ext cx="12836" cy="14487"/>
            </a:xfrm>
            <a:custGeom>
              <a:avLst/>
              <a:gdLst/>
              <a:ahLst/>
              <a:cxnLst/>
              <a:rect l="l" t="t" r="r" b="b"/>
              <a:pathLst>
                <a:path w="12836" h="14487">
                  <a:moveTo>
                    <a:pt x="2930" y="8509"/>
                  </a:moveTo>
                  <a:cubicBezTo>
                    <a:pt x="4454" y="8382"/>
                    <a:pt x="5597" y="8001"/>
                    <a:pt x="6232" y="7620"/>
                  </a:cubicBezTo>
                  <a:lnTo>
                    <a:pt x="7756" y="10160"/>
                  </a:lnTo>
                  <a:lnTo>
                    <a:pt x="5597" y="8001"/>
                  </a:lnTo>
                  <a:cubicBezTo>
                    <a:pt x="6232" y="7366"/>
                    <a:pt x="6486" y="6858"/>
                    <a:pt x="6867" y="5969"/>
                  </a:cubicBezTo>
                  <a:lnTo>
                    <a:pt x="9661" y="6985"/>
                  </a:lnTo>
                  <a:lnTo>
                    <a:pt x="6613" y="6604"/>
                  </a:lnTo>
                  <a:cubicBezTo>
                    <a:pt x="6740" y="5969"/>
                    <a:pt x="6740" y="4826"/>
                    <a:pt x="6740" y="3048"/>
                  </a:cubicBezTo>
                  <a:cubicBezTo>
                    <a:pt x="6740" y="1270"/>
                    <a:pt x="8137" y="0"/>
                    <a:pt x="9788" y="0"/>
                  </a:cubicBezTo>
                  <a:cubicBezTo>
                    <a:pt x="11439" y="0"/>
                    <a:pt x="12836" y="1397"/>
                    <a:pt x="12836" y="3048"/>
                  </a:cubicBezTo>
                  <a:cubicBezTo>
                    <a:pt x="12836" y="4699"/>
                    <a:pt x="12709" y="6350"/>
                    <a:pt x="12709" y="7239"/>
                  </a:cubicBezTo>
                  <a:cubicBezTo>
                    <a:pt x="12709" y="7493"/>
                    <a:pt x="12582" y="7747"/>
                    <a:pt x="12582" y="8001"/>
                  </a:cubicBezTo>
                  <a:cubicBezTo>
                    <a:pt x="11947" y="9652"/>
                    <a:pt x="11185" y="10922"/>
                    <a:pt x="9915" y="12192"/>
                  </a:cubicBezTo>
                  <a:cubicBezTo>
                    <a:pt x="9788" y="12319"/>
                    <a:pt x="9534" y="12573"/>
                    <a:pt x="9280" y="12700"/>
                  </a:cubicBezTo>
                  <a:cubicBezTo>
                    <a:pt x="7629" y="13716"/>
                    <a:pt x="5597" y="14351"/>
                    <a:pt x="3311" y="14478"/>
                  </a:cubicBezTo>
                  <a:cubicBezTo>
                    <a:pt x="1660" y="14605"/>
                    <a:pt x="136" y="13335"/>
                    <a:pt x="9" y="11684"/>
                  </a:cubicBezTo>
                  <a:cubicBezTo>
                    <a:pt x="-118" y="10033"/>
                    <a:pt x="1152" y="8509"/>
                    <a:pt x="2803" y="8382"/>
                  </a:cubicBezTo>
                  <a:close/>
                </a:path>
              </a:pathLst>
            </a:custGeom>
            <a:solidFill>
              <a:srgbClr val="2C3249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250161" y="242454"/>
              <a:ext cx="48194" cy="36851"/>
            </a:xfrm>
            <a:custGeom>
              <a:avLst/>
              <a:gdLst/>
              <a:ahLst/>
              <a:cxnLst/>
              <a:rect l="l" t="t" r="r" b="b"/>
              <a:pathLst>
                <a:path w="48194" h="36851">
                  <a:moveTo>
                    <a:pt x="42066" y="34025"/>
                  </a:moveTo>
                  <a:cubicBezTo>
                    <a:pt x="41685" y="30850"/>
                    <a:pt x="40796" y="27548"/>
                    <a:pt x="39526" y="23992"/>
                  </a:cubicBezTo>
                  <a:lnTo>
                    <a:pt x="42320" y="22976"/>
                  </a:lnTo>
                  <a:lnTo>
                    <a:pt x="39653" y="24373"/>
                  </a:lnTo>
                  <a:cubicBezTo>
                    <a:pt x="37875" y="20944"/>
                    <a:pt x="36097" y="18277"/>
                    <a:pt x="33811" y="15610"/>
                  </a:cubicBezTo>
                  <a:lnTo>
                    <a:pt x="36097" y="13705"/>
                  </a:lnTo>
                  <a:lnTo>
                    <a:pt x="34065" y="15864"/>
                  </a:lnTo>
                  <a:cubicBezTo>
                    <a:pt x="31398" y="13324"/>
                    <a:pt x="28350" y="11038"/>
                    <a:pt x="25302" y="9133"/>
                  </a:cubicBezTo>
                  <a:lnTo>
                    <a:pt x="26826" y="6593"/>
                  </a:lnTo>
                  <a:lnTo>
                    <a:pt x="25429" y="9260"/>
                  </a:lnTo>
                  <a:cubicBezTo>
                    <a:pt x="23905" y="8498"/>
                    <a:pt x="22254" y="7863"/>
                    <a:pt x="18952" y="6847"/>
                  </a:cubicBezTo>
                  <a:lnTo>
                    <a:pt x="19841" y="3926"/>
                  </a:lnTo>
                  <a:lnTo>
                    <a:pt x="19333" y="6847"/>
                  </a:lnTo>
                  <a:cubicBezTo>
                    <a:pt x="15396" y="6085"/>
                    <a:pt x="12348" y="5958"/>
                    <a:pt x="9808" y="6212"/>
                  </a:cubicBezTo>
                  <a:lnTo>
                    <a:pt x="9554" y="3164"/>
                  </a:lnTo>
                  <a:lnTo>
                    <a:pt x="10316" y="6085"/>
                  </a:lnTo>
                  <a:cubicBezTo>
                    <a:pt x="8919" y="6466"/>
                    <a:pt x="6887" y="6974"/>
                    <a:pt x="3966" y="7990"/>
                  </a:cubicBezTo>
                  <a:cubicBezTo>
                    <a:pt x="2442" y="8498"/>
                    <a:pt x="664" y="7736"/>
                    <a:pt x="156" y="6085"/>
                  </a:cubicBezTo>
                  <a:cubicBezTo>
                    <a:pt x="-352" y="4434"/>
                    <a:pt x="410" y="2783"/>
                    <a:pt x="2061" y="2275"/>
                  </a:cubicBezTo>
                  <a:cubicBezTo>
                    <a:pt x="4982" y="1259"/>
                    <a:pt x="7268" y="624"/>
                    <a:pt x="8919" y="243"/>
                  </a:cubicBezTo>
                  <a:cubicBezTo>
                    <a:pt x="9046" y="243"/>
                    <a:pt x="9173" y="243"/>
                    <a:pt x="9300" y="116"/>
                  </a:cubicBezTo>
                  <a:cubicBezTo>
                    <a:pt x="12475" y="-138"/>
                    <a:pt x="16158" y="-11"/>
                    <a:pt x="20476" y="878"/>
                  </a:cubicBezTo>
                  <a:cubicBezTo>
                    <a:pt x="20603" y="878"/>
                    <a:pt x="20730" y="878"/>
                    <a:pt x="20857" y="1005"/>
                  </a:cubicBezTo>
                  <a:cubicBezTo>
                    <a:pt x="24413" y="2148"/>
                    <a:pt x="26445" y="2910"/>
                    <a:pt x="28223" y="3799"/>
                  </a:cubicBezTo>
                  <a:cubicBezTo>
                    <a:pt x="28350" y="3799"/>
                    <a:pt x="28350" y="3926"/>
                    <a:pt x="28477" y="3926"/>
                  </a:cubicBezTo>
                  <a:cubicBezTo>
                    <a:pt x="31906" y="5958"/>
                    <a:pt x="35208" y="8498"/>
                    <a:pt x="38256" y="11419"/>
                  </a:cubicBezTo>
                  <a:cubicBezTo>
                    <a:pt x="38383" y="11546"/>
                    <a:pt x="38383" y="11546"/>
                    <a:pt x="38510" y="11673"/>
                  </a:cubicBezTo>
                  <a:cubicBezTo>
                    <a:pt x="41050" y="14721"/>
                    <a:pt x="43209" y="17896"/>
                    <a:pt x="45114" y="21579"/>
                  </a:cubicBezTo>
                  <a:cubicBezTo>
                    <a:pt x="45114" y="21706"/>
                    <a:pt x="45241" y="21833"/>
                    <a:pt x="45241" y="21960"/>
                  </a:cubicBezTo>
                  <a:cubicBezTo>
                    <a:pt x="46765" y="25897"/>
                    <a:pt x="47654" y="29707"/>
                    <a:pt x="48162" y="33390"/>
                  </a:cubicBezTo>
                  <a:cubicBezTo>
                    <a:pt x="48416" y="35041"/>
                    <a:pt x="47146" y="36565"/>
                    <a:pt x="45495" y="36819"/>
                  </a:cubicBezTo>
                  <a:cubicBezTo>
                    <a:pt x="43844" y="37073"/>
                    <a:pt x="42320" y="35803"/>
                    <a:pt x="42066" y="34152"/>
                  </a:cubicBezTo>
                  <a:close/>
                </a:path>
              </a:pathLst>
            </a:custGeom>
            <a:solidFill>
              <a:srgbClr val="2C3249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179639" y="242062"/>
              <a:ext cx="56971" cy="22926"/>
            </a:xfrm>
            <a:custGeom>
              <a:avLst/>
              <a:gdLst/>
              <a:ahLst/>
              <a:cxnLst/>
              <a:rect l="l" t="t" r="r" b="b"/>
              <a:pathLst>
                <a:path w="56971" h="22926">
                  <a:moveTo>
                    <a:pt x="53914" y="11430"/>
                  </a:moveTo>
                  <a:cubicBezTo>
                    <a:pt x="50104" y="11049"/>
                    <a:pt x="46294" y="10414"/>
                    <a:pt x="42357" y="9271"/>
                  </a:cubicBezTo>
                  <a:cubicBezTo>
                    <a:pt x="42357" y="9271"/>
                    <a:pt x="42230" y="9271"/>
                    <a:pt x="42230" y="9271"/>
                  </a:cubicBezTo>
                  <a:cubicBezTo>
                    <a:pt x="35880" y="7112"/>
                    <a:pt x="33086" y="6604"/>
                    <a:pt x="31562" y="6350"/>
                  </a:cubicBezTo>
                  <a:lnTo>
                    <a:pt x="31816" y="3302"/>
                  </a:lnTo>
                  <a:lnTo>
                    <a:pt x="31816" y="6350"/>
                  </a:lnTo>
                  <a:cubicBezTo>
                    <a:pt x="29784" y="6350"/>
                    <a:pt x="27625" y="6604"/>
                    <a:pt x="25466" y="6985"/>
                  </a:cubicBezTo>
                  <a:lnTo>
                    <a:pt x="24958" y="3937"/>
                  </a:lnTo>
                  <a:lnTo>
                    <a:pt x="25720" y="6858"/>
                  </a:lnTo>
                  <a:cubicBezTo>
                    <a:pt x="22545" y="7747"/>
                    <a:pt x="19878" y="8763"/>
                    <a:pt x="17211" y="10160"/>
                  </a:cubicBezTo>
                  <a:lnTo>
                    <a:pt x="15814" y="7493"/>
                  </a:lnTo>
                  <a:lnTo>
                    <a:pt x="17465" y="10033"/>
                  </a:lnTo>
                  <a:cubicBezTo>
                    <a:pt x="14544" y="11938"/>
                    <a:pt x="11750" y="14224"/>
                    <a:pt x="9337" y="16510"/>
                  </a:cubicBezTo>
                  <a:lnTo>
                    <a:pt x="7178" y="14351"/>
                  </a:lnTo>
                  <a:lnTo>
                    <a:pt x="9464" y="16256"/>
                  </a:lnTo>
                  <a:cubicBezTo>
                    <a:pt x="8194" y="17780"/>
                    <a:pt x="6797" y="19558"/>
                    <a:pt x="5527" y="21590"/>
                  </a:cubicBezTo>
                  <a:cubicBezTo>
                    <a:pt x="4638" y="22987"/>
                    <a:pt x="2733" y="23368"/>
                    <a:pt x="1336" y="22352"/>
                  </a:cubicBezTo>
                  <a:cubicBezTo>
                    <a:pt x="-61" y="21336"/>
                    <a:pt x="-442" y="19558"/>
                    <a:pt x="574" y="18161"/>
                  </a:cubicBezTo>
                  <a:cubicBezTo>
                    <a:pt x="1971" y="16002"/>
                    <a:pt x="3495" y="14097"/>
                    <a:pt x="4892" y="12319"/>
                  </a:cubicBezTo>
                  <a:cubicBezTo>
                    <a:pt x="4892" y="12192"/>
                    <a:pt x="5019" y="12192"/>
                    <a:pt x="5019" y="12065"/>
                  </a:cubicBezTo>
                  <a:cubicBezTo>
                    <a:pt x="7686" y="9398"/>
                    <a:pt x="10734" y="6858"/>
                    <a:pt x="14036" y="4699"/>
                  </a:cubicBezTo>
                  <a:cubicBezTo>
                    <a:pt x="14163" y="4699"/>
                    <a:pt x="14163" y="4572"/>
                    <a:pt x="14290" y="4572"/>
                  </a:cubicBezTo>
                  <a:cubicBezTo>
                    <a:pt x="17338" y="3048"/>
                    <a:pt x="20259" y="1905"/>
                    <a:pt x="23942" y="889"/>
                  </a:cubicBezTo>
                  <a:cubicBezTo>
                    <a:pt x="24069" y="889"/>
                    <a:pt x="24196" y="889"/>
                    <a:pt x="24196" y="762"/>
                  </a:cubicBezTo>
                  <a:cubicBezTo>
                    <a:pt x="26609" y="381"/>
                    <a:pt x="29149" y="0"/>
                    <a:pt x="31562" y="0"/>
                  </a:cubicBezTo>
                  <a:cubicBezTo>
                    <a:pt x="31689" y="0"/>
                    <a:pt x="31816" y="0"/>
                    <a:pt x="31816" y="0"/>
                  </a:cubicBezTo>
                  <a:cubicBezTo>
                    <a:pt x="34102" y="254"/>
                    <a:pt x="37404" y="1016"/>
                    <a:pt x="43881" y="3175"/>
                  </a:cubicBezTo>
                  <a:lnTo>
                    <a:pt x="42865" y="6096"/>
                  </a:lnTo>
                  <a:lnTo>
                    <a:pt x="43627" y="3175"/>
                  </a:lnTo>
                  <a:cubicBezTo>
                    <a:pt x="47310" y="4191"/>
                    <a:pt x="50739" y="4826"/>
                    <a:pt x="54168" y="5207"/>
                  </a:cubicBezTo>
                  <a:cubicBezTo>
                    <a:pt x="55819" y="5334"/>
                    <a:pt x="57089" y="6858"/>
                    <a:pt x="56962" y="8509"/>
                  </a:cubicBezTo>
                  <a:cubicBezTo>
                    <a:pt x="56835" y="10160"/>
                    <a:pt x="55311" y="11430"/>
                    <a:pt x="53660" y="11303"/>
                  </a:cubicBezTo>
                  <a:close/>
                </a:path>
              </a:pathLst>
            </a:custGeom>
            <a:solidFill>
              <a:srgbClr val="2C3249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175424" y="259051"/>
              <a:ext cx="10434" cy="24540"/>
            </a:xfrm>
            <a:custGeom>
              <a:avLst/>
              <a:gdLst/>
              <a:ahLst/>
              <a:cxnLst/>
              <a:rect l="l" t="t" r="r" b="b"/>
              <a:pathLst>
                <a:path w="10434" h="24540">
                  <a:moveTo>
                    <a:pt x="9869" y="4474"/>
                  </a:moveTo>
                  <a:cubicBezTo>
                    <a:pt x="6948" y="9681"/>
                    <a:pt x="5678" y="15269"/>
                    <a:pt x="6059" y="21365"/>
                  </a:cubicBezTo>
                  <a:cubicBezTo>
                    <a:pt x="6186" y="23016"/>
                    <a:pt x="4916" y="24540"/>
                    <a:pt x="3265" y="24540"/>
                  </a:cubicBezTo>
                  <a:cubicBezTo>
                    <a:pt x="1614" y="24540"/>
                    <a:pt x="90" y="23397"/>
                    <a:pt x="90" y="21746"/>
                  </a:cubicBezTo>
                  <a:cubicBezTo>
                    <a:pt x="-418" y="14507"/>
                    <a:pt x="1233" y="7776"/>
                    <a:pt x="4662" y="1553"/>
                  </a:cubicBezTo>
                  <a:cubicBezTo>
                    <a:pt x="5424" y="156"/>
                    <a:pt x="7329" y="-479"/>
                    <a:pt x="8853" y="410"/>
                  </a:cubicBezTo>
                  <a:cubicBezTo>
                    <a:pt x="10377" y="1299"/>
                    <a:pt x="10885" y="3077"/>
                    <a:pt x="9996" y="4601"/>
                  </a:cubicBezTo>
                  <a:close/>
                </a:path>
              </a:pathLst>
            </a:custGeom>
            <a:solidFill>
              <a:srgbClr val="2C3249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195707" y="155829"/>
              <a:ext cx="82296" cy="82296"/>
            </a:xfrm>
            <a:custGeom>
              <a:avLst/>
              <a:gdLst/>
              <a:ahLst/>
              <a:cxnLst/>
              <a:rect l="l" t="t" r="r" b="b"/>
              <a:pathLst>
                <a:path w="82296" h="82296">
                  <a:moveTo>
                    <a:pt x="82296" y="41148"/>
                  </a:moveTo>
                  <a:cubicBezTo>
                    <a:pt x="82296" y="46609"/>
                    <a:pt x="81280" y="51943"/>
                    <a:pt x="79121" y="56896"/>
                  </a:cubicBezTo>
                  <a:cubicBezTo>
                    <a:pt x="77089" y="61976"/>
                    <a:pt x="74041" y="66421"/>
                    <a:pt x="70231" y="70231"/>
                  </a:cubicBezTo>
                  <a:cubicBezTo>
                    <a:pt x="66421" y="74041"/>
                    <a:pt x="61849" y="77089"/>
                    <a:pt x="56896" y="79121"/>
                  </a:cubicBezTo>
                  <a:cubicBezTo>
                    <a:pt x="51816" y="81153"/>
                    <a:pt x="46609" y="82296"/>
                    <a:pt x="41148" y="82296"/>
                  </a:cubicBezTo>
                  <a:lnTo>
                    <a:pt x="41148" y="79248"/>
                  </a:lnTo>
                  <a:lnTo>
                    <a:pt x="41148" y="82296"/>
                  </a:lnTo>
                  <a:cubicBezTo>
                    <a:pt x="35687" y="82296"/>
                    <a:pt x="30480" y="81280"/>
                    <a:pt x="25400" y="79121"/>
                  </a:cubicBezTo>
                  <a:cubicBezTo>
                    <a:pt x="20320" y="77089"/>
                    <a:pt x="15875" y="74041"/>
                    <a:pt x="12065" y="70231"/>
                  </a:cubicBezTo>
                  <a:lnTo>
                    <a:pt x="14224" y="68072"/>
                  </a:lnTo>
                  <a:lnTo>
                    <a:pt x="12065" y="70231"/>
                  </a:lnTo>
                  <a:cubicBezTo>
                    <a:pt x="8255" y="66421"/>
                    <a:pt x="5207" y="61849"/>
                    <a:pt x="3175" y="56896"/>
                  </a:cubicBezTo>
                  <a:lnTo>
                    <a:pt x="5969" y="55753"/>
                  </a:lnTo>
                  <a:lnTo>
                    <a:pt x="3175" y="56896"/>
                  </a:lnTo>
                  <a:cubicBezTo>
                    <a:pt x="1143" y="51816"/>
                    <a:pt x="0" y="46609"/>
                    <a:pt x="0" y="41148"/>
                  </a:cubicBezTo>
                  <a:lnTo>
                    <a:pt x="3048" y="41148"/>
                  </a:lnTo>
                  <a:lnTo>
                    <a:pt x="0" y="41148"/>
                  </a:lnTo>
                  <a:cubicBezTo>
                    <a:pt x="0" y="35687"/>
                    <a:pt x="1016" y="30480"/>
                    <a:pt x="3175" y="25400"/>
                  </a:cubicBezTo>
                  <a:lnTo>
                    <a:pt x="5969" y="26543"/>
                  </a:lnTo>
                  <a:lnTo>
                    <a:pt x="3175" y="25400"/>
                  </a:lnTo>
                  <a:cubicBezTo>
                    <a:pt x="5207" y="20320"/>
                    <a:pt x="8255" y="15875"/>
                    <a:pt x="12065" y="12065"/>
                  </a:cubicBezTo>
                  <a:lnTo>
                    <a:pt x="14224" y="14224"/>
                  </a:lnTo>
                  <a:lnTo>
                    <a:pt x="12065" y="12065"/>
                  </a:lnTo>
                  <a:cubicBezTo>
                    <a:pt x="15875" y="8255"/>
                    <a:pt x="20447" y="5207"/>
                    <a:pt x="25400" y="3175"/>
                  </a:cubicBezTo>
                  <a:lnTo>
                    <a:pt x="26543" y="5969"/>
                  </a:lnTo>
                  <a:lnTo>
                    <a:pt x="25400" y="3175"/>
                  </a:lnTo>
                  <a:cubicBezTo>
                    <a:pt x="30480" y="1016"/>
                    <a:pt x="35687" y="0"/>
                    <a:pt x="41148" y="0"/>
                  </a:cubicBezTo>
                  <a:lnTo>
                    <a:pt x="41148" y="3048"/>
                  </a:lnTo>
                  <a:lnTo>
                    <a:pt x="41148" y="0"/>
                  </a:lnTo>
                  <a:cubicBezTo>
                    <a:pt x="46609" y="0"/>
                    <a:pt x="51816" y="1016"/>
                    <a:pt x="56896" y="3175"/>
                  </a:cubicBezTo>
                  <a:lnTo>
                    <a:pt x="55753" y="5969"/>
                  </a:lnTo>
                  <a:lnTo>
                    <a:pt x="56896" y="3175"/>
                  </a:lnTo>
                  <a:cubicBezTo>
                    <a:pt x="61976" y="5207"/>
                    <a:pt x="66421" y="8255"/>
                    <a:pt x="70231" y="12065"/>
                  </a:cubicBezTo>
                  <a:cubicBezTo>
                    <a:pt x="74041" y="15875"/>
                    <a:pt x="77089" y="20447"/>
                    <a:pt x="79121" y="25400"/>
                  </a:cubicBezTo>
                  <a:cubicBezTo>
                    <a:pt x="81153" y="30480"/>
                    <a:pt x="82296" y="35687"/>
                    <a:pt x="82296" y="41148"/>
                  </a:cubicBezTo>
                  <a:lnTo>
                    <a:pt x="79248" y="41148"/>
                  </a:lnTo>
                  <a:lnTo>
                    <a:pt x="82296" y="41148"/>
                  </a:lnTo>
                  <a:moveTo>
                    <a:pt x="76200" y="41148"/>
                  </a:moveTo>
                  <a:cubicBezTo>
                    <a:pt x="76200" y="36449"/>
                    <a:pt x="75311" y="32004"/>
                    <a:pt x="73533" y="27686"/>
                  </a:cubicBezTo>
                  <a:lnTo>
                    <a:pt x="76327" y="26543"/>
                  </a:lnTo>
                  <a:lnTo>
                    <a:pt x="73533" y="27686"/>
                  </a:lnTo>
                  <a:cubicBezTo>
                    <a:pt x="71755" y="23368"/>
                    <a:pt x="69215" y="19558"/>
                    <a:pt x="65913" y="16256"/>
                  </a:cubicBezTo>
                  <a:lnTo>
                    <a:pt x="68072" y="14097"/>
                  </a:lnTo>
                  <a:lnTo>
                    <a:pt x="65913" y="16256"/>
                  </a:lnTo>
                  <a:cubicBezTo>
                    <a:pt x="62611" y="12954"/>
                    <a:pt x="58801" y="10414"/>
                    <a:pt x="54483" y="8636"/>
                  </a:cubicBezTo>
                  <a:cubicBezTo>
                    <a:pt x="50165" y="6858"/>
                    <a:pt x="45720" y="5969"/>
                    <a:pt x="41021" y="5969"/>
                  </a:cubicBezTo>
                  <a:cubicBezTo>
                    <a:pt x="36322" y="5969"/>
                    <a:pt x="31877" y="6858"/>
                    <a:pt x="27559" y="8636"/>
                  </a:cubicBezTo>
                  <a:cubicBezTo>
                    <a:pt x="23241" y="10414"/>
                    <a:pt x="19431" y="12954"/>
                    <a:pt x="16129" y="16256"/>
                  </a:cubicBezTo>
                  <a:cubicBezTo>
                    <a:pt x="12827" y="19558"/>
                    <a:pt x="10287" y="23368"/>
                    <a:pt x="8509" y="27686"/>
                  </a:cubicBezTo>
                  <a:cubicBezTo>
                    <a:pt x="6731" y="32004"/>
                    <a:pt x="5842" y="36449"/>
                    <a:pt x="5842" y="41148"/>
                  </a:cubicBezTo>
                  <a:cubicBezTo>
                    <a:pt x="5842" y="45847"/>
                    <a:pt x="6731" y="50292"/>
                    <a:pt x="8509" y="54610"/>
                  </a:cubicBezTo>
                  <a:cubicBezTo>
                    <a:pt x="10287" y="58928"/>
                    <a:pt x="12827" y="62738"/>
                    <a:pt x="16129" y="66040"/>
                  </a:cubicBezTo>
                  <a:cubicBezTo>
                    <a:pt x="19431" y="69342"/>
                    <a:pt x="23241" y="71882"/>
                    <a:pt x="27559" y="73660"/>
                  </a:cubicBezTo>
                  <a:lnTo>
                    <a:pt x="26416" y="76454"/>
                  </a:lnTo>
                  <a:lnTo>
                    <a:pt x="27559" y="73660"/>
                  </a:lnTo>
                  <a:cubicBezTo>
                    <a:pt x="31877" y="75438"/>
                    <a:pt x="36322" y="76327"/>
                    <a:pt x="41021" y="76327"/>
                  </a:cubicBezTo>
                  <a:cubicBezTo>
                    <a:pt x="45720" y="76327"/>
                    <a:pt x="50165" y="75438"/>
                    <a:pt x="54483" y="73660"/>
                  </a:cubicBezTo>
                  <a:lnTo>
                    <a:pt x="55626" y="76454"/>
                  </a:lnTo>
                  <a:lnTo>
                    <a:pt x="54483" y="73660"/>
                  </a:lnTo>
                  <a:cubicBezTo>
                    <a:pt x="58801" y="71882"/>
                    <a:pt x="62611" y="69342"/>
                    <a:pt x="65913" y="66040"/>
                  </a:cubicBezTo>
                  <a:lnTo>
                    <a:pt x="68072" y="68199"/>
                  </a:lnTo>
                  <a:lnTo>
                    <a:pt x="65913" y="66040"/>
                  </a:lnTo>
                  <a:cubicBezTo>
                    <a:pt x="69215" y="62738"/>
                    <a:pt x="71755" y="58928"/>
                    <a:pt x="73533" y="54610"/>
                  </a:cubicBezTo>
                  <a:lnTo>
                    <a:pt x="76327" y="55753"/>
                  </a:lnTo>
                  <a:lnTo>
                    <a:pt x="73533" y="54610"/>
                  </a:lnTo>
                  <a:cubicBezTo>
                    <a:pt x="75311" y="50292"/>
                    <a:pt x="76200" y="45847"/>
                    <a:pt x="76200" y="41148"/>
                  </a:cubicBezTo>
                  <a:close/>
                </a:path>
              </a:pathLst>
            </a:custGeom>
            <a:solidFill>
              <a:srgbClr val="2C3249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175260" y="277495"/>
              <a:ext cx="6096" cy="15875"/>
            </a:xfrm>
            <a:custGeom>
              <a:avLst/>
              <a:gdLst/>
              <a:ahLst/>
              <a:cxnLst/>
              <a:rect l="l" t="t" r="r" b="b"/>
              <a:pathLst>
                <a:path w="6096" h="15875">
                  <a:moveTo>
                    <a:pt x="6096" y="3048"/>
                  </a:moveTo>
                  <a:lnTo>
                    <a:pt x="6096" y="12827"/>
                  </a:lnTo>
                  <a:cubicBezTo>
                    <a:pt x="6096" y="14478"/>
                    <a:pt x="4699" y="15875"/>
                    <a:pt x="3048" y="15875"/>
                  </a:cubicBezTo>
                  <a:cubicBezTo>
                    <a:pt x="1397" y="15875"/>
                    <a:pt x="0" y="14478"/>
                    <a:pt x="0" y="12827"/>
                  </a:cubicBezTo>
                  <a:lnTo>
                    <a:pt x="0" y="3048"/>
                  </a:lnTo>
                  <a:cubicBezTo>
                    <a:pt x="0" y="1397"/>
                    <a:pt x="1397" y="0"/>
                    <a:pt x="3048" y="0"/>
                  </a:cubicBezTo>
                  <a:cubicBezTo>
                    <a:pt x="4699" y="0"/>
                    <a:pt x="6096" y="1397"/>
                    <a:pt x="6096" y="3048"/>
                  </a:cubicBezTo>
                  <a:close/>
                </a:path>
              </a:pathLst>
            </a:custGeom>
            <a:solidFill>
              <a:srgbClr val="2C3249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230854" y="244612"/>
              <a:ext cx="25477" cy="9007"/>
            </a:xfrm>
            <a:custGeom>
              <a:avLst/>
              <a:gdLst/>
              <a:ahLst/>
              <a:cxnLst/>
              <a:rect l="l" t="t" r="r" b="b"/>
              <a:pathLst>
                <a:path w="25477" h="9007">
                  <a:moveTo>
                    <a:pt x="23527" y="5705"/>
                  </a:moveTo>
                  <a:cubicBezTo>
                    <a:pt x="17558" y="8372"/>
                    <a:pt x="8160" y="9388"/>
                    <a:pt x="2699" y="8880"/>
                  </a:cubicBezTo>
                  <a:cubicBezTo>
                    <a:pt x="1048" y="8753"/>
                    <a:pt x="-222" y="7229"/>
                    <a:pt x="32" y="5578"/>
                  </a:cubicBezTo>
                  <a:cubicBezTo>
                    <a:pt x="286" y="3927"/>
                    <a:pt x="1683" y="2657"/>
                    <a:pt x="3334" y="2911"/>
                  </a:cubicBezTo>
                  <a:cubicBezTo>
                    <a:pt x="7906" y="3419"/>
                    <a:pt x="16288" y="2403"/>
                    <a:pt x="21114" y="244"/>
                  </a:cubicBezTo>
                  <a:cubicBezTo>
                    <a:pt x="22638" y="-391"/>
                    <a:pt x="24416" y="244"/>
                    <a:pt x="25178" y="1768"/>
                  </a:cubicBezTo>
                  <a:cubicBezTo>
                    <a:pt x="25940" y="3292"/>
                    <a:pt x="25178" y="5070"/>
                    <a:pt x="23654" y="5832"/>
                  </a:cubicBezTo>
                  <a:close/>
                </a:path>
              </a:pathLst>
            </a:custGeom>
            <a:solidFill>
              <a:srgbClr val="2C3249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184404" y="292735"/>
              <a:ext cx="107188" cy="6096"/>
            </a:xfrm>
            <a:custGeom>
              <a:avLst/>
              <a:gdLst/>
              <a:ahLst/>
              <a:cxnLst/>
              <a:rect l="l" t="t" r="r" b="b"/>
              <a:pathLst>
                <a:path w="107188" h="6096">
                  <a:moveTo>
                    <a:pt x="3048" y="0"/>
                  </a:moveTo>
                  <a:lnTo>
                    <a:pt x="104140" y="0"/>
                  </a:lnTo>
                  <a:cubicBezTo>
                    <a:pt x="105791" y="0"/>
                    <a:pt x="107188" y="1397"/>
                    <a:pt x="107188" y="3048"/>
                  </a:cubicBezTo>
                  <a:cubicBezTo>
                    <a:pt x="107188" y="4699"/>
                    <a:pt x="105791" y="6096"/>
                    <a:pt x="104140" y="6096"/>
                  </a:cubicBezTo>
                  <a:lnTo>
                    <a:pt x="3048" y="6096"/>
                  </a:lnTo>
                  <a:cubicBezTo>
                    <a:pt x="1397" y="6096"/>
                    <a:pt x="0" y="4699"/>
                    <a:pt x="0" y="3048"/>
                  </a:cubicBezTo>
                  <a:cubicBezTo>
                    <a:pt x="0" y="1397"/>
                    <a:pt x="1397" y="0"/>
                    <a:pt x="3048" y="0"/>
                  </a:cubicBezTo>
                  <a:close/>
                </a:path>
              </a:pathLst>
            </a:custGeom>
            <a:solidFill>
              <a:srgbClr val="2C3249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292100" y="273050"/>
              <a:ext cx="6223" cy="17399"/>
            </a:xfrm>
            <a:custGeom>
              <a:avLst/>
              <a:gdLst/>
              <a:ahLst/>
              <a:cxnLst/>
              <a:rect l="l" t="t" r="r" b="b"/>
              <a:pathLst>
                <a:path w="6223" h="17399">
                  <a:moveTo>
                    <a:pt x="127" y="14478"/>
                  </a:moveTo>
                  <a:lnTo>
                    <a:pt x="0" y="3048"/>
                  </a:lnTo>
                  <a:cubicBezTo>
                    <a:pt x="0" y="1397"/>
                    <a:pt x="1397" y="0"/>
                    <a:pt x="3048" y="0"/>
                  </a:cubicBezTo>
                  <a:cubicBezTo>
                    <a:pt x="4699" y="0"/>
                    <a:pt x="6096" y="1397"/>
                    <a:pt x="6096" y="3048"/>
                  </a:cubicBezTo>
                  <a:lnTo>
                    <a:pt x="6223" y="14351"/>
                  </a:lnTo>
                  <a:cubicBezTo>
                    <a:pt x="6223" y="16002"/>
                    <a:pt x="4826" y="17399"/>
                    <a:pt x="3175" y="17399"/>
                  </a:cubicBezTo>
                  <a:cubicBezTo>
                    <a:pt x="1524" y="17399"/>
                    <a:pt x="127" y="16002"/>
                    <a:pt x="127" y="14351"/>
                  </a:cubicBezTo>
                  <a:close/>
                </a:path>
              </a:pathLst>
            </a:custGeom>
            <a:solidFill>
              <a:srgbClr val="2C3249"/>
            </a:solidFill>
          </p:spPr>
        </p:sp>
      </p:grpSp>
      <p:sp>
        <p:nvSpPr>
          <p:cNvPr id="28" name="TextBox 28"/>
          <p:cNvSpPr txBox="1"/>
          <p:nvPr/>
        </p:nvSpPr>
        <p:spPr>
          <a:xfrm>
            <a:off x="609600" y="399856"/>
            <a:ext cx="5421249" cy="1079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375">
                <a:solidFill>
                  <a:srgbClr val="272D45"/>
                </a:solidFill>
                <a:latin typeface="ฟ้อนต์ Light" panose="00000400000000000000"/>
                <a:ea typeface="ฟ้อนต์ Light" panose="00000400000000000000"/>
                <a:cs typeface="ฟ้อนต์ Light" panose="00000400000000000000"/>
                <a:sym typeface="ฟ้อนต์ Light" panose="00000400000000000000"/>
              </a:rPr>
              <a:t>Infosys_ElectViz – Election Data Visualization for Media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706270" y="1873606"/>
            <a:ext cx="43720" cy="394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74214" y="3207106"/>
            <a:ext cx="1319984" cy="1994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35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Swayam Bana Sharmika Shri R Vaibhav Pawar Nandhini B Diksha Palliwal Nandini Vakare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00075" y="5274031"/>
            <a:ext cx="2153021" cy="407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 b="1">
                <a:solidFill>
                  <a:srgbClr val="2C3249"/>
                </a:solidFill>
                <a:latin typeface="Martel Sans Bold" panose="00000800000000000000"/>
                <a:ea typeface="Martel Sans Bold" panose="00000800000000000000"/>
                <a:cs typeface="Martel Sans Bold" panose="00000800000000000000"/>
                <a:sym typeface="Martel Sans Bold" panose="00000800000000000000"/>
              </a:rPr>
              <a:t>Mentor:</a:t>
            </a:r>
            <a:r>
              <a:rPr lang="en-US" sz="135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 Mrs. Nithyasri S J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00075" y="1987906"/>
            <a:ext cx="5902652" cy="269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35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Transforming complex election data into interactive visual insights for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00075" y="2254606"/>
            <a:ext cx="2754173" cy="280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35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media</a:t>
            </a:r>
            <a:r>
              <a:rPr lang="en-US" sz="1350">
                <a:solidFill>
                  <a:srgbClr val="000000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 </a:t>
            </a:r>
            <a:r>
              <a:rPr lang="en-US" sz="135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professionals</a:t>
            </a:r>
            <a:r>
              <a:rPr lang="en-US" sz="1350">
                <a:solidFill>
                  <a:srgbClr val="000000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 </a:t>
            </a:r>
            <a:r>
              <a:rPr lang="en-US" sz="135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and</a:t>
            </a:r>
            <a:r>
              <a:rPr lang="en-US" sz="1350">
                <a:solidFill>
                  <a:srgbClr val="000000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 </a:t>
            </a:r>
            <a:r>
              <a:rPr lang="en-US" sz="135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analysts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08447" y="2815238"/>
            <a:ext cx="1092136" cy="205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10"/>
              </a:lnSpc>
            </a:pPr>
            <a:r>
              <a:rPr lang="en-US" sz="108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TEAM MEMBERS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43920" y="1890034"/>
            <a:ext cx="6505575" cy="3905250"/>
            <a:chOff x="0" y="0"/>
            <a:chExt cx="8674100" cy="5207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674100" cy="5207000"/>
            </a:xfrm>
            <a:custGeom>
              <a:avLst/>
              <a:gdLst/>
              <a:ahLst/>
              <a:cxnLst/>
              <a:rect l="l" t="t" r="r" b="b"/>
              <a:pathLst>
                <a:path w="8674100" h="5207000">
                  <a:moveTo>
                    <a:pt x="80010" y="0"/>
                  </a:moveTo>
                  <a:cubicBezTo>
                    <a:pt x="69342" y="0"/>
                    <a:pt x="59182" y="2032"/>
                    <a:pt x="49403" y="6096"/>
                  </a:cubicBezTo>
                  <a:cubicBezTo>
                    <a:pt x="39624" y="10160"/>
                    <a:pt x="30988" y="16002"/>
                    <a:pt x="23495" y="23495"/>
                  </a:cubicBezTo>
                  <a:cubicBezTo>
                    <a:pt x="16002" y="30988"/>
                    <a:pt x="10160" y="39624"/>
                    <a:pt x="6096" y="49403"/>
                  </a:cubicBezTo>
                  <a:cubicBezTo>
                    <a:pt x="2032" y="59182"/>
                    <a:pt x="0" y="69469"/>
                    <a:pt x="0" y="80010"/>
                  </a:cubicBezTo>
                  <a:lnTo>
                    <a:pt x="0" y="5126990"/>
                  </a:lnTo>
                  <a:cubicBezTo>
                    <a:pt x="0" y="5137658"/>
                    <a:pt x="2032" y="5147818"/>
                    <a:pt x="6096" y="5157597"/>
                  </a:cubicBezTo>
                  <a:cubicBezTo>
                    <a:pt x="10160" y="5167376"/>
                    <a:pt x="15875" y="5176012"/>
                    <a:pt x="23495" y="5183505"/>
                  </a:cubicBezTo>
                  <a:cubicBezTo>
                    <a:pt x="31115" y="5190998"/>
                    <a:pt x="39624" y="5196840"/>
                    <a:pt x="49403" y="5200904"/>
                  </a:cubicBezTo>
                  <a:cubicBezTo>
                    <a:pt x="59055" y="5204841"/>
                    <a:pt x="69088" y="5206873"/>
                    <a:pt x="79502" y="5207000"/>
                  </a:cubicBezTo>
                  <a:lnTo>
                    <a:pt x="8594598" y="5207000"/>
                  </a:lnTo>
                  <a:cubicBezTo>
                    <a:pt x="8605012" y="5206873"/>
                    <a:pt x="8615045" y="5204841"/>
                    <a:pt x="8624697" y="5200904"/>
                  </a:cubicBezTo>
                  <a:cubicBezTo>
                    <a:pt x="8634476" y="5196840"/>
                    <a:pt x="8643112" y="5191125"/>
                    <a:pt x="8650605" y="5183505"/>
                  </a:cubicBezTo>
                  <a:cubicBezTo>
                    <a:pt x="8658098" y="5175885"/>
                    <a:pt x="8663940" y="5167376"/>
                    <a:pt x="8668004" y="5157597"/>
                  </a:cubicBezTo>
                  <a:cubicBezTo>
                    <a:pt x="8672068" y="5147818"/>
                    <a:pt x="8674100" y="5137531"/>
                    <a:pt x="8674100" y="5126990"/>
                  </a:cubicBezTo>
                  <a:lnTo>
                    <a:pt x="8674100" y="80010"/>
                  </a:lnTo>
                  <a:cubicBezTo>
                    <a:pt x="8674100" y="69469"/>
                    <a:pt x="8672068" y="59182"/>
                    <a:pt x="8668004" y="49403"/>
                  </a:cubicBezTo>
                  <a:cubicBezTo>
                    <a:pt x="8663940" y="39624"/>
                    <a:pt x="8658225" y="30988"/>
                    <a:pt x="8650605" y="23495"/>
                  </a:cubicBezTo>
                  <a:cubicBezTo>
                    <a:pt x="8642985" y="16002"/>
                    <a:pt x="8634476" y="10160"/>
                    <a:pt x="8624697" y="6096"/>
                  </a:cubicBezTo>
                  <a:cubicBezTo>
                    <a:pt x="8614918" y="2032"/>
                    <a:pt x="8604758" y="0"/>
                    <a:pt x="8594090" y="0"/>
                  </a:cubicBezTo>
                  <a:close/>
                </a:path>
              </a:pathLst>
            </a:custGeom>
            <a:blipFill>
              <a:blip r:embed="rId2" cstate="print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600075" y="471078"/>
            <a:ext cx="10480047" cy="922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0"/>
              </a:lnSpc>
            </a:pPr>
            <a:r>
              <a:rPr lang="en-US" sz="2185" b="1" dirty="0">
                <a:solidFill>
                  <a:srgbClr val="272D45"/>
                </a:solidFill>
                <a:latin typeface="ฟ้อนต์ Bold" panose="00000800000000000000"/>
                <a:ea typeface="ฟ้อนต์ Bold" panose="00000800000000000000"/>
                <a:cs typeface="ฟ้อนต์ Bold" panose="00000800000000000000"/>
                <a:sym typeface="ฟ้อนต์ Bold" panose="00000800000000000000"/>
              </a:rPr>
              <a:t>Project Objective</a:t>
            </a:r>
          </a:p>
          <a:p>
            <a:pPr algn="l">
              <a:lnSpc>
                <a:spcPts val="4615"/>
              </a:lnSpc>
            </a:pPr>
            <a:r>
              <a:rPr lang="en-US" sz="3375" dirty="0">
                <a:solidFill>
                  <a:srgbClr val="272D45"/>
                </a:solidFill>
                <a:latin typeface="ฟ้อนต์ Light" panose="00000400000000000000"/>
                <a:ea typeface="ฟ้อนต์ Light" panose="00000400000000000000"/>
                <a:cs typeface="ฟ้อนต์ Light" panose="00000400000000000000"/>
                <a:sym typeface="ฟ้อนต์ Light" panose="00000400000000000000"/>
              </a:rPr>
              <a:t>Making Election Trends Accessible to Everyone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0703" y="1978800"/>
            <a:ext cx="3643998" cy="399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5"/>
              </a:lnSpc>
            </a:pPr>
            <a:r>
              <a:rPr lang="en-US" sz="2025" b="1">
                <a:solidFill>
                  <a:srgbClr val="272D45"/>
                </a:solidFill>
                <a:latin typeface="ฟ้อนต์ Bold" panose="00000800000000000000"/>
                <a:ea typeface="ฟ้อนต์ Bold" panose="00000800000000000000"/>
                <a:cs typeface="ฟ้อนต์ Bold" panose="00000800000000000000"/>
                <a:sym typeface="ฟ้อนต์ Bold" panose="00000800000000000000"/>
              </a:rPr>
              <a:t>Project Description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740729" y="2416531"/>
            <a:ext cx="43720" cy="394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30703" y="2530831"/>
            <a:ext cx="3133268" cy="3500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35"/>
              </a:lnSpc>
              <a:buFont typeface="Wingdings" pitchFamily="2" charset="2"/>
              <a:buChar char="Ø"/>
            </a:pPr>
            <a:r>
              <a:rPr lang="en-US" dirty="0" smtClean="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Analyze large-scale Indian election data using advanced analytics tools</a:t>
            </a:r>
          </a:p>
          <a:p>
            <a:pPr>
              <a:lnSpc>
                <a:spcPts val="2135"/>
              </a:lnSpc>
              <a:buFont typeface="Wingdings" pitchFamily="2" charset="2"/>
              <a:buChar char="Ø"/>
            </a:pPr>
            <a:r>
              <a:rPr lang="en-US" dirty="0" smtClean="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Convert complex datasets into simple, interactive dashboards</a:t>
            </a:r>
          </a:p>
          <a:p>
            <a:pPr>
              <a:lnSpc>
                <a:spcPts val="2135"/>
              </a:lnSpc>
              <a:buFont typeface="Wingdings" pitchFamily="2" charset="2"/>
              <a:buChar char="Ø"/>
            </a:pPr>
            <a:r>
              <a:rPr lang="en-US" dirty="0" smtClean="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Help media professionals and election analysts easily understand election trends</a:t>
            </a:r>
          </a:p>
          <a:p>
            <a:pPr>
              <a:lnSpc>
                <a:spcPts val="2135"/>
              </a:lnSpc>
              <a:buFont typeface="Wingdings" pitchFamily="2" charset="2"/>
              <a:buChar char="Ø"/>
            </a:pPr>
            <a:r>
              <a:rPr lang="en-US" dirty="0" smtClean="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Provide comprehensive insights across Indian elections from</a:t>
            </a:r>
            <a:r>
              <a:rPr lang="en-US" sz="1400" dirty="0" smtClean="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 2009 </a:t>
            </a:r>
            <a:r>
              <a:rPr lang="en-US" dirty="0" smtClean="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to </a:t>
            </a:r>
            <a:r>
              <a:rPr lang="en-US" sz="1400" dirty="0" smtClean="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2021</a:t>
            </a:r>
          </a:p>
          <a:p>
            <a:pPr algn="l">
              <a:lnSpc>
                <a:spcPts val="2135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191217" y="1231243"/>
            <a:ext cx="1054238" cy="4918300"/>
          </a:xfrm>
          <a:custGeom>
            <a:avLst/>
            <a:gdLst/>
            <a:ahLst/>
            <a:cxnLst/>
            <a:rect l="l" t="t" r="r" b="b"/>
            <a:pathLst>
              <a:path w="1054238" h="4918300">
                <a:moveTo>
                  <a:pt x="0" y="0"/>
                </a:moveTo>
                <a:lnTo>
                  <a:pt x="1054238" y="0"/>
                </a:lnTo>
                <a:lnTo>
                  <a:pt x="1054238" y="4918301"/>
                </a:lnTo>
                <a:lnTo>
                  <a:pt x="0" y="4918301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12666" y="229384"/>
            <a:ext cx="6859042" cy="849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5"/>
              </a:lnSpc>
            </a:pPr>
            <a:r>
              <a:rPr lang="en-US" sz="2365">
                <a:solidFill>
                  <a:srgbClr val="272D45"/>
                </a:solidFill>
                <a:latin typeface="ฟ้อนต์ Light" panose="00000400000000000000"/>
                <a:ea typeface="ฟ้อนต์ Light" panose="00000400000000000000"/>
                <a:cs typeface="ฟ้อนต์ Light" panose="00000400000000000000"/>
                <a:sym typeface="ฟ้อนต์ Light" panose="00000400000000000000"/>
              </a:rPr>
              <a:t>Project Execution Milestones</a:t>
            </a:r>
          </a:p>
          <a:p>
            <a:pPr algn="l">
              <a:lnSpc>
                <a:spcPts val="1745"/>
              </a:lnSpc>
            </a:pPr>
            <a:r>
              <a:rPr lang="en-US" sz="1245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A systematic approach from raw data collection to actionable visual insights, executed through seven key milestones.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248786" y="4114662"/>
            <a:ext cx="2953025" cy="369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5"/>
              </a:lnSpc>
            </a:pPr>
            <a:r>
              <a:rPr lang="en-US" sz="945" b="1">
                <a:solidFill>
                  <a:srgbClr val="2C3249"/>
                </a:solidFill>
                <a:latin typeface="Martel Sans Bold" panose="00000800000000000000"/>
                <a:ea typeface="Martel Sans Bold" panose="00000800000000000000"/>
                <a:cs typeface="Martel Sans Bold" panose="00000800000000000000"/>
                <a:sym typeface="Martel Sans Bold" panose="00000800000000000000"/>
              </a:rPr>
              <a:t>Designed interactive charts with filters and slicers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730878" y="4323802"/>
            <a:ext cx="2222617" cy="17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5"/>
              </a:lnSpc>
            </a:pPr>
            <a:r>
              <a:rPr lang="en-US" sz="945" b="1">
                <a:solidFill>
                  <a:srgbClr val="2C3249"/>
                </a:solidFill>
                <a:latin typeface="Martel Sans Bold" panose="00000800000000000000"/>
                <a:ea typeface="Martel Sans Bold" panose="00000800000000000000"/>
                <a:cs typeface="Martel Sans Bold" panose="00000800000000000000"/>
                <a:sym typeface="Martel Sans Bold" panose="00000800000000000000"/>
              </a:rPr>
              <a:t>for dynamic exploration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56729" y="5357040"/>
            <a:ext cx="3046919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5"/>
              </a:lnSpc>
            </a:pPr>
            <a:r>
              <a:rPr lang="en-US" sz="945" b="1" dirty="0" smtClean="0">
                <a:solidFill>
                  <a:srgbClr val="2C3249"/>
                </a:solidFill>
                <a:latin typeface="Martel Sans Bold" panose="00000800000000000000"/>
                <a:ea typeface="Martel Sans Bold" panose="00000800000000000000"/>
                <a:cs typeface="Martel Sans Bold" panose="00000800000000000000"/>
                <a:sym typeface="Martel Sans Bold" panose="00000800000000000000"/>
              </a:rPr>
              <a:t>Test  and validate all the KPI measures  and  charts results for better understanding</a:t>
            </a:r>
            <a:endParaRPr lang="en-US" sz="945" b="1" dirty="0">
              <a:solidFill>
                <a:srgbClr val="2C3249"/>
              </a:solidFill>
              <a:latin typeface="Martel Sans Bold" panose="00000800000000000000"/>
              <a:ea typeface="Martel Sans Bold" panose="00000800000000000000"/>
              <a:cs typeface="Martel Sans Bold" panose="00000800000000000000"/>
              <a:sym typeface="Martel Sans Bold" panose="000008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204534" y="2872284"/>
            <a:ext cx="2998165" cy="369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5"/>
              </a:lnSpc>
            </a:pPr>
            <a:r>
              <a:rPr lang="en-US" sz="945" b="1">
                <a:solidFill>
                  <a:srgbClr val="2C3249"/>
                </a:solidFill>
                <a:latin typeface="Martel Sans Bold" panose="00000800000000000000"/>
                <a:ea typeface="Martel Sans Bold" panose="00000800000000000000"/>
                <a:cs typeface="Martel Sans Bold" panose="00000800000000000000"/>
                <a:sym typeface="Martel Sans Bold" panose="00000800000000000000"/>
              </a:rPr>
              <a:t>Created relationships between candidates, parties,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730878" y="3063755"/>
            <a:ext cx="2748962" cy="17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5"/>
              </a:lnSpc>
            </a:pPr>
            <a:r>
              <a:rPr lang="en-US" sz="945" b="1">
                <a:solidFill>
                  <a:srgbClr val="2C3249"/>
                </a:solidFill>
                <a:latin typeface="Martel Sans Bold" panose="00000800000000000000"/>
                <a:ea typeface="Martel Sans Bold" panose="00000800000000000000"/>
                <a:cs typeface="Martel Sans Bold" panose="00000800000000000000"/>
                <a:sym typeface="Martel Sans Bold" panose="00000800000000000000"/>
              </a:rPr>
              <a:t>states, and election years for seamless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07064" y="1502199"/>
            <a:ext cx="3743902" cy="369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25"/>
              </a:lnSpc>
            </a:pPr>
            <a:r>
              <a:rPr lang="en-US" sz="945" b="1">
                <a:solidFill>
                  <a:srgbClr val="2C3249"/>
                </a:solidFill>
                <a:latin typeface="Martel Sans Bold" panose="00000800000000000000"/>
                <a:ea typeface="Martel Sans Bold" panose="00000800000000000000"/>
                <a:cs typeface="Martel Sans Bold" panose="00000800000000000000"/>
                <a:sym typeface="Martel Sans Bold" panose="00000800000000000000"/>
              </a:rPr>
              <a:t>Gathered comprehensive election datasets from reliable sources, covering multiple years, states, and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65404" y="1918431"/>
            <a:ext cx="2088092" cy="17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5"/>
              </a:lnSpc>
            </a:pPr>
            <a:r>
              <a:rPr lang="en-US" sz="945" b="1" dirty="0">
                <a:solidFill>
                  <a:srgbClr val="2C3249"/>
                </a:solidFill>
                <a:latin typeface="Martel Sans Bold" panose="00000800000000000000"/>
                <a:ea typeface="Martel Sans Bold" panose="00000800000000000000"/>
                <a:cs typeface="Martel Sans Bold" panose="00000800000000000000"/>
                <a:sym typeface="Martel Sans Bold" panose="00000800000000000000"/>
              </a:rPr>
              <a:t>candidates across India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316151" y="4735851"/>
            <a:ext cx="2519977" cy="369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5"/>
              </a:lnSpc>
            </a:pPr>
            <a:r>
              <a:rPr lang="en-US" sz="945" b="1">
                <a:solidFill>
                  <a:srgbClr val="2C3249"/>
                </a:solidFill>
                <a:latin typeface="Martel Sans Bold" panose="00000800000000000000"/>
                <a:ea typeface="Martel Sans Bold" panose="00000800000000000000"/>
                <a:cs typeface="Martel Sans Bold" panose="00000800000000000000"/>
                <a:sym typeface="Martel Sans Bold" panose="00000800000000000000"/>
              </a:rPr>
              <a:t>Identified key trends and patterns through comprehensive data analysis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316151" y="3493473"/>
            <a:ext cx="2838693" cy="560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5"/>
              </a:lnSpc>
            </a:pPr>
            <a:r>
              <a:rPr lang="en-US" sz="945" b="1" dirty="0">
                <a:solidFill>
                  <a:srgbClr val="2C3249"/>
                </a:solidFill>
                <a:latin typeface="Martel Sans Bold" panose="00000800000000000000"/>
                <a:ea typeface="Martel Sans Bold" panose="00000800000000000000"/>
                <a:cs typeface="Martel Sans Bold" panose="00000800000000000000"/>
                <a:sym typeface="Martel Sans Bold" panose="00000800000000000000"/>
              </a:rPr>
              <a:t>Calculated vote share, seats won, voter turnout, and winning margins using DAX in Power BI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316151" y="2251095"/>
            <a:ext cx="2952291" cy="577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5"/>
              </a:lnSpc>
            </a:pPr>
            <a:r>
              <a:rPr lang="en-US" sz="945" b="1" dirty="0">
                <a:solidFill>
                  <a:srgbClr val="2C3249"/>
                </a:solidFill>
                <a:latin typeface="Martel Sans Bold" panose="00000800000000000000"/>
                <a:ea typeface="Martel Sans Bold" panose="00000800000000000000"/>
                <a:cs typeface="Martel Sans Bold" panose="00000800000000000000"/>
                <a:sym typeface="Martel Sans Bold" panose="00000800000000000000"/>
              </a:rPr>
              <a:t>Removed missing and inconsistent values, standardized party and state names for </a:t>
            </a:r>
            <a:r>
              <a:rPr lang="en-US" sz="945" b="1" dirty="0" smtClean="0">
                <a:solidFill>
                  <a:srgbClr val="2C3249"/>
                </a:solidFill>
                <a:latin typeface="Martel Sans Bold" panose="00000800000000000000"/>
                <a:ea typeface="Martel Sans Bold" panose="00000800000000000000"/>
                <a:cs typeface="Martel Sans Bold" panose="00000800000000000000"/>
                <a:sym typeface="Martel Sans Bold" panose="00000800000000000000"/>
              </a:rPr>
              <a:t>uniformity Using Power Query Editor</a:t>
            </a:r>
            <a:endParaRPr lang="en-US" sz="945" b="1" dirty="0">
              <a:solidFill>
                <a:srgbClr val="2C3249"/>
              </a:solidFill>
              <a:latin typeface="Martel Sans Bold" panose="00000800000000000000"/>
              <a:ea typeface="Martel Sans Bold" panose="00000800000000000000"/>
              <a:cs typeface="Martel Sans Bold" panose="00000800000000000000"/>
              <a:sym typeface="Martel Sans Bold" panose="0000080000000000000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5663655" y="4466028"/>
            <a:ext cx="106204" cy="240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0"/>
              </a:lnSpc>
            </a:pPr>
            <a:r>
              <a:rPr lang="en-US" sz="1420" b="1">
                <a:solidFill>
                  <a:srgbClr val="2C3249"/>
                </a:solidFill>
                <a:latin typeface="ฟ้อนต์ Bold" panose="00000800000000000000"/>
                <a:ea typeface="ฟ้อนต์ Bold" panose="00000800000000000000"/>
                <a:cs typeface="ฟ้อนต์ Bold" panose="00000800000000000000"/>
                <a:sym typeface="ฟ้อนต์ Bold" panose="00000800000000000000"/>
              </a:rPr>
              <a:t>6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66160" y="3223650"/>
            <a:ext cx="99060" cy="240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0"/>
              </a:lnSpc>
            </a:pPr>
            <a:r>
              <a:rPr lang="en-US" sz="1420" b="1">
                <a:solidFill>
                  <a:srgbClr val="2C3249"/>
                </a:solidFill>
                <a:latin typeface="ฟ้อนต์ Bold" panose="00000800000000000000"/>
                <a:ea typeface="ฟ้อนต์ Bold" panose="00000800000000000000"/>
                <a:cs typeface="ฟ้อนต์ Bold" panose="00000800000000000000"/>
                <a:sym typeface="ฟ้อนต์ Bold" panose="00000800000000000000"/>
              </a:rPr>
              <a:t>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668558" y="2602461"/>
            <a:ext cx="96322" cy="240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0"/>
              </a:lnSpc>
            </a:pPr>
            <a:r>
              <a:rPr lang="en-US" sz="1420" b="1">
                <a:solidFill>
                  <a:srgbClr val="2C3249"/>
                </a:solidFill>
                <a:latin typeface="ฟ้อนต์ Bold" panose="00000800000000000000"/>
                <a:ea typeface="ฟ้อนต์ Bold" panose="00000800000000000000"/>
                <a:cs typeface="ฟ้อนต์ Bold" panose="00000800000000000000"/>
                <a:sym typeface="ฟ้อนต์ Bold" panose="00000800000000000000"/>
              </a:rPr>
              <a:t>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668765" y="3844839"/>
            <a:ext cx="94536" cy="240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0"/>
              </a:lnSpc>
            </a:pPr>
            <a:r>
              <a:rPr lang="en-US" sz="1420" b="1">
                <a:solidFill>
                  <a:srgbClr val="2C3249"/>
                </a:solidFill>
                <a:latin typeface="ฟ้อนต์ Bold" panose="00000800000000000000"/>
                <a:ea typeface="ฟ้อนต์ Bold" panose="00000800000000000000"/>
                <a:cs typeface="ฟ้อนต์ Bold" panose="00000800000000000000"/>
                <a:sym typeface="ฟ้อนต์ Bold" panose="00000800000000000000"/>
              </a:rPr>
              <a:t>5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669286" y="1974592"/>
            <a:ext cx="94178" cy="240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0"/>
              </a:lnSpc>
            </a:pPr>
            <a:r>
              <a:rPr lang="en-US" sz="1420" b="1">
                <a:solidFill>
                  <a:srgbClr val="2C3249"/>
                </a:solidFill>
                <a:latin typeface="ฟ้อนต์ Bold" panose="00000800000000000000"/>
                <a:ea typeface="ฟ้อนต์ Bold" panose="00000800000000000000"/>
                <a:cs typeface="ฟ้อนต์ Bold" panose="00000800000000000000"/>
                <a:sym typeface="ฟ้อนต์ Bold" panose="00000800000000000000"/>
              </a:rPr>
              <a:t>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670021" y="5087217"/>
            <a:ext cx="89892" cy="240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0"/>
              </a:lnSpc>
            </a:pPr>
            <a:r>
              <a:rPr lang="en-US" sz="1420" b="1">
                <a:solidFill>
                  <a:srgbClr val="2C3249"/>
                </a:solidFill>
                <a:latin typeface="ฟ้อนต์ Bold" panose="00000800000000000000"/>
                <a:ea typeface="ฟ้อนต์ Bold" panose="00000800000000000000"/>
                <a:cs typeface="ฟ้อนต์ Bold" panose="00000800000000000000"/>
                <a:sym typeface="ฟ้อนต์ Bold" panose="00000800000000000000"/>
              </a:rPr>
              <a:t>7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687554" y="1253212"/>
            <a:ext cx="65842" cy="240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0"/>
              </a:lnSpc>
            </a:pPr>
            <a:r>
              <a:rPr lang="en-US" sz="1420" b="1">
                <a:solidFill>
                  <a:srgbClr val="2C3249"/>
                </a:solidFill>
                <a:latin typeface="ฟ้อนต์ Bold" panose="00000800000000000000"/>
                <a:ea typeface="ฟ้อนต์ Bold" panose="00000800000000000000"/>
                <a:cs typeface="ฟ้อนต์ Bold" panose="00000800000000000000"/>
                <a:sym typeface="ฟ้อนต์ Bold" panose="00000800000000000000"/>
              </a:rPr>
              <a:t>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105275" y="967740"/>
            <a:ext cx="1108075" cy="51752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1655"/>
              </a:lnSpc>
            </a:pPr>
            <a:r>
              <a:rPr lang="en-US" sz="1185" b="1">
                <a:solidFill>
                  <a:srgbClr val="2C3249"/>
                </a:solidFill>
                <a:latin typeface="ฟ้อนต์ Bold" panose="00000800000000000000"/>
                <a:ea typeface="ฟ้อนต์ Bold" panose="00000800000000000000"/>
                <a:cs typeface="ฟ้อนต์ Bold" panose="00000800000000000000"/>
                <a:sym typeface="ฟ้อนต์ Bold" panose="00000800000000000000"/>
              </a:rPr>
              <a:t>Data Collection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505200" y="5048250"/>
            <a:ext cx="1645206" cy="218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55"/>
              </a:lnSpc>
            </a:pPr>
            <a:r>
              <a:rPr lang="en-US" sz="1185" b="1" dirty="0">
                <a:solidFill>
                  <a:srgbClr val="2C3249"/>
                </a:solidFill>
                <a:latin typeface="ฟ้อนต์ Bold" panose="00000800000000000000"/>
                <a:ea typeface="ฟ้อนต์ Bold" panose="00000800000000000000"/>
                <a:cs typeface="ฟ้อนต์ Bold" panose="00000800000000000000"/>
                <a:sym typeface="ฟ้อนต์ Bold" panose="00000800000000000000"/>
              </a:rPr>
              <a:t>Testing &amp; Presentation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161155" y="2446655"/>
            <a:ext cx="1036955" cy="19875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1655"/>
              </a:lnSpc>
            </a:pPr>
            <a:r>
              <a:rPr lang="en-US" sz="1185" b="1">
                <a:solidFill>
                  <a:srgbClr val="2C3249"/>
                </a:solidFill>
                <a:latin typeface="ฟ้อนต์ Bold" panose="00000800000000000000"/>
                <a:ea typeface="ฟ้อนต์ Bold" panose="00000800000000000000"/>
                <a:cs typeface="ฟ้อนต์ Bold" panose="00000800000000000000"/>
                <a:sym typeface="ฟ้อนต์ Bold" panose="00000800000000000000"/>
              </a:rPr>
              <a:t>Data Modeling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505310" y="3723000"/>
            <a:ext cx="1770936" cy="198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5"/>
              </a:lnSpc>
            </a:pPr>
            <a:r>
              <a:rPr lang="en-US" sz="1185" b="1">
                <a:solidFill>
                  <a:srgbClr val="2C3249"/>
                </a:solidFill>
                <a:latin typeface="ฟ้อนต์ Bold" panose="00000800000000000000"/>
                <a:ea typeface="ฟ้อนต์ Bold" panose="00000800000000000000"/>
                <a:cs typeface="ฟ้อนต์ Bold" panose="00000800000000000000"/>
                <a:sym typeface="ฟ้อนต์ Bold" panose="00000800000000000000"/>
              </a:rPr>
              <a:t>Dashboard Development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400606" y="3068156"/>
            <a:ext cx="1103471" cy="198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5"/>
              </a:lnSpc>
            </a:pPr>
            <a:r>
              <a:rPr lang="en-US" sz="1185" b="1">
                <a:solidFill>
                  <a:srgbClr val="2C3249"/>
                </a:solidFill>
                <a:latin typeface="ฟ้อนต์ Bold" panose="00000800000000000000"/>
                <a:ea typeface="ฟ้อนต์ Bold" panose="00000800000000000000"/>
                <a:cs typeface="ฟ้อนต์ Bold" panose="00000800000000000000"/>
                <a:sym typeface="ฟ้อนต์ Bold" panose="00000800000000000000"/>
              </a:rPr>
              <a:t>KPI Calculation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324406" y="4330854"/>
            <a:ext cx="1332905" cy="198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5"/>
              </a:lnSpc>
            </a:pPr>
            <a:r>
              <a:rPr lang="en-US" sz="1185" b="1">
                <a:solidFill>
                  <a:srgbClr val="2C3249"/>
                </a:solidFill>
                <a:latin typeface="ฟ้อนต์ Bold" panose="00000800000000000000"/>
                <a:ea typeface="ฟ้อนต์ Bold" panose="00000800000000000000"/>
                <a:cs typeface="ฟ้อนต์ Bold" panose="00000800000000000000"/>
                <a:sym typeface="ฟ้อนต์ Bold" panose="00000800000000000000"/>
              </a:rPr>
              <a:t>Insight Generation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314881" y="1805458"/>
            <a:ext cx="2220992" cy="198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5"/>
              </a:lnSpc>
            </a:pPr>
            <a:r>
              <a:rPr lang="en-US" sz="1185" b="1">
                <a:solidFill>
                  <a:srgbClr val="2C3249"/>
                </a:solidFill>
                <a:latin typeface="ฟ้อนต์ Bold" panose="00000800000000000000"/>
                <a:ea typeface="ฟ้อนต์ Bold" panose="00000800000000000000"/>
                <a:cs typeface="ฟ้อนต์ Bold" panose="00000800000000000000"/>
                <a:sym typeface="ฟ้อนต์ Bold" panose="00000800000000000000"/>
              </a:rPr>
              <a:t>Data Cleaning &amp; Preprocessing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204534" y="3290565"/>
            <a:ext cx="2748962" cy="17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5"/>
              </a:lnSpc>
            </a:pPr>
            <a:r>
              <a:rPr lang="en-US" sz="945" b="1">
                <a:solidFill>
                  <a:srgbClr val="2C3249"/>
                </a:solidFill>
                <a:latin typeface="Martel Sans Bold" panose="00000800000000000000"/>
                <a:ea typeface="Martel Sans Bold" panose="00000800000000000000"/>
                <a:cs typeface="Martel Sans Bold" panose="00000800000000000000"/>
                <a:sym typeface="Martel Sans Bold" panose="00000800000000000000"/>
              </a:rPr>
              <a:t>analysis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38854" y="2138058"/>
            <a:ext cx="3014024" cy="3014043"/>
            <a:chOff x="0" y="0"/>
            <a:chExt cx="3014028" cy="3014040"/>
          </a:xfrm>
        </p:grpSpPr>
        <p:sp>
          <p:nvSpPr>
            <p:cNvPr id="3" name="Freeform 3"/>
            <p:cNvSpPr/>
            <p:nvPr/>
          </p:nvSpPr>
          <p:spPr>
            <a:xfrm>
              <a:off x="-32" y="95"/>
              <a:ext cx="3013900" cy="3013515"/>
            </a:xfrm>
            <a:custGeom>
              <a:avLst/>
              <a:gdLst/>
              <a:ahLst/>
              <a:cxnLst/>
              <a:rect l="l" t="t" r="r" b="b"/>
              <a:pathLst>
                <a:path w="3013900" h="3013515">
                  <a:moveTo>
                    <a:pt x="1496854" y="3334"/>
                  </a:moveTo>
                  <a:cubicBezTo>
                    <a:pt x="1501299" y="-1111"/>
                    <a:pt x="1508665" y="-1111"/>
                    <a:pt x="1513110" y="3334"/>
                  </a:cubicBezTo>
                  <a:lnTo>
                    <a:pt x="1586262" y="76486"/>
                  </a:lnTo>
                  <a:cubicBezTo>
                    <a:pt x="1590707" y="80931"/>
                    <a:pt x="1590707" y="88297"/>
                    <a:pt x="1586262" y="92742"/>
                  </a:cubicBezTo>
                  <a:cubicBezTo>
                    <a:pt x="1581817" y="97187"/>
                    <a:pt x="1574451" y="97187"/>
                    <a:pt x="1570006" y="92742"/>
                  </a:cubicBezTo>
                  <a:lnTo>
                    <a:pt x="1516412" y="39148"/>
                  </a:lnTo>
                  <a:lnTo>
                    <a:pt x="1516412" y="231553"/>
                  </a:lnTo>
                  <a:cubicBezTo>
                    <a:pt x="2214404" y="235109"/>
                    <a:pt x="2779935" y="798099"/>
                    <a:pt x="2787809" y="1494946"/>
                  </a:cubicBezTo>
                  <a:lnTo>
                    <a:pt x="2988342" y="1494946"/>
                  </a:lnTo>
                  <a:lnTo>
                    <a:pt x="2953417" y="1441353"/>
                  </a:lnTo>
                  <a:cubicBezTo>
                    <a:pt x="2950496" y="1436908"/>
                    <a:pt x="2950496" y="1429542"/>
                    <a:pt x="2953417" y="1425097"/>
                  </a:cubicBezTo>
                  <a:cubicBezTo>
                    <a:pt x="2956338" y="1420652"/>
                    <a:pt x="2961037" y="1420652"/>
                    <a:pt x="2963958" y="1425097"/>
                  </a:cubicBezTo>
                  <a:lnTo>
                    <a:pt x="3011710" y="1498249"/>
                  </a:lnTo>
                  <a:cubicBezTo>
                    <a:pt x="3014631" y="1502694"/>
                    <a:pt x="3014631" y="1510060"/>
                    <a:pt x="3011710" y="1514505"/>
                  </a:cubicBezTo>
                  <a:lnTo>
                    <a:pt x="2963958" y="1587656"/>
                  </a:lnTo>
                  <a:cubicBezTo>
                    <a:pt x="2961037" y="1592101"/>
                    <a:pt x="2956338" y="1592101"/>
                    <a:pt x="2953417" y="1587656"/>
                  </a:cubicBezTo>
                  <a:cubicBezTo>
                    <a:pt x="2950496" y="1583211"/>
                    <a:pt x="2950496" y="1575845"/>
                    <a:pt x="2953417" y="1571400"/>
                  </a:cubicBezTo>
                  <a:lnTo>
                    <a:pt x="2988342" y="1517807"/>
                  </a:lnTo>
                  <a:lnTo>
                    <a:pt x="2787936" y="1517807"/>
                  </a:lnTo>
                  <a:cubicBezTo>
                    <a:pt x="2783491" y="2217702"/>
                    <a:pt x="2216563" y="2783994"/>
                    <a:pt x="1516539" y="2787551"/>
                  </a:cubicBezTo>
                  <a:lnTo>
                    <a:pt x="1516539" y="2974367"/>
                  </a:lnTo>
                  <a:lnTo>
                    <a:pt x="1570133" y="2920773"/>
                  </a:lnTo>
                  <a:cubicBezTo>
                    <a:pt x="1574578" y="2916328"/>
                    <a:pt x="1581944" y="2916328"/>
                    <a:pt x="1586389" y="2920773"/>
                  </a:cubicBezTo>
                  <a:cubicBezTo>
                    <a:pt x="1590834" y="2925218"/>
                    <a:pt x="1590834" y="2932584"/>
                    <a:pt x="1586389" y="2937029"/>
                  </a:cubicBezTo>
                  <a:lnTo>
                    <a:pt x="1513237" y="3010181"/>
                  </a:lnTo>
                  <a:cubicBezTo>
                    <a:pt x="1508792" y="3014626"/>
                    <a:pt x="1501426" y="3014626"/>
                    <a:pt x="1496981" y="3010181"/>
                  </a:cubicBezTo>
                  <a:lnTo>
                    <a:pt x="1423829" y="2937029"/>
                  </a:lnTo>
                  <a:cubicBezTo>
                    <a:pt x="1419384" y="2932584"/>
                    <a:pt x="1419384" y="2925218"/>
                    <a:pt x="1423829" y="2920773"/>
                  </a:cubicBezTo>
                  <a:cubicBezTo>
                    <a:pt x="1428274" y="2916328"/>
                    <a:pt x="1435640" y="2916328"/>
                    <a:pt x="1440085" y="2920773"/>
                  </a:cubicBezTo>
                  <a:lnTo>
                    <a:pt x="1493679" y="2974367"/>
                  </a:lnTo>
                  <a:lnTo>
                    <a:pt x="1493679" y="2787804"/>
                  </a:lnTo>
                  <a:cubicBezTo>
                    <a:pt x="798100" y="2779041"/>
                    <a:pt x="236379" y="2214781"/>
                    <a:pt x="231934" y="1518060"/>
                  </a:cubicBezTo>
                  <a:lnTo>
                    <a:pt x="25686" y="1518060"/>
                  </a:lnTo>
                  <a:lnTo>
                    <a:pt x="60611" y="1571654"/>
                  </a:lnTo>
                  <a:cubicBezTo>
                    <a:pt x="63532" y="1576099"/>
                    <a:pt x="63532" y="1583465"/>
                    <a:pt x="60611" y="1587910"/>
                  </a:cubicBezTo>
                  <a:cubicBezTo>
                    <a:pt x="57690" y="1592355"/>
                    <a:pt x="52991" y="1592355"/>
                    <a:pt x="50070" y="1587910"/>
                  </a:cubicBezTo>
                  <a:lnTo>
                    <a:pt x="2191" y="1514631"/>
                  </a:lnTo>
                  <a:cubicBezTo>
                    <a:pt x="-730" y="1510186"/>
                    <a:pt x="-730" y="1502820"/>
                    <a:pt x="2191" y="1498375"/>
                  </a:cubicBezTo>
                  <a:lnTo>
                    <a:pt x="49943" y="1425224"/>
                  </a:lnTo>
                  <a:cubicBezTo>
                    <a:pt x="52864" y="1420779"/>
                    <a:pt x="57563" y="1420779"/>
                    <a:pt x="60484" y="1425224"/>
                  </a:cubicBezTo>
                  <a:cubicBezTo>
                    <a:pt x="63405" y="1429669"/>
                    <a:pt x="63405" y="1437035"/>
                    <a:pt x="60484" y="1441480"/>
                  </a:cubicBezTo>
                  <a:lnTo>
                    <a:pt x="25559" y="1495073"/>
                  </a:lnTo>
                  <a:lnTo>
                    <a:pt x="231807" y="1495073"/>
                  </a:lnTo>
                  <a:cubicBezTo>
                    <a:pt x="239554" y="801401"/>
                    <a:pt x="800005" y="240315"/>
                    <a:pt x="1493552" y="231680"/>
                  </a:cubicBezTo>
                  <a:lnTo>
                    <a:pt x="1493552" y="39148"/>
                  </a:lnTo>
                  <a:lnTo>
                    <a:pt x="1439958" y="92742"/>
                  </a:lnTo>
                  <a:cubicBezTo>
                    <a:pt x="1435513" y="97187"/>
                    <a:pt x="1428147" y="97187"/>
                    <a:pt x="1423702" y="92742"/>
                  </a:cubicBezTo>
                  <a:cubicBezTo>
                    <a:pt x="1419257" y="88297"/>
                    <a:pt x="1419257" y="80931"/>
                    <a:pt x="1423702" y="76486"/>
                  </a:cubicBezTo>
                  <a:lnTo>
                    <a:pt x="1496854" y="3334"/>
                  </a:lnTo>
                  <a:close/>
                  <a:moveTo>
                    <a:pt x="2228755" y="1518060"/>
                  </a:moveTo>
                  <a:cubicBezTo>
                    <a:pt x="2224310" y="1909093"/>
                    <a:pt x="1907699" y="2225068"/>
                    <a:pt x="1516539" y="2228624"/>
                  </a:cubicBezTo>
                  <a:lnTo>
                    <a:pt x="1516539" y="2723924"/>
                  </a:lnTo>
                  <a:cubicBezTo>
                    <a:pt x="2181257" y="2720367"/>
                    <a:pt x="2719610" y="2182650"/>
                    <a:pt x="2724055" y="1518060"/>
                  </a:cubicBezTo>
                  <a:lnTo>
                    <a:pt x="2228755" y="1518060"/>
                  </a:lnTo>
                  <a:close/>
                  <a:moveTo>
                    <a:pt x="295688" y="1518060"/>
                  </a:moveTo>
                  <a:cubicBezTo>
                    <a:pt x="300133" y="2179348"/>
                    <a:pt x="833279" y="2715161"/>
                    <a:pt x="1493552" y="2723796"/>
                  </a:cubicBezTo>
                  <a:lnTo>
                    <a:pt x="1493552" y="2228497"/>
                  </a:lnTo>
                  <a:cubicBezTo>
                    <a:pt x="1106837" y="2219861"/>
                    <a:pt x="795433" y="1905918"/>
                    <a:pt x="790988" y="1518061"/>
                  </a:cubicBezTo>
                  <a:lnTo>
                    <a:pt x="295688" y="1518061"/>
                  </a:lnTo>
                  <a:close/>
                  <a:moveTo>
                    <a:pt x="1613440" y="1518061"/>
                  </a:moveTo>
                  <a:cubicBezTo>
                    <a:pt x="1609376" y="1569368"/>
                    <a:pt x="1568101" y="1610008"/>
                    <a:pt x="1516666" y="1613310"/>
                  </a:cubicBezTo>
                  <a:lnTo>
                    <a:pt x="1516666" y="2196620"/>
                  </a:lnTo>
                  <a:cubicBezTo>
                    <a:pt x="1890173" y="2193064"/>
                    <a:pt x="2192433" y="1891313"/>
                    <a:pt x="2196878" y="1518061"/>
                  </a:cubicBezTo>
                  <a:lnTo>
                    <a:pt x="1613313" y="1518061"/>
                  </a:lnTo>
                  <a:close/>
                  <a:moveTo>
                    <a:pt x="822865" y="1518061"/>
                  </a:moveTo>
                  <a:cubicBezTo>
                    <a:pt x="827310" y="1888138"/>
                    <a:pt x="1124363" y="2187857"/>
                    <a:pt x="1493425" y="2196493"/>
                  </a:cubicBezTo>
                  <a:lnTo>
                    <a:pt x="1493425" y="1612294"/>
                  </a:lnTo>
                  <a:cubicBezTo>
                    <a:pt x="1446562" y="1604928"/>
                    <a:pt x="1410113" y="1566066"/>
                    <a:pt x="1406303" y="1518060"/>
                  </a:cubicBezTo>
                  <a:lnTo>
                    <a:pt x="822865" y="1518060"/>
                  </a:lnTo>
                  <a:close/>
                  <a:moveTo>
                    <a:pt x="1342041" y="1653569"/>
                  </a:moveTo>
                  <a:cubicBezTo>
                    <a:pt x="1355249" y="1653569"/>
                    <a:pt x="1366044" y="1664237"/>
                    <a:pt x="1366044" y="1677572"/>
                  </a:cubicBezTo>
                  <a:lnTo>
                    <a:pt x="1366044" y="1893218"/>
                  </a:lnTo>
                  <a:cubicBezTo>
                    <a:pt x="1366044" y="1906426"/>
                    <a:pt x="1355249" y="1917221"/>
                    <a:pt x="1342041" y="1917221"/>
                  </a:cubicBezTo>
                  <a:cubicBezTo>
                    <a:pt x="1328833" y="1917221"/>
                    <a:pt x="1318038" y="1906426"/>
                    <a:pt x="1318038" y="1893218"/>
                  </a:cubicBezTo>
                  <a:lnTo>
                    <a:pt x="1318038" y="1735357"/>
                  </a:lnTo>
                  <a:lnTo>
                    <a:pt x="1119410" y="1934112"/>
                  </a:lnTo>
                  <a:lnTo>
                    <a:pt x="1085501" y="1900203"/>
                  </a:lnTo>
                  <a:lnTo>
                    <a:pt x="1284256" y="1701448"/>
                  </a:lnTo>
                  <a:lnTo>
                    <a:pt x="1126395" y="1701448"/>
                  </a:lnTo>
                  <a:cubicBezTo>
                    <a:pt x="1113187" y="1701448"/>
                    <a:pt x="1102392" y="1690653"/>
                    <a:pt x="1102392" y="1677445"/>
                  </a:cubicBezTo>
                  <a:cubicBezTo>
                    <a:pt x="1102392" y="1664237"/>
                    <a:pt x="1113187" y="1653442"/>
                    <a:pt x="1126395" y="1653442"/>
                  </a:cubicBezTo>
                  <a:lnTo>
                    <a:pt x="1342041" y="1653442"/>
                  </a:lnTo>
                  <a:close/>
                  <a:moveTo>
                    <a:pt x="1893221" y="1653442"/>
                  </a:moveTo>
                  <a:cubicBezTo>
                    <a:pt x="1906429" y="1653442"/>
                    <a:pt x="1917224" y="1664110"/>
                    <a:pt x="1917224" y="1677445"/>
                  </a:cubicBezTo>
                  <a:cubicBezTo>
                    <a:pt x="1917224" y="1690780"/>
                    <a:pt x="1906556" y="1701448"/>
                    <a:pt x="1893221" y="1701448"/>
                  </a:cubicBezTo>
                  <a:lnTo>
                    <a:pt x="1735487" y="1701448"/>
                  </a:lnTo>
                  <a:lnTo>
                    <a:pt x="1934242" y="1900203"/>
                  </a:lnTo>
                  <a:lnTo>
                    <a:pt x="1900333" y="1934112"/>
                  </a:lnTo>
                  <a:lnTo>
                    <a:pt x="1701578" y="1735357"/>
                  </a:lnTo>
                  <a:lnTo>
                    <a:pt x="1701578" y="1893218"/>
                  </a:lnTo>
                  <a:cubicBezTo>
                    <a:pt x="1701578" y="1906426"/>
                    <a:pt x="1690910" y="1917221"/>
                    <a:pt x="1677575" y="1917221"/>
                  </a:cubicBezTo>
                  <a:cubicBezTo>
                    <a:pt x="1664240" y="1917221"/>
                    <a:pt x="1653572" y="1906426"/>
                    <a:pt x="1653572" y="1893218"/>
                  </a:cubicBezTo>
                  <a:lnTo>
                    <a:pt x="1653572" y="1677445"/>
                  </a:lnTo>
                  <a:cubicBezTo>
                    <a:pt x="1653572" y="1664237"/>
                    <a:pt x="1664240" y="1653442"/>
                    <a:pt x="1677575" y="1653442"/>
                  </a:cubicBezTo>
                  <a:lnTo>
                    <a:pt x="1893221" y="1653442"/>
                  </a:lnTo>
                  <a:close/>
                  <a:moveTo>
                    <a:pt x="1493552" y="295561"/>
                  </a:moveTo>
                  <a:cubicBezTo>
                    <a:pt x="835311" y="304197"/>
                    <a:pt x="303562" y="836580"/>
                    <a:pt x="295688" y="1495073"/>
                  </a:cubicBezTo>
                  <a:lnTo>
                    <a:pt x="790988" y="1495073"/>
                  </a:lnTo>
                  <a:cubicBezTo>
                    <a:pt x="798735" y="1110264"/>
                    <a:pt x="1108742" y="799496"/>
                    <a:pt x="1493425" y="790987"/>
                  </a:cubicBezTo>
                  <a:lnTo>
                    <a:pt x="1493425" y="295688"/>
                  </a:lnTo>
                  <a:close/>
                  <a:moveTo>
                    <a:pt x="1493425" y="822991"/>
                  </a:moveTo>
                  <a:cubicBezTo>
                    <a:pt x="1126395" y="831500"/>
                    <a:pt x="830612" y="1127917"/>
                    <a:pt x="822865" y="1495073"/>
                  </a:cubicBezTo>
                  <a:lnTo>
                    <a:pt x="1406938" y="1495073"/>
                  </a:lnTo>
                  <a:cubicBezTo>
                    <a:pt x="1413288" y="1449989"/>
                    <a:pt x="1448594" y="1414302"/>
                    <a:pt x="1493425" y="1407190"/>
                  </a:cubicBezTo>
                  <a:lnTo>
                    <a:pt x="1493425" y="822991"/>
                  </a:lnTo>
                  <a:close/>
                  <a:moveTo>
                    <a:pt x="1516412" y="1406174"/>
                  </a:moveTo>
                  <a:cubicBezTo>
                    <a:pt x="1565688" y="1409349"/>
                    <a:pt x="1605693" y="1446941"/>
                    <a:pt x="1612551" y="1495200"/>
                  </a:cubicBezTo>
                  <a:lnTo>
                    <a:pt x="2196624" y="1495200"/>
                  </a:lnTo>
                  <a:cubicBezTo>
                    <a:pt x="2188877" y="1124742"/>
                    <a:pt x="1887887" y="826420"/>
                    <a:pt x="1516412" y="822864"/>
                  </a:cubicBezTo>
                  <a:lnTo>
                    <a:pt x="1516412" y="1406174"/>
                  </a:lnTo>
                  <a:close/>
                  <a:moveTo>
                    <a:pt x="1516412" y="790860"/>
                  </a:moveTo>
                  <a:cubicBezTo>
                    <a:pt x="1905540" y="794416"/>
                    <a:pt x="2220754" y="1107089"/>
                    <a:pt x="2228501" y="1495073"/>
                  </a:cubicBezTo>
                  <a:lnTo>
                    <a:pt x="2723801" y="1495073"/>
                  </a:lnTo>
                  <a:cubicBezTo>
                    <a:pt x="2715927" y="833405"/>
                    <a:pt x="2178971" y="299116"/>
                    <a:pt x="1516285" y="295561"/>
                  </a:cubicBezTo>
                  <a:lnTo>
                    <a:pt x="1516285" y="790860"/>
                  </a:lnTo>
                  <a:close/>
                  <a:moveTo>
                    <a:pt x="1317911" y="1300129"/>
                  </a:moveTo>
                  <a:lnTo>
                    <a:pt x="1317911" y="1142268"/>
                  </a:lnTo>
                  <a:cubicBezTo>
                    <a:pt x="1317911" y="1129060"/>
                    <a:pt x="1328579" y="1118265"/>
                    <a:pt x="1341914" y="1118265"/>
                  </a:cubicBezTo>
                  <a:cubicBezTo>
                    <a:pt x="1355249" y="1118265"/>
                    <a:pt x="1365917" y="1128933"/>
                    <a:pt x="1365917" y="1142268"/>
                  </a:cubicBezTo>
                  <a:lnTo>
                    <a:pt x="1365917" y="1357914"/>
                  </a:lnTo>
                  <a:cubicBezTo>
                    <a:pt x="1365917" y="1371122"/>
                    <a:pt x="1355249" y="1381917"/>
                    <a:pt x="1341914" y="1381917"/>
                  </a:cubicBezTo>
                  <a:lnTo>
                    <a:pt x="1126395" y="1381917"/>
                  </a:lnTo>
                  <a:cubicBezTo>
                    <a:pt x="1113187" y="1381917"/>
                    <a:pt x="1102392" y="1371122"/>
                    <a:pt x="1102392" y="1357914"/>
                  </a:cubicBezTo>
                  <a:cubicBezTo>
                    <a:pt x="1102392" y="1344706"/>
                    <a:pt x="1113060" y="1333911"/>
                    <a:pt x="1126395" y="1333911"/>
                  </a:cubicBezTo>
                  <a:lnTo>
                    <a:pt x="1284256" y="1333911"/>
                  </a:lnTo>
                  <a:lnTo>
                    <a:pt x="1085501" y="1135283"/>
                  </a:lnTo>
                  <a:lnTo>
                    <a:pt x="1119410" y="1101374"/>
                  </a:lnTo>
                  <a:lnTo>
                    <a:pt x="1318165" y="1300129"/>
                  </a:lnTo>
                  <a:close/>
                  <a:moveTo>
                    <a:pt x="1934242" y="1135283"/>
                  </a:moveTo>
                  <a:lnTo>
                    <a:pt x="1735487" y="1334038"/>
                  </a:lnTo>
                  <a:lnTo>
                    <a:pt x="1893348" y="1334038"/>
                  </a:lnTo>
                  <a:cubicBezTo>
                    <a:pt x="1906556" y="1334038"/>
                    <a:pt x="1917351" y="1344706"/>
                    <a:pt x="1917351" y="1358041"/>
                  </a:cubicBezTo>
                  <a:cubicBezTo>
                    <a:pt x="1917351" y="1371376"/>
                    <a:pt x="1906556" y="1382044"/>
                    <a:pt x="1893348" y="1382044"/>
                  </a:cubicBezTo>
                  <a:lnTo>
                    <a:pt x="1677575" y="1382044"/>
                  </a:lnTo>
                  <a:cubicBezTo>
                    <a:pt x="1664367" y="1382044"/>
                    <a:pt x="1653572" y="1371249"/>
                    <a:pt x="1653572" y="1358041"/>
                  </a:cubicBezTo>
                  <a:lnTo>
                    <a:pt x="1653572" y="1142268"/>
                  </a:lnTo>
                  <a:cubicBezTo>
                    <a:pt x="1653572" y="1129060"/>
                    <a:pt x="1664367" y="1118265"/>
                    <a:pt x="1677575" y="1118265"/>
                  </a:cubicBezTo>
                  <a:cubicBezTo>
                    <a:pt x="1690783" y="1118265"/>
                    <a:pt x="1701578" y="1128933"/>
                    <a:pt x="1701578" y="1142268"/>
                  </a:cubicBezTo>
                  <a:lnTo>
                    <a:pt x="1701578" y="1300129"/>
                  </a:lnTo>
                  <a:lnTo>
                    <a:pt x="1900333" y="1101374"/>
                  </a:lnTo>
                  <a:lnTo>
                    <a:pt x="1934242" y="1135283"/>
                  </a:lnTo>
                  <a:close/>
                </a:path>
              </a:pathLst>
            </a:custGeom>
            <a:solidFill>
              <a:srgbClr val="437066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7162800" y="781051"/>
            <a:ext cx="3800475" cy="5105400"/>
            <a:chOff x="0" y="0"/>
            <a:chExt cx="3552825" cy="45434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552952" cy="4543552"/>
            </a:xfrm>
            <a:custGeom>
              <a:avLst/>
              <a:gdLst/>
              <a:ahLst/>
              <a:cxnLst/>
              <a:rect l="l" t="t" r="r" b="b"/>
              <a:pathLst>
                <a:path w="3552952" h="4543552">
                  <a:moveTo>
                    <a:pt x="0" y="4440555"/>
                  </a:moveTo>
                  <a:lnTo>
                    <a:pt x="0" y="102870"/>
                  </a:lnTo>
                  <a:cubicBezTo>
                    <a:pt x="0" y="96139"/>
                    <a:pt x="635" y="89408"/>
                    <a:pt x="2032" y="82804"/>
                  </a:cubicBezTo>
                  <a:cubicBezTo>
                    <a:pt x="3429" y="76200"/>
                    <a:pt x="5207" y="69723"/>
                    <a:pt x="7874" y="63500"/>
                  </a:cubicBezTo>
                  <a:cubicBezTo>
                    <a:pt x="10541" y="57277"/>
                    <a:pt x="13589" y="51308"/>
                    <a:pt x="17399" y="45720"/>
                  </a:cubicBezTo>
                  <a:cubicBezTo>
                    <a:pt x="21209" y="40132"/>
                    <a:pt x="25400" y="34925"/>
                    <a:pt x="30099" y="30099"/>
                  </a:cubicBezTo>
                  <a:cubicBezTo>
                    <a:pt x="34798" y="25273"/>
                    <a:pt x="40132" y="21082"/>
                    <a:pt x="45720" y="17272"/>
                  </a:cubicBezTo>
                  <a:cubicBezTo>
                    <a:pt x="51308" y="13462"/>
                    <a:pt x="57277" y="10414"/>
                    <a:pt x="63500" y="7874"/>
                  </a:cubicBezTo>
                  <a:cubicBezTo>
                    <a:pt x="69723" y="5334"/>
                    <a:pt x="76200" y="3302"/>
                    <a:pt x="82804" y="2032"/>
                  </a:cubicBezTo>
                  <a:cubicBezTo>
                    <a:pt x="89408" y="762"/>
                    <a:pt x="96139" y="0"/>
                    <a:pt x="102870" y="0"/>
                  </a:cubicBezTo>
                  <a:lnTo>
                    <a:pt x="3449955" y="0"/>
                  </a:lnTo>
                  <a:cubicBezTo>
                    <a:pt x="3456686" y="0"/>
                    <a:pt x="3463417" y="635"/>
                    <a:pt x="3470021" y="2032"/>
                  </a:cubicBezTo>
                  <a:cubicBezTo>
                    <a:pt x="3476625" y="3429"/>
                    <a:pt x="3483102" y="5334"/>
                    <a:pt x="3489325" y="7874"/>
                  </a:cubicBezTo>
                  <a:cubicBezTo>
                    <a:pt x="3495548" y="10414"/>
                    <a:pt x="3501517" y="13589"/>
                    <a:pt x="3507105" y="17399"/>
                  </a:cubicBezTo>
                  <a:cubicBezTo>
                    <a:pt x="3512693" y="21209"/>
                    <a:pt x="3517900" y="25400"/>
                    <a:pt x="3522726" y="30226"/>
                  </a:cubicBezTo>
                  <a:cubicBezTo>
                    <a:pt x="3527552" y="35052"/>
                    <a:pt x="3531743" y="40259"/>
                    <a:pt x="3535553" y="45847"/>
                  </a:cubicBezTo>
                  <a:cubicBezTo>
                    <a:pt x="3539363" y="51435"/>
                    <a:pt x="3542538" y="57404"/>
                    <a:pt x="3545078" y="63627"/>
                  </a:cubicBezTo>
                  <a:cubicBezTo>
                    <a:pt x="3547618" y="69850"/>
                    <a:pt x="3549650" y="76327"/>
                    <a:pt x="3550920" y="82931"/>
                  </a:cubicBezTo>
                  <a:cubicBezTo>
                    <a:pt x="3552190" y="89535"/>
                    <a:pt x="3552952" y="96266"/>
                    <a:pt x="3552952" y="102997"/>
                  </a:cubicBezTo>
                  <a:lnTo>
                    <a:pt x="3552952" y="4440555"/>
                  </a:lnTo>
                  <a:cubicBezTo>
                    <a:pt x="3552952" y="4447286"/>
                    <a:pt x="3552317" y="4454017"/>
                    <a:pt x="3550920" y="4460621"/>
                  </a:cubicBezTo>
                  <a:cubicBezTo>
                    <a:pt x="3549523" y="4467225"/>
                    <a:pt x="3547618" y="4473702"/>
                    <a:pt x="3545078" y="4479925"/>
                  </a:cubicBezTo>
                  <a:cubicBezTo>
                    <a:pt x="3542538" y="4486148"/>
                    <a:pt x="3539363" y="4492117"/>
                    <a:pt x="3535553" y="4497705"/>
                  </a:cubicBezTo>
                  <a:cubicBezTo>
                    <a:pt x="3531743" y="4503293"/>
                    <a:pt x="3527552" y="4508500"/>
                    <a:pt x="3522726" y="4513326"/>
                  </a:cubicBezTo>
                  <a:cubicBezTo>
                    <a:pt x="3517900" y="4518152"/>
                    <a:pt x="3512693" y="4522343"/>
                    <a:pt x="3507105" y="4526153"/>
                  </a:cubicBezTo>
                  <a:cubicBezTo>
                    <a:pt x="3501517" y="4529963"/>
                    <a:pt x="3495548" y="4533011"/>
                    <a:pt x="3489325" y="4535678"/>
                  </a:cubicBezTo>
                  <a:cubicBezTo>
                    <a:pt x="3483102" y="4538345"/>
                    <a:pt x="3476625" y="4540250"/>
                    <a:pt x="3470021" y="4541520"/>
                  </a:cubicBezTo>
                  <a:cubicBezTo>
                    <a:pt x="3463417" y="4542790"/>
                    <a:pt x="3456686" y="4543552"/>
                    <a:pt x="3449955" y="4543552"/>
                  </a:cubicBezTo>
                  <a:lnTo>
                    <a:pt x="102870" y="4543552"/>
                  </a:lnTo>
                  <a:cubicBezTo>
                    <a:pt x="96139" y="4543552"/>
                    <a:pt x="89408" y="4542917"/>
                    <a:pt x="82804" y="4541520"/>
                  </a:cubicBezTo>
                  <a:cubicBezTo>
                    <a:pt x="76200" y="4540123"/>
                    <a:pt x="69723" y="4538218"/>
                    <a:pt x="63500" y="4535678"/>
                  </a:cubicBezTo>
                  <a:cubicBezTo>
                    <a:pt x="57277" y="4533138"/>
                    <a:pt x="51308" y="4529963"/>
                    <a:pt x="45720" y="4526153"/>
                  </a:cubicBezTo>
                  <a:cubicBezTo>
                    <a:pt x="40132" y="4522343"/>
                    <a:pt x="34925" y="4518152"/>
                    <a:pt x="30099" y="4513326"/>
                  </a:cubicBezTo>
                  <a:cubicBezTo>
                    <a:pt x="25273" y="4508500"/>
                    <a:pt x="21082" y="4503293"/>
                    <a:pt x="17272" y="4497705"/>
                  </a:cubicBezTo>
                  <a:cubicBezTo>
                    <a:pt x="13462" y="4492117"/>
                    <a:pt x="10414" y="4486148"/>
                    <a:pt x="7747" y="4479925"/>
                  </a:cubicBezTo>
                  <a:cubicBezTo>
                    <a:pt x="5080" y="4473702"/>
                    <a:pt x="3175" y="4467225"/>
                    <a:pt x="1905" y="4460621"/>
                  </a:cubicBezTo>
                  <a:cubicBezTo>
                    <a:pt x="635" y="4454017"/>
                    <a:pt x="0" y="4447286"/>
                    <a:pt x="0" y="4440555"/>
                  </a:cubicBezTo>
                  <a:close/>
                </a:path>
              </a:pathLst>
            </a:custGeom>
            <a:solidFill>
              <a:srgbClr val="437066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600075" y="466325"/>
            <a:ext cx="6420260" cy="603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75">
                <a:solidFill>
                  <a:srgbClr val="272D45"/>
                </a:solidFill>
                <a:latin typeface="ฟ้อนต์ Light" panose="00000400000000000000"/>
                <a:ea typeface="ฟ้อนต์ Light" panose="00000400000000000000"/>
                <a:cs typeface="ฟ้อนต์ Light" panose="00000400000000000000"/>
                <a:sym typeface="ฟ้อนต์ Light" panose="00000400000000000000"/>
              </a:rPr>
              <a:t>Overcoming Technical Challenges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83590" y="3493770"/>
            <a:ext cx="1339215" cy="25781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1980"/>
              </a:lnSpc>
            </a:pPr>
            <a:r>
              <a:rPr lang="en-US" sz="1415">
                <a:solidFill>
                  <a:srgbClr val="272D45"/>
                </a:solidFill>
                <a:latin typeface="ฟ้อนต์ Light" panose="00000400000000000000"/>
                <a:ea typeface="ฟ้อนต์ Light" panose="00000400000000000000"/>
                <a:cs typeface="ฟ้อนต์ Light" panose="00000400000000000000"/>
                <a:sym typeface="ฟ้อนต์ Light" panose="00000400000000000000"/>
              </a:rPr>
              <a:t>Optimization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04286" y="1712424"/>
            <a:ext cx="707669" cy="257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415">
                <a:solidFill>
                  <a:srgbClr val="272D45"/>
                </a:solidFill>
                <a:latin typeface="ฟ้อนต์ Light" panose="00000400000000000000"/>
                <a:ea typeface="ฟ้อนต์ Light" panose="00000400000000000000"/>
                <a:cs typeface="ฟ้อนต์ Light" panose="00000400000000000000"/>
                <a:sym typeface="ฟ้อนต์ Light" panose="00000400000000000000"/>
              </a:rPr>
              <a:t>Cleaning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505130" y="5276752"/>
            <a:ext cx="1161793" cy="257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415">
                <a:solidFill>
                  <a:srgbClr val="272D45"/>
                </a:solidFill>
                <a:latin typeface="ฟ้อนต์ Light" panose="00000400000000000000"/>
                <a:ea typeface="ฟ้อนต์ Light" panose="00000400000000000000"/>
                <a:cs typeface="ฟ้อนต์ Light" panose="00000400000000000000"/>
                <a:sym typeface="ฟ้อนต์ Light" panose="00000400000000000000"/>
              </a:rPr>
              <a:t>Data Modeling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00700" y="3493770"/>
            <a:ext cx="1439545" cy="27622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1980"/>
              </a:lnSpc>
            </a:pPr>
            <a:r>
              <a:rPr lang="en-US" sz="1415">
                <a:solidFill>
                  <a:srgbClr val="272D45"/>
                </a:solidFill>
                <a:latin typeface="ฟ้อนต์ Light" panose="00000400000000000000"/>
                <a:ea typeface="ฟ้อนต์ Light" panose="00000400000000000000"/>
                <a:cs typeface="ฟ้อนต์ Light" panose="00000400000000000000"/>
                <a:sym typeface="ฟ้อนต์ Light" panose="00000400000000000000"/>
              </a:rPr>
              <a:t>Standardization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315200" y="933450"/>
            <a:ext cx="3317824" cy="48884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dirty="0">
                <a:solidFill>
                  <a:srgbClr val="FFFFFF"/>
                </a:solidFill>
                <a:latin typeface="ฟ้อนต์ Light" panose="00000400000000000000"/>
                <a:ea typeface="ฟ้อนต์ Light" panose="00000400000000000000"/>
                <a:cs typeface="ฟ้อนต์ Light" panose="00000400000000000000"/>
                <a:sym typeface="ฟ้อนต์ Light" panose="00000400000000000000"/>
              </a:rPr>
              <a:t>Strategic Problem-Solving</a:t>
            </a:r>
          </a:p>
          <a:p>
            <a:pPr algn="l">
              <a:lnSpc>
                <a:spcPts val="2145"/>
              </a:lnSpc>
              <a:buFont typeface="Wingdings" pitchFamily="2" charset="2"/>
              <a:buChar char="Ø"/>
            </a:pPr>
            <a:r>
              <a:rPr lang="en-US" sz="1350" dirty="0">
                <a:solidFill>
                  <a:srgbClr val="FFFFFF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We encountered significant challenges with large, complex election datasets containing missing or inconsistent records. </a:t>
            </a:r>
            <a:endParaRPr lang="en-US" sz="1350" dirty="0" smtClean="0">
              <a:solidFill>
                <a:srgbClr val="FFFFFF"/>
              </a:solidFill>
              <a:latin typeface="Martel Sans" panose="00000500000000000000"/>
              <a:ea typeface="Martel Sans" panose="00000500000000000000"/>
              <a:cs typeface="Martel Sans" panose="00000500000000000000"/>
              <a:sym typeface="Martel Sans" panose="00000500000000000000"/>
            </a:endParaRPr>
          </a:p>
          <a:p>
            <a:pPr algn="l">
              <a:lnSpc>
                <a:spcPts val="2145"/>
              </a:lnSpc>
              <a:buFont typeface="Wingdings" pitchFamily="2" charset="2"/>
              <a:buChar char="Ø"/>
            </a:pPr>
            <a:r>
              <a:rPr lang="en-US" sz="1350" dirty="0" smtClean="0">
                <a:solidFill>
                  <a:srgbClr val="FFFFFF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Building </a:t>
            </a:r>
            <a:r>
              <a:rPr lang="en-US" sz="1350" dirty="0">
                <a:solidFill>
                  <a:srgbClr val="FFFFFF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accurate relationships and maintaining performance with massive data volumes required careful planning.</a:t>
            </a:r>
          </a:p>
          <a:p>
            <a:pPr indent="0" algn="l">
              <a:lnSpc>
                <a:spcPts val="337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rtel Sans Bold" panose="00000800000000000000"/>
                <a:ea typeface="Martel Sans Bold" panose="00000800000000000000"/>
                <a:cs typeface="Martel Sans Bold" panose="00000800000000000000"/>
                <a:sym typeface="Martel Sans Bold" panose="00000800000000000000"/>
              </a:rPr>
              <a:t>Our resolution approach:</a:t>
            </a:r>
            <a:r>
              <a:rPr lang="en-US" sz="1350" dirty="0">
                <a:solidFill>
                  <a:srgbClr val="FFFFFF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 </a:t>
            </a:r>
            <a:endParaRPr lang="en-US" sz="1350" dirty="0" smtClean="0">
              <a:solidFill>
                <a:srgbClr val="FFFFFF"/>
              </a:solidFill>
              <a:latin typeface="Martel Sans" panose="00000500000000000000"/>
              <a:ea typeface="Martel Sans" panose="00000500000000000000"/>
              <a:cs typeface="Martel Sans" panose="00000500000000000000"/>
              <a:sym typeface="Martel Sans" panose="0000050000000000000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350" dirty="0" smtClean="0">
                <a:solidFill>
                  <a:srgbClr val="FFFFFF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Systematic data cleaning and standardization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350" dirty="0" smtClean="0">
                <a:solidFill>
                  <a:srgbClr val="FFFFFF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Proper data modeling in Power BI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350" dirty="0" smtClean="0">
                <a:solidFill>
                  <a:srgbClr val="FFFFFF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Optimized visuals with efficient DAX calculations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350" dirty="0" smtClean="0">
                <a:solidFill>
                  <a:srgbClr val="FFFFFF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Ensured smooth and high-performance dashboards</a:t>
            </a:r>
            <a:endParaRPr lang="en-US" sz="1350" dirty="0">
              <a:solidFill>
                <a:srgbClr val="FFFFFF"/>
              </a:solidFill>
              <a:latin typeface="Martel Sans" panose="00000500000000000000"/>
              <a:ea typeface="Martel Sans" panose="00000500000000000000"/>
              <a:cs typeface="Martel Sans" panose="00000500000000000000"/>
              <a:sym typeface="Martel Sans" panose="0000050000000000000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14044" y="831587"/>
            <a:ext cx="10801913" cy="4963697"/>
          </a:xfrm>
          <a:custGeom>
            <a:avLst/>
            <a:gdLst/>
            <a:ahLst/>
            <a:cxnLst/>
            <a:rect l="l" t="t" r="r" b="b"/>
            <a:pathLst>
              <a:path w="10801913" h="4963697">
                <a:moveTo>
                  <a:pt x="0" y="0"/>
                </a:moveTo>
                <a:lnTo>
                  <a:pt x="10801912" y="0"/>
                </a:lnTo>
                <a:lnTo>
                  <a:pt x="10801912" y="4963697"/>
                </a:lnTo>
                <a:lnTo>
                  <a:pt x="0" y="4963697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/>
            <a:stretch>
              <a:fillRect t="-10286" b="-1212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70678" y="366206"/>
            <a:ext cx="2555081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75">
                <a:solidFill>
                  <a:srgbClr val="272D45"/>
                </a:solidFill>
                <a:latin typeface="ฟ้อนต์ Light" panose="00000400000000000000"/>
                <a:ea typeface="ฟ้อนต์ Light" panose="00000400000000000000"/>
                <a:cs typeface="ฟ้อนต์ Light" panose="00000400000000000000"/>
                <a:sym typeface="ฟ้อนต์ Light" panose="00000400000000000000"/>
              </a:rPr>
              <a:t>Key Insights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4915"/>
            <a:ext cx="11430000" cy="6429375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BF4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4915"/>
            <a:ext cx="11430000" cy="6429375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581918" y="632077"/>
            <a:ext cx="4073426" cy="528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3240">
                <a:solidFill>
                  <a:srgbClr val="272D45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Key Electoral Insights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81918" y="1454132"/>
            <a:ext cx="10266164" cy="305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0"/>
              </a:lnSpc>
            </a:pPr>
            <a:r>
              <a:rPr lang="en-US" sz="129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Our comprehensive analysis uncovers fascinating patterns across India's democratic landscape over 12 years of electoral data.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81918" y="2084770"/>
            <a:ext cx="3292078" cy="482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95"/>
              </a:lnSpc>
            </a:pPr>
            <a:r>
              <a:rPr lang="en-US" sz="4295">
                <a:solidFill>
                  <a:srgbClr val="2C3249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4K+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88768" y="2738221"/>
            <a:ext cx="2078385" cy="288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0"/>
              </a:lnSpc>
            </a:pPr>
            <a:r>
              <a:rPr lang="en-US" sz="1600">
                <a:solidFill>
                  <a:srgbClr val="2C3249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Constituencies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81918" y="3072447"/>
            <a:ext cx="3292078" cy="305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90"/>
              </a:lnSpc>
            </a:pPr>
            <a:r>
              <a:rPr lang="en-US" sz="129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Complete coverage across India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068961" y="2084770"/>
            <a:ext cx="3292078" cy="482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95"/>
              </a:lnSpc>
            </a:pPr>
            <a:r>
              <a:rPr lang="en-US" sz="4295">
                <a:solidFill>
                  <a:srgbClr val="2C3249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91K+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675811" y="2738221"/>
            <a:ext cx="2078385" cy="288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0"/>
              </a:lnSpc>
            </a:pPr>
            <a:r>
              <a:rPr lang="en-US" sz="1600">
                <a:solidFill>
                  <a:srgbClr val="2C3249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Candidates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068961" y="3072447"/>
            <a:ext cx="3292078" cy="305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90"/>
              </a:lnSpc>
            </a:pPr>
            <a:r>
              <a:rPr lang="en-US" sz="129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Participated in elections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56004" y="2084770"/>
            <a:ext cx="3292078" cy="482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95"/>
              </a:lnSpc>
            </a:pPr>
            <a:r>
              <a:rPr lang="en-US" sz="4295">
                <a:solidFill>
                  <a:srgbClr val="2C3249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1.53B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162854" y="2738221"/>
            <a:ext cx="2078385" cy="288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0"/>
              </a:lnSpc>
            </a:pPr>
            <a:r>
              <a:rPr lang="en-US" sz="1600">
                <a:solidFill>
                  <a:srgbClr val="2C3249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Total Votes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56004" y="3072447"/>
            <a:ext cx="3292078" cy="305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90"/>
              </a:lnSpc>
            </a:pPr>
            <a:r>
              <a:rPr lang="en-US" sz="129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Recorded across all elections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81918" y="3663664"/>
            <a:ext cx="3325469" cy="44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615">
                <a:solidFill>
                  <a:srgbClr val="272D45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Key Findings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81921" y="4294159"/>
            <a:ext cx="10266164" cy="1336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4310" lvl="1" indent="-97155" algn="l">
              <a:lnSpc>
                <a:spcPts val="1990"/>
              </a:lnSpc>
              <a:buFont typeface="Arial" panose="020B0604020202020204"/>
              <a:buChar char="•"/>
            </a:pPr>
            <a:r>
              <a:rPr lang="en-US" sz="129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Analysis of significant regional voting patterns and their impact on national results.</a:t>
            </a:r>
          </a:p>
          <a:p>
            <a:pPr marL="194310" lvl="1" indent="-97155" algn="l">
              <a:lnSpc>
                <a:spcPts val="1990"/>
              </a:lnSpc>
              <a:buFont typeface="Arial" panose="020B0604020202020204"/>
              <a:buChar char="•"/>
            </a:pPr>
            <a:r>
              <a:rPr lang="en-US" sz="129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Identification of key swing states and their historical electoral behavior.</a:t>
            </a:r>
          </a:p>
          <a:p>
            <a:pPr marL="194310" lvl="1" indent="-97155" algn="l">
              <a:lnSpc>
                <a:spcPts val="1990"/>
              </a:lnSpc>
              <a:buFont typeface="Arial" panose="020B0604020202020204"/>
              <a:buChar char="•"/>
            </a:pPr>
            <a:r>
              <a:rPr lang="en-US" sz="129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Trends in incumbent performance across various elections and states.</a:t>
            </a:r>
          </a:p>
          <a:p>
            <a:pPr marL="194310" lvl="1" indent="-97155" algn="l">
              <a:lnSpc>
                <a:spcPts val="1990"/>
              </a:lnSpc>
              <a:buFont typeface="Arial" panose="020B0604020202020204"/>
              <a:buChar char="•"/>
            </a:pPr>
            <a:r>
              <a:rPr lang="en-US" sz="129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Dynamics of pre-poll and post-poll coalition formations.</a:t>
            </a:r>
          </a:p>
          <a:p>
            <a:pPr marL="194310" lvl="1" indent="-97155" algn="l">
              <a:lnSpc>
                <a:spcPts val="1990"/>
              </a:lnSpc>
              <a:buFont typeface="Arial" panose="020B0604020202020204"/>
              <a:buChar char="•"/>
            </a:pPr>
            <a:r>
              <a:rPr lang="en-US" sz="129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Variations in state-wise seat distribution and their implications for political power.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0032" y="1707812"/>
            <a:ext cx="66675" cy="66675"/>
            <a:chOff x="0" y="0"/>
            <a:chExt cx="66675" cy="666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675" cy="66548"/>
            </a:xfrm>
            <a:custGeom>
              <a:avLst/>
              <a:gdLst/>
              <a:ahLst/>
              <a:cxnLst/>
              <a:rect l="l" t="t" r="r" b="b"/>
              <a:pathLst>
                <a:path w="66675" h="66548">
                  <a:moveTo>
                    <a:pt x="66675" y="33274"/>
                  </a:moveTo>
                  <a:cubicBezTo>
                    <a:pt x="66675" y="37719"/>
                    <a:pt x="65786" y="41910"/>
                    <a:pt x="64135" y="45974"/>
                  </a:cubicBezTo>
                  <a:cubicBezTo>
                    <a:pt x="62484" y="50038"/>
                    <a:pt x="60071" y="53721"/>
                    <a:pt x="56896" y="56769"/>
                  </a:cubicBezTo>
                  <a:cubicBezTo>
                    <a:pt x="53721" y="59817"/>
                    <a:pt x="50165" y="62357"/>
                    <a:pt x="46101" y="64008"/>
                  </a:cubicBezTo>
                  <a:cubicBezTo>
                    <a:pt x="42037" y="65659"/>
                    <a:pt x="37719" y="66548"/>
                    <a:pt x="33401" y="66548"/>
                  </a:cubicBezTo>
                  <a:cubicBezTo>
                    <a:pt x="29083" y="66548"/>
                    <a:pt x="24765" y="65659"/>
                    <a:pt x="20701" y="64008"/>
                  </a:cubicBezTo>
                  <a:cubicBezTo>
                    <a:pt x="16637" y="62357"/>
                    <a:pt x="12954" y="59944"/>
                    <a:pt x="9906" y="56769"/>
                  </a:cubicBezTo>
                  <a:cubicBezTo>
                    <a:pt x="6858" y="53594"/>
                    <a:pt x="4191" y="50165"/>
                    <a:pt x="2540" y="46101"/>
                  </a:cubicBezTo>
                  <a:cubicBezTo>
                    <a:pt x="889" y="42037"/>
                    <a:pt x="0" y="37719"/>
                    <a:pt x="0" y="33401"/>
                  </a:cubicBezTo>
                  <a:cubicBezTo>
                    <a:pt x="0" y="29083"/>
                    <a:pt x="889" y="24765"/>
                    <a:pt x="2540" y="20701"/>
                  </a:cubicBezTo>
                  <a:cubicBezTo>
                    <a:pt x="4191" y="16637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2C324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820032" y="2041187"/>
            <a:ext cx="66675" cy="66675"/>
            <a:chOff x="0" y="0"/>
            <a:chExt cx="66675" cy="666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6675" cy="66548"/>
            </a:xfrm>
            <a:custGeom>
              <a:avLst/>
              <a:gdLst/>
              <a:ahLst/>
              <a:cxnLst/>
              <a:rect l="l" t="t" r="r" b="b"/>
              <a:pathLst>
                <a:path w="66675" h="66548">
                  <a:moveTo>
                    <a:pt x="66675" y="33274"/>
                  </a:moveTo>
                  <a:cubicBezTo>
                    <a:pt x="66675" y="37719"/>
                    <a:pt x="65786" y="41910"/>
                    <a:pt x="64135" y="45974"/>
                  </a:cubicBezTo>
                  <a:cubicBezTo>
                    <a:pt x="62484" y="50038"/>
                    <a:pt x="60071" y="53721"/>
                    <a:pt x="56896" y="56769"/>
                  </a:cubicBezTo>
                  <a:cubicBezTo>
                    <a:pt x="53721" y="59817"/>
                    <a:pt x="50165" y="62357"/>
                    <a:pt x="46101" y="64008"/>
                  </a:cubicBezTo>
                  <a:cubicBezTo>
                    <a:pt x="42037" y="65659"/>
                    <a:pt x="37719" y="66548"/>
                    <a:pt x="33401" y="66548"/>
                  </a:cubicBezTo>
                  <a:cubicBezTo>
                    <a:pt x="29083" y="66548"/>
                    <a:pt x="24765" y="65659"/>
                    <a:pt x="20701" y="64008"/>
                  </a:cubicBezTo>
                  <a:cubicBezTo>
                    <a:pt x="16637" y="62357"/>
                    <a:pt x="12954" y="59944"/>
                    <a:pt x="9906" y="56769"/>
                  </a:cubicBezTo>
                  <a:cubicBezTo>
                    <a:pt x="6858" y="53594"/>
                    <a:pt x="4191" y="50165"/>
                    <a:pt x="2540" y="46101"/>
                  </a:cubicBezTo>
                  <a:cubicBezTo>
                    <a:pt x="889" y="42037"/>
                    <a:pt x="0" y="37719"/>
                    <a:pt x="0" y="33401"/>
                  </a:cubicBezTo>
                  <a:cubicBezTo>
                    <a:pt x="0" y="29083"/>
                    <a:pt x="889" y="24765"/>
                    <a:pt x="2540" y="20701"/>
                  </a:cubicBezTo>
                  <a:cubicBezTo>
                    <a:pt x="4191" y="16637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2C3249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20032" y="2374562"/>
            <a:ext cx="66675" cy="66675"/>
            <a:chOff x="0" y="0"/>
            <a:chExt cx="66675" cy="666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6675" cy="66548"/>
            </a:xfrm>
            <a:custGeom>
              <a:avLst/>
              <a:gdLst/>
              <a:ahLst/>
              <a:cxnLst/>
              <a:rect l="l" t="t" r="r" b="b"/>
              <a:pathLst>
                <a:path w="66675" h="66548">
                  <a:moveTo>
                    <a:pt x="66675" y="33274"/>
                  </a:moveTo>
                  <a:cubicBezTo>
                    <a:pt x="66675" y="37719"/>
                    <a:pt x="65786" y="41910"/>
                    <a:pt x="64135" y="45974"/>
                  </a:cubicBezTo>
                  <a:cubicBezTo>
                    <a:pt x="62484" y="50038"/>
                    <a:pt x="60071" y="53721"/>
                    <a:pt x="56896" y="56769"/>
                  </a:cubicBezTo>
                  <a:cubicBezTo>
                    <a:pt x="53721" y="59817"/>
                    <a:pt x="50165" y="62357"/>
                    <a:pt x="46101" y="64008"/>
                  </a:cubicBezTo>
                  <a:cubicBezTo>
                    <a:pt x="42037" y="65659"/>
                    <a:pt x="37719" y="66548"/>
                    <a:pt x="33401" y="66548"/>
                  </a:cubicBezTo>
                  <a:cubicBezTo>
                    <a:pt x="29083" y="66548"/>
                    <a:pt x="24765" y="65659"/>
                    <a:pt x="20701" y="64008"/>
                  </a:cubicBezTo>
                  <a:cubicBezTo>
                    <a:pt x="16637" y="62357"/>
                    <a:pt x="12954" y="59944"/>
                    <a:pt x="9906" y="56769"/>
                  </a:cubicBezTo>
                  <a:cubicBezTo>
                    <a:pt x="6858" y="53594"/>
                    <a:pt x="4191" y="50165"/>
                    <a:pt x="2540" y="46101"/>
                  </a:cubicBezTo>
                  <a:cubicBezTo>
                    <a:pt x="889" y="42037"/>
                    <a:pt x="0" y="37719"/>
                    <a:pt x="0" y="33401"/>
                  </a:cubicBezTo>
                  <a:cubicBezTo>
                    <a:pt x="0" y="29083"/>
                    <a:pt x="889" y="24765"/>
                    <a:pt x="2540" y="20701"/>
                  </a:cubicBezTo>
                  <a:cubicBezTo>
                    <a:pt x="4191" y="16637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2C3249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820032" y="2707937"/>
            <a:ext cx="66675" cy="66675"/>
            <a:chOff x="0" y="0"/>
            <a:chExt cx="66675" cy="6667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6675" cy="66548"/>
            </a:xfrm>
            <a:custGeom>
              <a:avLst/>
              <a:gdLst/>
              <a:ahLst/>
              <a:cxnLst/>
              <a:rect l="l" t="t" r="r" b="b"/>
              <a:pathLst>
                <a:path w="66675" h="66548">
                  <a:moveTo>
                    <a:pt x="66675" y="33274"/>
                  </a:moveTo>
                  <a:cubicBezTo>
                    <a:pt x="66675" y="37719"/>
                    <a:pt x="65786" y="41910"/>
                    <a:pt x="64135" y="45974"/>
                  </a:cubicBezTo>
                  <a:cubicBezTo>
                    <a:pt x="62484" y="50038"/>
                    <a:pt x="60071" y="53721"/>
                    <a:pt x="56896" y="56769"/>
                  </a:cubicBezTo>
                  <a:cubicBezTo>
                    <a:pt x="53721" y="59817"/>
                    <a:pt x="50165" y="62357"/>
                    <a:pt x="46101" y="64008"/>
                  </a:cubicBezTo>
                  <a:cubicBezTo>
                    <a:pt x="42037" y="65659"/>
                    <a:pt x="37719" y="66548"/>
                    <a:pt x="33401" y="66548"/>
                  </a:cubicBezTo>
                  <a:cubicBezTo>
                    <a:pt x="29083" y="66548"/>
                    <a:pt x="24765" y="65659"/>
                    <a:pt x="20701" y="64008"/>
                  </a:cubicBezTo>
                  <a:cubicBezTo>
                    <a:pt x="16637" y="62357"/>
                    <a:pt x="12954" y="59944"/>
                    <a:pt x="9906" y="56769"/>
                  </a:cubicBezTo>
                  <a:cubicBezTo>
                    <a:pt x="6858" y="53594"/>
                    <a:pt x="4191" y="50165"/>
                    <a:pt x="2540" y="46101"/>
                  </a:cubicBezTo>
                  <a:cubicBezTo>
                    <a:pt x="889" y="42037"/>
                    <a:pt x="0" y="37719"/>
                    <a:pt x="0" y="33401"/>
                  </a:cubicBezTo>
                  <a:cubicBezTo>
                    <a:pt x="0" y="29083"/>
                    <a:pt x="889" y="24765"/>
                    <a:pt x="2540" y="20701"/>
                  </a:cubicBezTo>
                  <a:cubicBezTo>
                    <a:pt x="4191" y="16637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2C3249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820032" y="3041312"/>
            <a:ext cx="66675" cy="66675"/>
            <a:chOff x="0" y="0"/>
            <a:chExt cx="66675" cy="666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6675" cy="66548"/>
            </a:xfrm>
            <a:custGeom>
              <a:avLst/>
              <a:gdLst/>
              <a:ahLst/>
              <a:cxnLst/>
              <a:rect l="l" t="t" r="r" b="b"/>
              <a:pathLst>
                <a:path w="66675" h="66548">
                  <a:moveTo>
                    <a:pt x="66675" y="33274"/>
                  </a:moveTo>
                  <a:cubicBezTo>
                    <a:pt x="66675" y="37719"/>
                    <a:pt x="65786" y="41910"/>
                    <a:pt x="64135" y="45974"/>
                  </a:cubicBezTo>
                  <a:cubicBezTo>
                    <a:pt x="62484" y="50038"/>
                    <a:pt x="60071" y="53721"/>
                    <a:pt x="56896" y="56769"/>
                  </a:cubicBezTo>
                  <a:cubicBezTo>
                    <a:pt x="53721" y="59817"/>
                    <a:pt x="50165" y="62357"/>
                    <a:pt x="46101" y="64008"/>
                  </a:cubicBezTo>
                  <a:cubicBezTo>
                    <a:pt x="42037" y="65659"/>
                    <a:pt x="37719" y="66548"/>
                    <a:pt x="33401" y="66548"/>
                  </a:cubicBezTo>
                  <a:cubicBezTo>
                    <a:pt x="29083" y="66548"/>
                    <a:pt x="24765" y="65659"/>
                    <a:pt x="20701" y="64008"/>
                  </a:cubicBezTo>
                  <a:cubicBezTo>
                    <a:pt x="16637" y="62357"/>
                    <a:pt x="12954" y="59944"/>
                    <a:pt x="9906" y="56769"/>
                  </a:cubicBezTo>
                  <a:cubicBezTo>
                    <a:pt x="6858" y="53594"/>
                    <a:pt x="4191" y="50165"/>
                    <a:pt x="2540" y="46101"/>
                  </a:cubicBezTo>
                  <a:cubicBezTo>
                    <a:pt x="889" y="42037"/>
                    <a:pt x="0" y="37719"/>
                    <a:pt x="0" y="33401"/>
                  </a:cubicBezTo>
                  <a:cubicBezTo>
                    <a:pt x="0" y="29083"/>
                    <a:pt x="889" y="24765"/>
                    <a:pt x="2540" y="20701"/>
                  </a:cubicBezTo>
                  <a:cubicBezTo>
                    <a:pt x="4191" y="16637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2C3249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417700" y="436441"/>
            <a:ext cx="8814902" cy="922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75">
                <a:solidFill>
                  <a:srgbClr val="272D45"/>
                </a:solidFill>
                <a:latin typeface="ฟ้อนต์" panose="00000500000000000000"/>
                <a:ea typeface="ฟ้อนต์" panose="00000500000000000000"/>
                <a:cs typeface="ฟ้อนต์" panose="00000500000000000000"/>
                <a:sym typeface="ฟ้อนต์" panose="00000500000000000000"/>
              </a:rPr>
              <a:t>Future Enhancement</a:t>
            </a:r>
            <a:r>
              <a:rPr lang="en-US" sz="3375">
                <a:solidFill>
                  <a:srgbClr val="272D45"/>
                </a:solidFill>
                <a:latin typeface="ฟ้อนต์ Light" panose="00000400000000000000"/>
                <a:ea typeface="ฟ้อนต์ Light" panose="00000400000000000000"/>
                <a:cs typeface="ฟ้อนต์ Light" panose="00000400000000000000"/>
                <a:sym typeface="ฟ้อนต์ Light" panose="00000400000000000000"/>
              </a:rPr>
              <a:t> </a:t>
            </a:r>
          </a:p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Expanding capabilities to deliver even more powerful analytical tools for election insights and predictions.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51195" y="1529112"/>
            <a:ext cx="5428917" cy="1727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Integration of real-time election data</a:t>
            </a:r>
          </a:p>
          <a:p>
            <a:pPr algn="l">
              <a:lnSpc>
                <a:spcPts val="1875"/>
              </a:lnSpc>
            </a:pPr>
            <a:r>
              <a:rPr lang="en-US" sz="135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Addition of predictive analysis using machine learning</a:t>
            </a:r>
          </a:p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Inclusion of more candidate attributes like education and income</a:t>
            </a:r>
          </a:p>
          <a:p>
            <a:pPr algn="l">
              <a:lnSpc>
                <a:spcPts val="1875"/>
              </a:lnSpc>
            </a:pPr>
            <a:r>
              <a:rPr lang="en-US" sz="135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Drill-down analysis at constituency level</a:t>
            </a:r>
          </a:p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Deployment through Power BI Service for wider access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17700" y="3466573"/>
            <a:ext cx="8814902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75">
                <a:solidFill>
                  <a:srgbClr val="272D45"/>
                </a:solidFill>
                <a:latin typeface="ฟ้อนต์" panose="00000500000000000000"/>
                <a:ea typeface="ฟ้อนต์" panose="00000500000000000000"/>
                <a:cs typeface="ฟ้อนต์" panose="00000500000000000000"/>
                <a:sym typeface="ฟ้อนต์" panose="00000500000000000000"/>
              </a:rPr>
              <a:t>Conclusion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3920" y="4022645"/>
            <a:ext cx="9871680" cy="26161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75"/>
              </a:lnSpc>
              <a:buFont typeface="Wingdings" pitchFamily="2" charset="2"/>
              <a:buChar char="Ø"/>
            </a:pPr>
            <a:r>
              <a:rPr lang="en-US" sz="1350" dirty="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The system successfully analyzes election data and presents meaningful insights through interactive dashboards. It enables better decision-making by identifying key trends, patterns, and performance indicators. </a:t>
            </a:r>
            <a:endParaRPr lang="en-US" sz="1350" dirty="0" smtClean="0">
              <a:solidFill>
                <a:srgbClr val="2C3249"/>
              </a:solidFill>
              <a:latin typeface="Martel Sans" panose="00000500000000000000"/>
              <a:ea typeface="Martel Sans" panose="00000500000000000000"/>
              <a:cs typeface="Martel Sans" panose="00000500000000000000"/>
              <a:sym typeface="Martel Sans" panose="00000500000000000000"/>
            </a:endParaRPr>
          </a:p>
          <a:p>
            <a:pPr algn="l">
              <a:lnSpc>
                <a:spcPts val="3375"/>
              </a:lnSpc>
              <a:buFont typeface="Wingdings" pitchFamily="2" charset="2"/>
              <a:buChar char="Ø"/>
            </a:pPr>
            <a:r>
              <a:rPr lang="en-US" sz="1350" dirty="0" smtClean="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The </a:t>
            </a:r>
            <a:r>
              <a:rPr lang="en-US" sz="1350" dirty="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project demonstrates how data visualization tools like Power BI can transform complex electoral data into clear, actionable insights for media and analysts. </a:t>
            </a:r>
            <a:endParaRPr lang="en-US" sz="1350" dirty="0" smtClean="0">
              <a:solidFill>
                <a:srgbClr val="2C3249"/>
              </a:solidFill>
              <a:latin typeface="Martel Sans" panose="00000500000000000000"/>
              <a:ea typeface="Martel Sans" panose="00000500000000000000"/>
              <a:cs typeface="Martel Sans" panose="00000500000000000000"/>
              <a:sym typeface="Martel Sans" panose="00000500000000000000"/>
            </a:endParaRPr>
          </a:p>
          <a:p>
            <a:pPr algn="l">
              <a:lnSpc>
                <a:spcPts val="3375"/>
              </a:lnSpc>
              <a:buFont typeface="Wingdings" pitchFamily="2" charset="2"/>
              <a:buChar char="Ø"/>
            </a:pPr>
            <a:r>
              <a:rPr lang="en-US" sz="1350" dirty="0" smtClean="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Overall</a:t>
            </a:r>
            <a:r>
              <a:rPr lang="en-US" sz="1350" dirty="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, the solution is efficient, scalable, and can be further enhanced with real-time data and predictive analytics.</a:t>
            </a:r>
          </a:p>
          <a:p>
            <a:pPr algn="l">
              <a:lnSpc>
                <a:spcPts val="3375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9600" y="2447925"/>
            <a:ext cx="66675" cy="66675"/>
            <a:chOff x="0" y="0"/>
            <a:chExt cx="66675" cy="666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675" cy="66548"/>
            </a:xfrm>
            <a:custGeom>
              <a:avLst/>
              <a:gdLst/>
              <a:ahLst/>
              <a:cxnLst/>
              <a:rect l="l" t="t" r="r" b="b"/>
              <a:pathLst>
                <a:path w="66675" h="66548">
                  <a:moveTo>
                    <a:pt x="66675" y="33274"/>
                  </a:moveTo>
                  <a:cubicBezTo>
                    <a:pt x="66675" y="37719"/>
                    <a:pt x="65786" y="41910"/>
                    <a:pt x="64135" y="45974"/>
                  </a:cubicBezTo>
                  <a:cubicBezTo>
                    <a:pt x="62484" y="50038"/>
                    <a:pt x="60071" y="53721"/>
                    <a:pt x="56896" y="56769"/>
                  </a:cubicBezTo>
                  <a:cubicBezTo>
                    <a:pt x="53721" y="59817"/>
                    <a:pt x="50165" y="62357"/>
                    <a:pt x="46101" y="64008"/>
                  </a:cubicBezTo>
                  <a:cubicBezTo>
                    <a:pt x="42037" y="65659"/>
                    <a:pt x="37719" y="66548"/>
                    <a:pt x="33401" y="66548"/>
                  </a:cubicBezTo>
                  <a:cubicBezTo>
                    <a:pt x="29083" y="66548"/>
                    <a:pt x="24765" y="65659"/>
                    <a:pt x="20701" y="64008"/>
                  </a:cubicBezTo>
                  <a:cubicBezTo>
                    <a:pt x="16637" y="62357"/>
                    <a:pt x="12954" y="59944"/>
                    <a:pt x="9906" y="56769"/>
                  </a:cubicBezTo>
                  <a:cubicBezTo>
                    <a:pt x="6858" y="53594"/>
                    <a:pt x="4191" y="50165"/>
                    <a:pt x="2540" y="46101"/>
                  </a:cubicBezTo>
                  <a:cubicBezTo>
                    <a:pt x="889" y="42037"/>
                    <a:pt x="0" y="37719"/>
                    <a:pt x="0" y="33401"/>
                  </a:cubicBezTo>
                  <a:cubicBezTo>
                    <a:pt x="0" y="29083"/>
                    <a:pt x="889" y="24765"/>
                    <a:pt x="2540" y="20701"/>
                  </a:cubicBezTo>
                  <a:cubicBezTo>
                    <a:pt x="4191" y="16637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2C324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609600" y="2790825"/>
            <a:ext cx="66675" cy="66675"/>
            <a:chOff x="0" y="0"/>
            <a:chExt cx="66675" cy="666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6675" cy="66548"/>
            </a:xfrm>
            <a:custGeom>
              <a:avLst/>
              <a:gdLst/>
              <a:ahLst/>
              <a:cxnLst/>
              <a:rect l="l" t="t" r="r" b="b"/>
              <a:pathLst>
                <a:path w="66675" h="66548">
                  <a:moveTo>
                    <a:pt x="66675" y="33274"/>
                  </a:moveTo>
                  <a:cubicBezTo>
                    <a:pt x="66675" y="37719"/>
                    <a:pt x="65786" y="41910"/>
                    <a:pt x="64135" y="45974"/>
                  </a:cubicBezTo>
                  <a:cubicBezTo>
                    <a:pt x="62484" y="50038"/>
                    <a:pt x="60071" y="53721"/>
                    <a:pt x="56896" y="56769"/>
                  </a:cubicBezTo>
                  <a:cubicBezTo>
                    <a:pt x="53721" y="59817"/>
                    <a:pt x="50165" y="62357"/>
                    <a:pt x="46101" y="64008"/>
                  </a:cubicBezTo>
                  <a:cubicBezTo>
                    <a:pt x="42037" y="65659"/>
                    <a:pt x="37719" y="66548"/>
                    <a:pt x="33401" y="66548"/>
                  </a:cubicBezTo>
                  <a:cubicBezTo>
                    <a:pt x="29083" y="66548"/>
                    <a:pt x="24765" y="65659"/>
                    <a:pt x="20701" y="64008"/>
                  </a:cubicBezTo>
                  <a:cubicBezTo>
                    <a:pt x="16637" y="62357"/>
                    <a:pt x="12954" y="59944"/>
                    <a:pt x="9906" y="56769"/>
                  </a:cubicBezTo>
                  <a:cubicBezTo>
                    <a:pt x="6858" y="53594"/>
                    <a:pt x="4191" y="50165"/>
                    <a:pt x="2540" y="46101"/>
                  </a:cubicBezTo>
                  <a:cubicBezTo>
                    <a:pt x="889" y="42037"/>
                    <a:pt x="0" y="37719"/>
                    <a:pt x="0" y="33401"/>
                  </a:cubicBezTo>
                  <a:cubicBezTo>
                    <a:pt x="0" y="29083"/>
                    <a:pt x="889" y="24765"/>
                    <a:pt x="2540" y="20701"/>
                  </a:cubicBezTo>
                  <a:cubicBezTo>
                    <a:pt x="4191" y="16637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2C3249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609600" y="3124200"/>
            <a:ext cx="66675" cy="66675"/>
            <a:chOff x="0" y="0"/>
            <a:chExt cx="66675" cy="666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6675" cy="66548"/>
            </a:xfrm>
            <a:custGeom>
              <a:avLst/>
              <a:gdLst/>
              <a:ahLst/>
              <a:cxnLst/>
              <a:rect l="l" t="t" r="r" b="b"/>
              <a:pathLst>
                <a:path w="66675" h="66548">
                  <a:moveTo>
                    <a:pt x="66675" y="33274"/>
                  </a:moveTo>
                  <a:cubicBezTo>
                    <a:pt x="66675" y="37719"/>
                    <a:pt x="65786" y="41910"/>
                    <a:pt x="64135" y="45974"/>
                  </a:cubicBezTo>
                  <a:cubicBezTo>
                    <a:pt x="62484" y="50038"/>
                    <a:pt x="60071" y="53721"/>
                    <a:pt x="56896" y="56769"/>
                  </a:cubicBezTo>
                  <a:cubicBezTo>
                    <a:pt x="53721" y="59817"/>
                    <a:pt x="50165" y="62357"/>
                    <a:pt x="46101" y="64008"/>
                  </a:cubicBezTo>
                  <a:cubicBezTo>
                    <a:pt x="42037" y="65659"/>
                    <a:pt x="37719" y="66548"/>
                    <a:pt x="33401" y="66548"/>
                  </a:cubicBezTo>
                  <a:cubicBezTo>
                    <a:pt x="29083" y="66548"/>
                    <a:pt x="24765" y="65659"/>
                    <a:pt x="20701" y="64008"/>
                  </a:cubicBezTo>
                  <a:cubicBezTo>
                    <a:pt x="16637" y="62357"/>
                    <a:pt x="12954" y="59944"/>
                    <a:pt x="9906" y="56769"/>
                  </a:cubicBezTo>
                  <a:cubicBezTo>
                    <a:pt x="6858" y="53594"/>
                    <a:pt x="4191" y="50165"/>
                    <a:pt x="2540" y="46101"/>
                  </a:cubicBezTo>
                  <a:cubicBezTo>
                    <a:pt x="889" y="42037"/>
                    <a:pt x="0" y="37719"/>
                    <a:pt x="0" y="33401"/>
                  </a:cubicBezTo>
                  <a:cubicBezTo>
                    <a:pt x="0" y="29083"/>
                    <a:pt x="889" y="24765"/>
                    <a:pt x="2540" y="20701"/>
                  </a:cubicBezTo>
                  <a:cubicBezTo>
                    <a:pt x="4191" y="16637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2C3249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609600" y="4524375"/>
            <a:ext cx="66675" cy="66675"/>
            <a:chOff x="0" y="0"/>
            <a:chExt cx="66675" cy="6667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6675" cy="66548"/>
            </a:xfrm>
            <a:custGeom>
              <a:avLst/>
              <a:gdLst/>
              <a:ahLst/>
              <a:cxnLst/>
              <a:rect l="l" t="t" r="r" b="b"/>
              <a:pathLst>
                <a:path w="66675" h="66548">
                  <a:moveTo>
                    <a:pt x="66675" y="33274"/>
                  </a:moveTo>
                  <a:cubicBezTo>
                    <a:pt x="66675" y="37719"/>
                    <a:pt x="65786" y="41910"/>
                    <a:pt x="64135" y="45974"/>
                  </a:cubicBezTo>
                  <a:cubicBezTo>
                    <a:pt x="62484" y="50038"/>
                    <a:pt x="60071" y="53721"/>
                    <a:pt x="56896" y="56769"/>
                  </a:cubicBezTo>
                  <a:cubicBezTo>
                    <a:pt x="53721" y="59817"/>
                    <a:pt x="50165" y="62357"/>
                    <a:pt x="46101" y="64008"/>
                  </a:cubicBezTo>
                  <a:cubicBezTo>
                    <a:pt x="42037" y="65659"/>
                    <a:pt x="37719" y="66548"/>
                    <a:pt x="33401" y="66548"/>
                  </a:cubicBezTo>
                  <a:cubicBezTo>
                    <a:pt x="29083" y="66548"/>
                    <a:pt x="24765" y="65659"/>
                    <a:pt x="20701" y="64008"/>
                  </a:cubicBezTo>
                  <a:cubicBezTo>
                    <a:pt x="16637" y="62357"/>
                    <a:pt x="12954" y="59944"/>
                    <a:pt x="9906" y="56769"/>
                  </a:cubicBezTo>
                  <a:cubicBezTo>
                    <a:pt x="6858" y="53594"/>
                    <a:pt x="4191" y="50165"/>
                    <a:pt x="2540" y="46101"/>
                  </a:cubicBezTo>
                  <a:cubicBezTo>
                    <a:pt x="889" y="42037"/>
                    <a:pt x="0" y="37719"/>
                    <a:pt x="0" y="33401"/>
                  </a:cubicBezTo>
                  <a:cubicBezTo>
                    <a:pt x="0" y="29083"/>
                    <a:pt x="889" y="24765"/>
                    <a:pt x="2540" y="20701"/>
                  </a:cubicBezTo>
                  <a:cubicBezTo>
                    <a:pt x="4191" y="16637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2C3249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609600" y="4857750"/>
            <a:ext cx="66675" cy="66675"/>
            <a:chOff x="0" y="0"/>
            <a:chExt cx="66675" cy="666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6675" cy="66548"/>
            </a:xfrm>
            <a:custGeom>
              <a:avLst/>
              <a:gdLst/>
              <a:ahLst/>
              <a:cxnLst/>
              <a:rect l="l" t="t" r="r" b="b"/>
              <a:pathLst>
                <a:path w="66675" h="66548">
                  <a:moveTo>
                    <a:pt x="66675" y="33274"/>
                  </a:moveTo>
                  <a:cubicBezTo>
                    <a:pt x="66675" y="37719"/>
                    <a:pt x="65786" y="41910"/>
                    <a:pt x="64135" y="45974"/>
                  </a:cubicBezTo>
                  <a:cubicBezTo>
                    <a:pt x="62484" y="50038"/>
                    <a:pt x="60071" y="53721"/>
                    <a:pt x="56896" y="56769"/>
                  </a:cubicBezTo>
                  <a:cubicBezTo>
                    <a:pt x="53721" y="59817"/>
                    <a:pt x="50165" y="62357"/>
                    <a:pt x="46101" y="64008"/>
                  </a:cubicBezTo>
                  <a:cubicBezTo>
                    <a:pt x="42037" y="65659"/>
                    <a:pt x="37719" y="66548"/>
                    <a:pt x="33401" y="66548"/>
                  </a:cubicBezTo>
                  <a:cubicBezTo>
                    <a:pt x="29083" y="66548"/>
                    <a:pt x="24765" y="65659"/>
                    <a:pt x="20701" y="64008"/>
                  </a:cubicBezTo>
                  <a:cubicBezTo>
                    <a:pt x="16637" y="62357"/>
                    <a:pt x="12954" y="59944"/>
                    <a:pt x="9906" y="56769"/>
                  </a:cubicBezTo>
                  <a:cubicBezTo>
                    <a:pt x="6858" y="53594"/>
                    <a:pt x="4191" y="50165"/>
                    <a:pt x="2540" y="46101"/>
                  </a:cubicBezTo>
                  <a:cubicBezTo>
                    <a:pt x="889" y="42037"/>
                    <a:pt x="0" y="37719"/>
                    <a:pt x="0" y="33401"/>
                  </a:cubicBezTo>
                  <a:cubicBezTo>
                    <a:pt x="0" y="29083"/>
                    <a:pt x="889" y="24765"/>
                    <a:pt x="2540" y="20701"/>
                  </a:cubicBezTo>
                  <a:cubicBezTo>
                    <a:pt x="4191" y="16637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2C3249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609600" y="5191125"/>
            <a:ext cx="66675" cy="66675"/>
            <a:chOff x="0" y="0"/>
            <a:chExt cx="66675" cy="6667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6675" cy="66548"/>
            </a:xfrm>
            <a:custGeom>
              <a:avLst/>
              <a:gdLst/>
              <a:ahLst/>
              <a:cxnLst/>
              <a:rect l="l" t="t" r="r" b="b"/>
              <a:pathLst>
                <a:path w="66675" h="66548">
                  <a:moveTo>
                    <a:pt x="66675" y="33274"/>
                  </a:moveTo>
                  <a:cubicBezTo>
                    <a:pt x="66675" y="37719"/>
                    <a:pt x="65786" y="41910"/>
                    <a:pt x="64135" y="45974"/>
                  </a:cubicBezTo>
                  <a:cubicBezTo>
                    <a:pt x="62484" y="50038"/>
                    <a:pt x="60071" y="53721"/>
                    <a:pt x="56896" y="56769"/>
                  </a:cubicBezTo>
                  <a:cubicBezTo>
                    <a:pt x="53721" y="59817"/>
                    <a:pt x="50165" y="62357"/>
                    <a:pt x="46101" y="64008"/>
                  </a:cubicBezTo>
                  <a:cubicBezTo>
                    <a:pt x="42037" y="65659"/>
                    <a:pt x="37719" y="66548"/>
                    <a:pt x="33401" y="66548"/>
                  </a:cubicBezTo>
                  <a:cubicBezTo>
                    <a:pt x="29083" y="66548"/>
                    <a:pt x="24765" y="65659"/>
                    <a:pt x="20701" y="64008"/>
                  </a:cubicBezTo>
                  <a:cubicBezTo>
                    <a:pt x="16637" y="62357"/>
                    <a:pt x="12954" y="59944"/>
                    <a:pt x="9906" y="56769"/>
                  </a:cubicBezTo>
                  <a:cubicBezTo>
                    <a:pt x="6858" y="53594"/>
                    <a:pt x="4191" y="50165"/>
                    <a:pt x="2540" y="46101"/>
                  </a:cubicBezTo>
                  <a:cubicBezTo>
                    <a:pt x="889" y="42037"/>
                    <a:pt x="0" y="37719"/>
                    <a:pt x="0" y="33401"/>
                  </a:cubicBezTo>
                  <a:cubicBezTo>
                    <a:pt x="0" y="29083"/>
                    <a:pt x="889" y="24765"/>
                    <a:pt x="2540" y="20701"/>
                  </a:cubicBezTo>
                  <a:cubicBezTo>
                    <a:pt x="4191" y="16637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2C3249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499956" y="645966"/>
            <a:ext cx="9238975" cy="922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75">
                <a:solidFill>
                  <a:srgbClr val="272D45"/>
                </a:solidFill>
                <a:latin typeface="ฟ้อนต์ Light" panose="00000400000000000000"/>
                <a:ea typeface="ฟ้อนต์ Light" panose="00000400000000000000"/>
                <a:cs typeface="ฟ้อนต์ Light" panose="00000400000000000000"/>
                <a:sym typeface="ฟ้อนต์ Light" panose="00000400000000000000"/>
              </a:rPr>
              <a:t>Acknowledgements and References</a:t>
            </a:r>
          </a:p>
          <a:p>
            <a:pPr algn="l">
              <a:lnSpc>
                <a:spcPts val="3375"/>
              </a:lnSpc>
            </a:pPr>
            <a:endParaRPr/>
          </a:p>
        </p:txBody>
      </p:sp>
      <p:sp>
        <p:nvSpPr>
          <p:cNvPr id="15" name="TextBox 15"/>
          <p:cNvSpPr txBox="1"/>
          <p:nvPr/>
        </p:nvSpPr>
        <p:spPr>
          <a:xfrm>
            <a:off x="874214" y="2207152"/>
            <a:ext cx="6548476" cy="1070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Infosys Springboard Team – for organizing this valuable internship opportunity</a:t>
            </a:r>
          </a:p>
          <a:p>
            <a:pPr algn="l">
              <a:lnSpc>
                <a:spcPts val="2025"/>
              </a:lnSpc>
            </a:pPr>
            <a:r>
              <a:rPr lang="en-US" sz="135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Our Mentor – for her continuous support and feedback</a:t>
            </a:r>
          </a:p>
          <a:p>
            <a:pPr algn="l">
              <a:lnSpc>
                <a:spcPts val="3335"/>
              </a:lnSpc>
            </a:pPr>
            <a:r>
              <a:rPr lang="en-US" sz="135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My Teammates – for collaboration, encouragement, and insights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00075" y="3350152"/>
            <a:ext cx="7625029" cy="861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5"/>
              </a:lnSpc>
            </a:pPr>
            <a:r>
              <a:rPr lang="en-US" sz="135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This internship has been a significant step in our professional growth and technical journey. References: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74214" y="4283602"/>
            <a:ext cx="5269420" cy="1061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5"/>
              </a:lnSpc>
            </a:pPr>
            <a:r>
              <a:rPr lang="en-US" sz="1350" dirty="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Election Dataset </a:t>
            </a:r>
            <a:r>
              <a:rPr lang="en-US" sz="1350" dirty="0" smtClean="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(</a:t>
            </a:r>
            <a:r>
              <a:rPr lang="en-US" sz="1350" dirty="0" err="1" smtClean="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Kaggle</a:t>
            </a:r>
            <a:r>
              <a:rPr lang="en-US" sz="1350" dirty="0" smtClean="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 </a:t>
            </a:r>
            <a:r>
              <a:rPr lang="en-US" sz="1350" dirty="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source)</a:t>
            </a:r>
          </a:p>
          <a:p>
            <a:pPr algn="l">
              <a:lnSpc>
                <a:spcPts val="1875"/>
              </a:lnSpc>
            </a:pPr>
            <a:r>
              <a:rPr lang="en-US" sz="1350" dirty="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Microsoft Power BI Documentation</a:t>
            </a:r>
          </a:p>
          <a:p>
            <a:pPr algn="l">
              <a:lnSpc>
                <a:spcPts val="3375"/>
              </a:lnSpc>
            </a:pPr>
            <a:r>
              <a:rPr lang="en-US" sz="1350" dirty="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Infosys Springboard Virtual Internship course materials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99956" y="1682286"/>
            <a:ext cx="7625029" cy="36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5"/>
              </a:lnSpc>
            </a:pPr>
            <a:r>
              <a:rPr lang="en-US" sz="135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We would like to express our heartfelt gratitude to: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156382" y="1931761"/>
            <a:ext cx="3117236" cy="2575682"/>
          </a:xfrm>
          <a:custGeom>
            <a:avLst/>
            <a:gdLst/>
            <a:ahLst/>
            <a:cxnLst/>
            <a:rect l="l" t="t" r="r" b="b"/>
            <a:pathLst>
              <a:path w="3117236" h="2575682">
                <a:moveTo>
                  <a:pt x="0" y="0"/>
                </a:moveTo>
                <a:lnTo>
                  <a:pt x="3117236" y="0"/>
                </a:lnTo>
                <a:lnTo>
                  <a:pt x="3117236" y="2575682"/>
                </a:lnTo>
                <a:lnTo>
                  <a:pt x="0" y="257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602</Words>
  <Application>Microsoft Office PowerPoint</Application>
  <PresentationFormat>Custom</PresentationFormat>
  <Paragraphs>93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Arial</vt:lpstr>
      <vt:lpstr>ฟ้อนต์ Light</vt:lpstr>
      <vt:lpstr>Martel Sans</vt:lpstr>
      <vt:lpstr>Martel Sans Bold</vt:lpstr>
      <vt:lpstr>ฟ้อนต์ Bold</vt:lpstr>
      <vt:lpstr>Calibri</vt:lpstr>
      <vt:lpstr>Wingdings</vt:lpstr>
      <vt:lpstr>Arimo</vt:lpstr>
      <vt:lpstr>ฟ้อนต์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InfosysElectViz-Election-Data-Visualization-for-Media.pdf</dc:title>
  <dc:creator/>
  <cp:lastModifiedBy>Admin</cp:lastModifiedBy>
  <cp:revision>11</cp:revision>
  <dcterms:created xsi:type="dcterms:W3CDTF">2006-08-16T00:00:00Z</dcterms:created>
  <dcterms:modified xsi:type="dcterms:W3CDTF">2026-02-09T09:09:56Z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489FD758BAB74D5D8B8E44DC2F150073_13</vt:lpwstr>
  </property>
  <property fmtid="{D5CDD505-2E9C-101B-9397-08002B2CF9AE}" pid="3" name="KSOProductBuildVer">
    <vt:lpwstr>1033-12.2.0.23196</vt:lpwstr>
  </property>
</Properties>
</file>