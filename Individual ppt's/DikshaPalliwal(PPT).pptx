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67" r:id="rId6"/>
    <p:sldId id="259" r:id="rId7"/>
    <p:sldId id="262" r:id="rId8"/>
    <p:sldId id="263" r:id="rId9"/>
    <p:sldId id="264" r:id="rId10"/>
    <p:sldId id="268" r:id="rId11"/>
    <p:sldId id="265" r:id="rId12"/>
    <p:sldId id="261" r:id="rId13"/>
    <p:sldId id="266"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E90219-9BCA-445C-8DA3-690A7DE4E488}" type="datetimeFigureOut">
              <a:rPr lang="en-IN" smtClean="0"/>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6A92E3-1F09-4CCF-BF02-46ECB4325B6A}" type="slidenum">
              <a:rPr lang="en-IN" smtClean="0"/>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76A92E3-1F09-4CCF-BF02-46ECB4325B6A}" type="slidenum">
              <a:rPr lang="en-IN" smtClean="0"/>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76A92E3-1F09-4CCF-BF02-46ECB4325B6A}" type="slidenum">
              <a:rPr lang="en-IN" smtClean="0"/>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8" name="Rectangle 7"/>
          <p:cNvSpPr/>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1">
                    <a:lumMod val="65000"/>
                    <a:lumOff val="3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5586B75A-687E-405C-8A0B-8D00578BA2C3}"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8" name="Date Placeholder 7"/>
          <p:cNvSpPr>
            <a:spLocks noGrp="1"/>
          </p:cNvSpPr>
          <p:nvPr>
            <p:ph type="dt" sz="half" idx="10"/>
          </p:nvPr>
        </p:nvSpPr>
        <p:spPr/>
        <p:txBody>
          <a:bodyPr/>
          <a:lstStyle/>
          <a:p>
            <a:fld id="{5586B75A-687E-405C-8A0B-8D00578BA2C3}" type="datetimeFigureOut">
              <a:rPr lang="en-US" dirty="0"/>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2" name="Date Placeholder 1"/>
          <p:cNvSpPr>
            <a:spLocks noGrp="1"/>
          </p:cNvSpPr>
          <p:nvPr>
            <p:ph type="dt" sz="half" idx="10"/>
          </p:nvPr>
        </p:nvSpPr>
        <p:spPr/>
        <p:txBody>
          <a:bodyPr/>
          <a:lstStyle/>
          <a:p>
            <a:fld id="{5586B75A-687E-405C-8A0B-8D00578BA2C3}" type="datetimeFigureOut">
              <a:rPr lang="en-US" dirty="0"/>
            </a:fld>
            <a:endParaRPr lang="en-US" dirty="0"/>
          </a:p>
        </p:txBody>
      </p:sp>
      <p:sp>
        <p:nvSpPr>
          <p:cNvPr id="11" name="Footer Placeholder 10"/>
          <p:cNvSpPr>
            <a:spLocks noGrp="1"/>
          </p:cNvSpPr>
          <p:nvPr>
            <p:ph type="ftr" sz="quarter" idx="11"/>
          </p:nvPr>
        </p:nvSpPr>
        <p:spPr/>
        <p:txBody>
          <a:bodyPr/>
          <a:lstStyle/>
          <a:p>
            <a:endParaRPr lang="en-US" dirty="0"/>
          </a:p>
        </p:txBody>
      </p:sp>
      <p:sp>
        <p:nvSpPr>
          <p:cNvPr id="12" name="Slide Number Placeholder 11"/>
          <p:cNvSpPr>
            <a:spLocks noGrp="1"/>
          </p:cNvSpPr>
          <p:nvPr>
            <p:ph type="sldNum" sz="quarter" idx="12"/>
          </p:nvPr>
        </p:nvSpPr>
        <p:spPr/>
        <p:txBody>
          <a:bodyPr/>
          <a:lstStyle/>
          <a:p>
            <a:fld id="{4FAB73BC-B049-4115-A692-8D63A059BFB8}" type="slidenum">
              <a:rPr lang="en-US" dirty="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2" name="Date Placeholder 1"/>
          <p:cNvSpPr>
            <a:spLocks noGrp="1"/>
          </p:cNvSpPr>
          <p:nvPr>
            <p:ph type="dt" sz="half" idx="10"/>
          </p:nvPr>
        </p:nvSpPr>
        <p:spPr/>
        <p:txBody>
          <a:bodyPr/>
          <a:lstStyle/>
          <a:p>
            <a:fld id="{5586B75A-687E-405C-8A0B-8D00578BA2C3}" type="datetimeFigureOut">
              <a:rPr lang="en-US" dirty="0"/>
            </a:fld>
            <a:endParaRPr lang="en-US" dirty="0"/>
          </a:p>
        </p:txBody>
      </p:sp>
      <p:sp>
        <p:nvSpPr>
          <p:cNvPr id="7" name="Footer Placeholder 6"/>
          <p:cNvSpPr>
            <a:spLocks noGrp="1"/>
          </p:cNvSpPr>
          <p:nvPr>
            <p:ph type="ftr" sz="quarter" idx="11"/>
          </p:nvPr>
        </p:nvSpPr>
        <p:spPr/>
        <p:txBody>
          <a:bodyPr/>
          <a:lstStyle/>
          <a:p>
            <a:endParaRPr lang="en-US" dirty="0"/>
          </a:p>
        </p:txBody>
      </p:sp>
      <p:sp>
        <p:nvSpPr>
          <p:cNvPr id="8" name="Slide Number Placeholder 7"/>
          <p:cNvSpPr>
            <a:spLocks noGrp="1"/>
          </p:cNvSpPr>
          <p:nvPr>
            <p:ph type="sldNum" sz="quarter" idx="12"/>
          </p:nvPr>
        </p:nvSpPr>
        <p:spPr/>
        <p:txBody>
          <a:bodyPr/>
          <a:lstStyle/>
          <a:p>
            <a:fld id="{4FAB73BC-B049-4115-A692-8D63A059BFB8}" type="slidenum">
              <a:rPr lang="en-US" dirty="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5586B75A-687E-405C-8A0B-8D00578BA2C3}"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8" name="Date Placeholder 7"/>
          <p:cNvSpPr>
            <a:spLocks noGrp="1"/>
          </p:cNvSpPr>
          <p:nvPr>
            <p:ph type="dt" sz="half" idx="10"/>
          </p:nvPr>
        </p:nvSpPr>
        <p:spPr/>
        <p:txBody>
          <a:bodyPr/>
          <a:lstStyle/>
          <a:p>
            <a:fld id="{5586B75A-687E-405C-8A0B-8D00578BA2C3}" type="datetimeFigureOut">
              <a:rPr lang="en-US" dirty="0"/>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3570644" y="767419"/>
            <a:ext cx="8115230"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8" name="Date Placeholder 7"/>
          <p:cNvSpPr>
            <a:spLocks noGrp="1"/>
          </p:cNvSpPr>
          <p:nvPr>
            <p:ph type="dt" sz="half" idx="10"/>
          </p:nvPr>
        </p:nvSpPr>
        <p:spPr/>
        <p:txBody>
          <a:bodyPr/>
          <a:lstStyle/>
          <a:p>
            <a:fld id="{5586B75A-687E-405C-8A0B-8D00578BA2C3}" type="datetimeFigureOut">
              <a:rPr lang="en-US" dirty="0"/>
            </a:fld>
            <a:endParaRPr lang="en-US" dirty="0"/>
          </a:p>
        </p:txBody>
      </p:sp>
      <p:sp>
        <p:nvSpPr>
          <p:cNvPr id="9" name="Footer Placeholder 8"/>
          <p:cNvSpPr>
            <a:spLocks noGrp="1"/>
          </p:cNvSpPr>
          <p:nvPr>
            <p:ph type="ftr" sz="quarter" idx="11"/>
          </p:nvPr>
        </p:nvSpPr>
        <p:spPr>
          <a:xfrm>
            <a:off x="3499101" y="6356350"/>
            <a:ext cx="5911517" cy="365125"/>
          </a:xfrm>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dirty="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dirty="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fld id="{5586B75A-687E-405C-8A0B-8D00578BA2C3}" type="datetimeFigureOut">
              <a:rPr lang="en-US" dirty="0"/>
            </a:fld>
            <a:endParaRPr lang="en-US" dirty="0"/>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endParaRPr lang="en-US" dirty="0"/>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4FAB73BC-B049-4115-A692-8D63A059BFB8}" type="slidenum">
              <a:rPr lang="en-US" dirty="0"/>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anose="05020102010507070707"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anose="05020102010507070707"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anose="05020102010507070707"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anose="05020102010507070707"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anose="05020102010507070707"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anose="05020102010507070707"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anose="05020102010507070707"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anose="05020102010507070707"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anose="05020102010507070707"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br>
              <a:rPr lang="en-US" altLang="en-US" sz="6000" b="1" dirty="0">
                <a:sym typeface="+mn-ea"/>
              </a:rPr>
            </a:br>
            <a:r>
              <a:rPr lang="en-US" altLang="en-US" sz="5400" b="1" dirty="0">
                <a:effectLst>
                  <a:glow rad="25400">
                    <a:schemeClr val="bg1">
                      <a:lumMod val="95000"/>
                    </a:schemeClr>
                  </a:glow>
                  <a:outerShdw blurRad="25400" dist="203200" dir="8520000" algn="ctr" rotWithShape="0">
                    <a:schemeClr val="tx2">
                      <a:lumMod val="75000"/>
                      <a:alpha val="43000"/>
                    </a:schemeClr>
                  </a:outerShdw>
                </a:effectLst>
                <a:latin typeface="Arial Black" panose="020B0A04020102020204" pitchFamily="34" charset="0"/>
                <a:sym typeface="+mn-ea"/>
              </a:rPr>
              <a:t>ELECTVIZ</a:t>
            </a:r>
            <a:endParaRPr lang="en-IN" dirty="0">
              <a:effectLst>
                <a:glow rad="25400">
                  <a:schemeClr val="bg1">
                    <a:lumMod val="95000"/>
                  </a:schemeClr>
                </a:glow>
                <a:outerShdw blurRad="25400" dist="203200" dir="8520000" algn="ctr" rotWithShape="0">
                  <a:schemeClr val="tx2">
                    <a:lumMod val="75000"/>
                    <a:alpha val="43000"/>
                  </a:schemeClr>
                </a:outerShdw>
              </a:effectLst>
            </a:endParaRPr>
          </a:p>
        </p:txBody>
      </p:sp>
      <p:sp>
        <p:nvSpPr>
          <p:cNvPr id="3" name="Subtitle 2"/>
          <p:cNvSpPr>
            <a:spLocks noGrp="1"/>
          </p:cNvSpPr>
          <p:nvPr>
            <p:ph type="subTitle" idx="1"/>
          </p:nvPr>
        </p:nvSpPr>
        <p:spPr/>
        <p:txBody>
          <a:bodyPr/>
          <a:lstStyle/>
          <a:p>
            <a:r>
              <a:rPr lang="en-US" altLang="en-US" sz="2400" b="1" dirty="0">
                <a:effectLst>
                  <a:glow rad="63500">
                    <a:schemeClr val="bg1">
                      <a:lumMod val="95000"/>
                      <a:alpha val="40000"/>
                    </a:schemeClr>
                  </a:glow>
                  <a:outerShdw blurRad="50800" dist="76200" dir="2760000" algn="ctr" rotWithShape="0">
                    <a:srgbClr val="000000">
                      <a:alpha val="43137"/>
                    </a:srgbClr>
                  </a:outerShdw>
                </a:effectLst>
                <a:sym typeface="+mn-ea"/>
              </a:rPr>
              <a:t>Election Data Visualization for Media</a:t>
            </a:r>
            <a:endParaRPr lang="en-IN" dirty="0">
              <a:effectLst>
                <a:glow rad="63500">
                  <a:schemeClr val="bg1">
                    <a:lumMod val="95000"/>
                    <a:alpha val="40000"/>
                  </a:schemeClr>
                </a:glow>
                <a:outerShdw blurRad="50800" dist="76200" dir="2760000" algn="ctr" rotWithShape="0">
                  <a:srgbClr val="000000">
                    <a:alpha val="43137"/>
                  </a:srgbClr>
                </a:outerShdw>
              </a:effectLst>
            </a:endParaRPr>
          </a:p>
        </p:txBody>
      </p:sp>
      <p:sp>
        <p:nvSpPr>
          <p:cNvPr id="4" name="TextBox 3"/>
          <p:cNvSpPr txBox="1"/>
          <p:nvPr/>
        </p:nvSpPr>
        <p:spPr>
          <a:xfrm>
            <a:off x="9454896" y="1216152"/>
            <a:ext cx="2532888" cy="2030095"/>
          </a:xfrm>
          <a:prstGeom prst="rect">
            <a:avLst/>
          </a:prstGeom>
          <a:noFill/>
        </p:spPr>
        <p:txBody>
          <a:bodyPr wrap="square" rtlCol="0">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By</a:t>
            </a:r>
            <a:endParaRPr lang="en-US" b="1" dirty="0">
              <a:latin typeface="Calibri" panose="020F0502020204030204" pitchFamily="34" charset="0"/>
              <a:ea typeface="Calibri" panose="020F0502020204030204" pitchFamily="34" charset="0"/>
              <a:cs typeface="Calibri" panose="020F0502020204030204" pitchFamily="34" charset="0"/>
            </a:endParaRPr>
          </a:p>
          <a:p>
            <a:r>
              <a:rPr lang="en-US" b="1" dirty="0">
                <a:latin typeface="Calibri" panose="020F0502020204030204" pitchFamily="34" charset="0"/>
                <a:ea typeface="Calibri" panose="020F0502020204030204" pitchFamily="34" charset="0"/>
                <a:cs typeface="Calibri" panose="020F0502020204030204" pitchFamily="34" charset="0"/>
              </a:rPr>
              <a:t>Diksha Palliwal,</a:t>
            </a:r>
            <a:endParaRPr lang="en-US" b="1" dirty="0">
              <a:latin typeface="Calibri" panose="020F0502020204030204" pitchFamily="34" charset="0"/>
              <a:ea typeface="Calibri" panose="020F0502020204030204" pitchFamily="34" charset="0"/>
              <a:cs typeface="Calibri" panose="020F0502020204030204" pitchFamily="34" charset="0"/>
            </a:endParaRPr>
          </a:p>
          <a:p>
            <a:r>
              <a:rPr lang="en-US" b="1" dirty="0">
                <a:latin typeface="Calibri" panose="020F0502020204030204" pitchFamily="34" charset="0"/>
                <a:ea typeface="Calibri" panose="020F0502020204030204" pitchFamily="34" charset="0"/>
                <a:cs typeface="Calibri" panose="020F0502020204030204" pitchFamily="34" charset="0"/>
              </a:rPr>
              <a:t>Batch 11, Team A</a:t>
            </a:r>
            <a:endParaRPr lang="en-US" b="1" dirty="0">
              <a:latin typeface="Calibri" panose="020F0502020204030204" pitchFamily="34" charset="0"/>
              <a:ea typeface="Calibri" panose="020F0502020204030204" pitchFamily="34" charset="0"/>
              <a:cs typeface="Calibri" panose="020F0502020204030204" pitchFamily="34" charset="0"/>
            </a:endParaRPr>
          </a:p>
          <a:p>
            <a:endParaRPr lang="en-US" b="1" dirty="0">
              <a:latin typeface="Calibri" panose="020F0502020204030204" pitchFamily="34" charset="0"/>
              <a:ea typeface="Calibri" panose="020F0502020204030204" pitchFamily="34" charset="0"/>
              <a:cs typeface="Calibri" panose="020F0502020204030204" pitchFamily="34" charset="0"/>
            </a:endParaRPr>
          </a:p>
          <a:p>
            <a:endParaRPr lang="en-US" b="1" dirty="0">
              <a:latin typeface="Calibri" panose="020F0502020204030204" pitchFamily="34" charset="0"/>
              <a:ea typeface="Calibri" panose="020F0502020204030204" pitchFamily="34" charset="0"/>
              <a:cs typeface="Calibri" panose="020F0502020204030204" pitchFamily="34" charset="0"/>
            </a:endParaRPr>
          </a:p>
          <a:p>
            <a:r>
              <a:rPr lang="en-US" b="1" dirty="0">
                <a:latin typeface="Calibri" panose="020F0502020204030204" pitchFamily="34" charset="0"/>
                <a:ea typeface="Calibri" panose="020F0502020204030204" pitchFamily="34" charset="0"/>
                <a:cs typeface="Calibri" panose="020F0502020204030204" pitchFamily="34" charset="0"/>
              </a:rPr>
              <a:t>Mentor</a:t>
            </a:r>
            <a:endParaRPr lang="en-US" b="1" dirty="0">
              <a:latin typeface="Calibri" panose="020F0502020204030204" pitchFamily="34" charset="0"/>
              <a:ea typeface="Calibri" panose="020F0502020204030204" pitchFamily="34" charset="0"/>
              <a:cs typeface="Calibri" panose="020F0502020204030204" pitchFamily="34" charset="0"/>
            </a:endParaRPr>
          </a:p>
          <a:p>
            <a:r>
              <a:rPr lang="en-US" b="1" dirty="0">
                <a:latin typeface="Calibri" panose="020F0502020204030204" pitchFamily="34" charset="0"/>
                <a:ea typeface="Calibri" panose="020F0502020204030204" pitchFamily="34" charset="0"/>
                <a:cs typeface="Calibri" panose="020F0502020204030204" pitchFamily="34" charset="0"/>
              </a:rPr>
              <a:t>Nityashri S. J.</a:t>
            </a:r>
            <a:endParaRPr lang="en-US" b="1" dirty="0">
              <a:latin typeface="Calibri" panose="020F0502020204030204" pitchFamily="34" charset="0"/>
              <a:ea typeface="Calibri" panose="020F0502020204030204" pitchFamily="34" charset="0"/>
              <a:cs typeface="Calibri" panose="020F0502020204030204" pitchFamily="34" charset="0"/>
            </a:endParaRPr>
          </a:p>
        </p:txBody>
      </p:sp>
      <p:sp>
        <p:nvSpPr>
          <p:cNvPr id="5" name="Text Box 4"/>
          <p:cNvSpPr txBox="1"/>
          <p:nvPr/>
        </p:nvSpPr>
        <p:spPr>
          <a:xfrm>
            <a:off x="356235" y="1148080"/>
            <a:ext cx="8473440" cy="1014730"/>
          </a:xfrm>
          <a:prstGeom prst="rect">
            <a:avLst/>
          </a:prstGeom>
          <a:noFill/>
        </p:spPr>
        <p:txBody>
          <a:bodyPr wrap="square" rtlCol="0">
            <a:spAutoFit/>
          </a:bodyPr>
          <a:p>
            <a:pPr algn="ctr"/>
            <a:r>
              <a:rPr lang="en-US" sz="2800">
                <a:solidFill>
                  <a:schemeClr val="bg1"/>
                </a:solidFill>
              </a:rPr>
              <a:t>Infosys Springboard Data Visualization Internship 6.0</a:t>
            </a:r>
            <a:endParaRPr lang="en-US" sz="2800">
              <a:solidFill>
                <a:schemeClr val="bg1"/>
              </a:solidFill>
            </a:endParaRPr>
          </a:p>
          <a:p>
            <a:pPr algn="ctr"/>
            <a:r>
              <a:rPr lang="en-US">
                <a:solidFill>
                  <a:schemeClr val="bg1"/>
                </a:solidFill>
              </a:rPr>
              <a:t> </a:t>
            </a:r>
            <a:endParaRPr lang="en-US">
              <a:solidFill>
                <a:schemeClr val="bg1"/>
              </a:solidFill>
            </a:endParaRPr>
          </a:p>
          <a:p>
            <a:pPr algn="ctr"/>
            <a:r>
              <a:rPr lang="en-US" sz="1400">
                <a:solidFill>
                  <a:schemeClr val="bg1"/>
                </a:solidFill>
                <a:latin typeface="Arial Black" panose="020B0A04020102020204" pitchFamily="34" charset="0"/>
                <a:cs typeface="Arial Black" panose="020B0A04020102020204" pitchFamily="34" charset="0"/>
              </a:rPr>
              <a:t>BATCH 11 ,  GROUP 1</a:t>
            </a:r>
            <a:endParaRPr lang="en-US" sz="1400">
              <a:solidFill>
                <a:schemeClr val="bg1"/>
              </a:solidFill>
              <a:latin typeface="Arial Black" panose="020B0A04020102020204" pitchFamily="34" charset="0"/>
              <a:cs typeface="Arial Black" panose="020B0A040201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latin typeface="Arial Black" panose="020B0A04020102020204" pitchFamily="34" charset="0"/>
              </a:rPr>
              <a:t>Introduction</a:t>
            </a:r>
            <a:endParaRPr lang="en-IN" sz="3200" b="1" dirty="0">
              <a:latin typeface="Arial Black" panose="020B0A04020102020204" pitchFamily="34" charset="0"/>
            </a:endParaRPr>
          </a:p>
        </p:txBody>
      </p:sp>
      <p:sp>
        <p:nvSpPr>
          <p:cNvPr id="3" name="Content Placeholder 2"/>
          <p:cNvSpPr>
            <a:spLocks noGrp="1"/>
          </p:cNvSpPr>
          <p:nvPr>
            <p:ph idx="1"/>
          </p:nvPr>
        </p:nvSpPr>
        <p:spPr/>
        <p:txBody>
          <a:bodyPr/>
          <a:lstStyle/>
          <a:p>
            <a:pPr algn="just"/>
            <a:r>
              <a:rPr lang="en-US" b="1" dirty="0">
                <a:latin typeface="Times New Roman" panose="02020603050405020304" pitchFamily="18" charset="0"/>
                <a:cs typeface="Times New Roman" panose="02020603050405020304" pitchFamily="18" charset="0"/>
              </a:rPr>
              <a:t>ElectViz is an interactive Power BI dashboard designed to analyze Indian election data across multiple years.</a:t>
            </a:r>
            <a:endParaRPr lang="en-US" b="1" dirty="0">
              <a:latin typeface="Times New Roman" panose="02020603050405020304" pitchFamily="18" charset="0"/>
              <a:cs typeface="Times New Roman" panose="02020603050405020304" pitchFamily="18" charset="0"/>
            </a:endParaRPr>
          </a:p>
          <a:p>
            <a:pPr marL="0" indent="0" algn="just">
              <a:buNone/>
            </a:pPr>
            <a:endParaRPr lang="en-US" b="1"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 It provides insights into party performance, voter turnout, candidate demographics, gender distribution, and election trends at national and state levels. </a:t>
            </a:r>
            <a:endParaRPr lang="en-US" b="1" dirty="0">
              <a:latin typeface="Times New Roman" panose="02020603050405020304" pitchFamily="18" charset="0"/>
              <a:cs typeface="Times New Roman" panose="02020603050405020304" pitchFamily="18" charset="0"/>
            </a:endParaRPr>
          </a:p>
          <a:p>
            <a:pPr marL="0" indent="0" algn="just">
              <a:buNone/>
            </a:pPr>
            <a:endParaRPr lang="en-US" b="1"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Using dynamic filters and visualizations, this dashboard helps in understanding voting patterns, electoral strength of parties, and key factors influencing election outcomes in a simple and data-driven way.</a:t>
            </a:r>
            <a:endParaRPr lang="en-US" b="1" dirty="0">
              <a:latin typeface="Times New Roman" panose="02020603050405020304" pitchFamily="18" charset="0"/>
              <a:cs typeface="Times New Roman" panose="02020603050405020304" pitchFamily="18" charset="0"/>
            </a:endParaRPr>
          </a:p>
          <a:p>
            <a:pPr marL="0" indent="0">
              <a:buNone/>
            </a:pPr>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Milestones</a:t>
            </a:r>
            <a:endParaRPr lang="en-IN" b="1" dirty="0"/>
          </a:p>
        </p:txBody>
      </p:sp>
      <p:sp>
        <p:nvSpPr>
          <p:cNvPr id="3" name="Content Placeholder 2"/>
          <p:cNvSpPr>
            <a:spLocks noGrp="1"/>
          </p:cNvSpPr>
          <p:nvPr>
            <p:ph idx="1"/>
          </p:nvPr>
        </p:nvSpPr>
        <p:spPr>
          <a:xfrm>
            <a:off x="3869268" y="864108"/>
            <a:ext cx="7315200" cy="5516372"/>
          </a:xfrm>
        </p:spPr>
        <p:txBody>
          <a:bodyPr/>
          <a:lstStyle/>
          <a:p>
            <a:pPr marL="0" indent="0">
              <a:buNone/>
            </a:pPr>
            <a:r>
              <a:rPr lang="en-IN" dirty="0">
                <a:solidFill>
                  <a:schemeClr val="tx1"/>
                </a:solidFill>
                <a:latin typeface="Times New Roman" panose="02020603050405020304" pitchFamily="18" charset="0"/>
                <a:cs typeface="Times New Roman" panose="02020603050405020304" pitchFamily="18" charset="0"/>
              </a:rPr>
              <a:t>🔹 </a:t>
            </a:r>
            <a:r>
              <a:rPr lang="en-IN" b="1" dirty="0">
                <a:solidFill>
                  <a:schemeClr val="tx1"/>
                </a:solidFill>
                <a:latin typeface="Times New Roman" panose="02020603050405020304" pitchFamily="18" charset="0"/>
                <a:cs typeface="Times New Roman" panose="02020603050405020304" pitchFamily="18" charset="0"/>
              </a:rPr>
              <a:t>Milestone 1 – Data Preparation</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Data collection, cleaning, preprocessing &amp; feature engineering (Vote Share %, Winning Margin %, Age Groups).</a:t>
            </a:r>
            <a:endParaRPr lang="en-IN"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a:p>
            <a:pPr marL="0" indent="0">
              <a:buNone/>
            </a:pPr>
            <a:r>
              <a:rPr lang="en-IN" dirty="0">
                <a:solidFill>
                  <a:schemeClr val="tx1"/>
                </a:solidFill>
                <a:latin typeface="Times New Roman" panose="02020603050405020304" pitchFamily="18" charset="0"/>
                <a:cs typeface="Times New Roman" panose="02020603050405020304" pitchFamily="18" charset="0"/>
              </a:rPr>
              <a:t>🔹 </a:t>
            </a:r>
            <a:r>
              <a:rPr lang="en-IN" b="1" dirty="0">
                <a:solidFill>
                  <a:schemeClr val="tx1"/>
                </a:solidFill>
                <a:latin typeface="Times New Roman" panose="02020603050405020304" pitchFamily="18" charset="0"/>
                <a:cs typeface="Times New Roman" panose="02020603050405020304" pitchFamily="18" charset="0"/>
              </a:rPr>
              <a:t>Milestone 2 – Modelling &amp; Dashboards (Pg 1–3)</a:t>
            </a:r>
            <a:br>
              <a:rPr lang="en-IN" dirty="0">
                <a:solidFill>
                  <a:schemeClr val="tx1"/>
                </a:solidFill>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Data modelling, DAX measures, and development of Overview, Party Performance &amp; Gender Analysis dashboards.</a:t>
            </a:r>
            <a:endParaRPr lang="en-IN"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a:p>
            <a:pPr marL="0" indent="0">
              <a:buNone/>
            </a:pPr>
            <a:r>
              <a:rPr lang="en-IN" dirty="0">
                <a:solidFill>
                  <a:schemeClr val="tx1"/>
                </a:solidFill>
                <a:latin typeface="Times New Roman" panose="02020603050405020304" pitchFamily="18" charset="0"/>
                <a:cs typeface="Times New Roman" panose="02020603050405020304" pitchFamily="18" charset="0"/>
              </a:rPr>
              <a:t>🔹 </a:t>
            </a:r>
            <a:r>
              <a:rPr lang="en-IN" b="1" dirty="0">
                <a:solidFill>
                  <a:schemeClr val="tx1"/>
                </a:solidFill>
                <a:latin typeface="Times New Roman" panose="02020603050405020304" pitchFamily="18" charset="0"/>
                <a:cs typeface="Times New Roman" panose="02020603050405020304" pitchFamily="18" charset="0"/>
              </a:rPr>
              <a:t>Milestone 3 – Advanced Analytics (Pg 4–5)</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Electability analysis, trend analysis, close contest rate &amp; party momentum insights.</a:t>
            </a:r>
            <a:endParaRPr lang="en-IN"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a:p>
            <a:pPr marL="0" indent="0">
              <a:buNone/>
            </a:pPr>
            <a:r>
              <a:rPr lang="en-IN" dirty="0">
                <a:solidFill>
                  <a:schemeClr val="tx1"/>
                </a:solidFill>
                <a:latin typeface="Times New Roman" panose="02020603050405020304" pitchFamily="18" charset="0"/>
                <a:cs typeface="Times New Roman" panose="02020603050405020304" pitchFamily="18" charset="0"/>
              </a:rPr>
              <a:t>🔹 </a:t>
            </a:r>
            <a:r>
              <a:rPr lang="en-IN" b="1" dirty="0">
                <a:solidFill>
                  <a:schemeClr val="tx1"/>
                </a:solidFill>
                <a:latin typeface="Times New Roman" panose="02020603050405020304" pitchFamily="18" charset="0"/>
                <a:cs typeface="Times New Roman" panose="02020603050405020304" pitchFamily="18" charset="0"/>
              </a:rPr>
              <a:t>Milestone 4 – Outcome &amp; Deployment (Pg 6–7)</a:t>
            </a:r>
            <a:br>
              <a:rPr lang="en-IN" dirty="0">
                <a:solidFill>
                  <a:schemeClr val="tx1"/>
                </a:solidFill>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Winning factor analysis, decision support insights, GitHub/GitLab deployment &amp; milestone reports.</a:t>
            </a:r>
            <a:endParaRPr lang="en-IN" dirty="0">
              <a:latin typeface="Times New Roman" panose="02020603050405020304" pitchFamily="18" charset="0"/>
              <a:cs typeface="Times New Roman" panose="02020603050405020304" pitchFamily="18" charset="0"/>
            </a:endParaRPr>
          </a:p>
          <a:p>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04216" y="859536"/>
            <a:ext cx="8866632" cy="1069848"/>
          </a:xfrm>
          <a:noFill/>
        </p:spPr>
        <p:txBody>
          <a:bodyPr>
            <a:normAutofit fontScale="90000"/>
          </a:bodyPr>
          <a:lstStyle/>
          <a:p>
            <a:br>
              <a:rPr lang="en-US" altLang="en-US" sz="6000" b="1" dirty="0">
                <a:sym typeface="+mn-ea"/>
              </a:rPr>
            </a:br>
            <a:r>
              <a:rPr lang="en-US" sz="3600" b="1" dirty="0">
                <a:latin typeface="Arial Black" panose="020B0A04020102020204" pitchFamily="34" charset="0"/>
              </a:rPr>
              <a:t>System Design </a:t>
            </a:r>
            <a:br>
              <a:rPr lang="en-US" sz="3600" b="1" dirty="0">
                <a:latin typeface="Arial Black" panose="020B0A04020102020204" pitchFamily="34" charset="0"/>
              </a:rPr>
            </a:br>
            <a:r>
              <a:rPr lang="en-US" sz="3600" b="1" dirty="0">
                <a:latin typeface="Arial Black" panose="020B0A04020102020204" pitchFamily="34" charset="0"/>
              </a:rPr>
              <a:t>                           </a:t>
            </a:r>
            <a:r>
              <a:rPr lang="en-US" sz="3600" dirty="0">
                <a:latin typeface="Arial Black" panose="020B0A04020102020204" pitchFamily="34" charset="0"/>
              </a:rPr>
              <a:t>– High Level Architecture</a:t>
            </a:r>
            <a:endParaRPr lang="en-IN" sz="3600" dirty="0"/>
          </a:p>
        </p:txBody>
      </p:sp>
      <p:sp>
        <p:nvSpPr>
          <p:cNvPr id="3" name="Subtitle 2"/>
          <p:cNvSpPr>
            <a:spLocks noGrp="1"/>
          </p:cNvSpPr>
          <p:nvPr>
            <p:ph type="subTitle" idx="1"/>
          </p:nvPr>
        </p:nvSpPr>
        <p:spPr>
          <a:xfrm>
            <a:off x="204216" y="2084832"/>
            <a:ext cx="8210999" cy="3499814"/>
          </a:xfrm>
        </p:spPr>
        <p:txBody>
          <a:bodyPr>
            <a:normAutofit fontScale="92500" lnSpcReduction="20000"/>
          </a:bodyPr>
          <a:lstStyle/>
          <a:p>
            <a:pPr lvl="0" eaLnBrk="0" fontAlgn="base" hangingPunct="0">
              <a:lnSpc>
                <a:spcPct val="100000"/>
              </a:lnSpc>
              <a:spcBef>
                <a:spcPct val="0"/>
              </a:spcBef>
              <a:spcAft>
                <a:spcPct val="0"/>
              </a:spcAft>
              <a:buClrTx/>
              <a:buFontTx/>
              <a:buChar char="•"/>
            </a:pPr>
            <a:r>
              <a:rPr lang="en-US" altLang="en-US" b="1" dirty="0"/>
              <a:t>Data Sources</a:t>
            </a:r>
            <a:br>
              <a:rPr lang="en-US" altLang="en-US" dirty="0">
                <a:solidFill>
                  <a:schemeClr val="tx1"/>
                </a:solidFill>
                <a:latin typeface="Times New Roman" panose="02020603050405020304" pitchFamily="18" charset="0"/>
                <a:cs typeface="Times New Roman" panose="02020603050405020304" pitchFamily="18" charset="0"/>
              </a:rPr>
            </a:br>
            <a:r>
              <a:rPr lang="en-US" altLang="en-US" dirty="0">
                <a:solidFill>
                  <a:schemeClr val="tx1"/>
                </a:solidFill>
                <a:latin typeface="Times New Roman" panose="02020603050405020304" pitchFamily="18" charset="0"/>
                <a:cs typeface="Times New Roman" panose="02020603050405020304" pitchFamily="18" charset="0"/>
              </a:rPr>
              <a:t>  </a:t>
            </a:r>
            <a:r>
              <a:rPr lang="en-US" altLang="en-US" dirty="0"/>
              <a:t>Election datasets (CSV / Excel / Database)</a:t>
            </a:r>
            <a:endParaRPr lang="en-US" altLang="en-US" dirty="0"/>
          </a:p>
          <a:p>
            <a:pPr lvl="0" eaLnBrk="0" fontAlgn="base" hangingPunct="0">
              <a:lnSpc>
                <a:spcPct val="100000"/>
              </a:lnSpc>
              <a:spcBef>
                <a:spcPct val="0"/>
              </a:spcBef>
              <a:spcAft>
                <a:spcPct val="0"/>
              </a:spcAft>
              <a:buClrTx/>
            </a:pPr>
            <a:endParaRPr lang="en-US" altLang="en-US" dirty="0">
              <a:solidFill>
                <a:schemeClr val="tx1"/>
              </a:solidFill>
              <a:latin typeface="Times New Roman" panose="02020603050405020304" pitchFamily="18" charset="0"/>
              <a:cs typeface="Times New Roman" panose="02020603050405020304" pitchFamily="18" charset="0"/>
            </a:endParaRPr>
          </a:p>
          <a:p>
            <a:pPr lvl="0" eaLnBrk="0" fontAlgn="base" hangingPunct="0">
              <a:lnSpc>
                <a:spcPct val="100000"/>
              </a:lnSpc>
              <a:spcBef>
                <a:spcPct val="0"/>
              </a:spcBef>
              <a:spcAft>
                <a:spcPct val="0"/>
              </a:spcAft>
              <a:buClrTx/>
              <a:buFontTx/>
              <a:buChar char="•"/>
            </a:pPr>
            <a:r>
              <a:rPr lang="en-US" altLang="en-US" b="1" dirty="0"/>
              <a:t>Data Processing (Data Science Layer)</a:t>
            </a:r>
            <a:br>
              <a:rPr lang="en-US" altLang="en-US" dirty="0"/>
            </a:br>
            <a:r>
              <a:rPr lang="en-US" altLang="en-US" dirty="0"/>
              <a:t> Data cleaning, transformation, and feature engineering</a:t>
            </a:r>
            <a:br>
              <a:rPr lang="en-US" altLang="en-US" dirty="0"/>
            </a:br>
            <a:r>
              <a:rPr lang="en-US" altLang="en-US" dirty="0"/>
              <a:t> (vote share, turnout %, margins, age groups)</a:t>
            </a:r>
            <a:endParaRPr lang="en-US" altLang="en-US" dirty="0"/>
          </a:p>
          <a:p>
            <a:pPr lvl="0" eaLnBrk="0" fontAlgn="base" hangingPunct="0">
              <a:lnSpc>
                <a:spcPct val="100000"/>
              </a:lnSpc>
              <a:spcBef>
                <a:spcPct val="0"/>
              </a:spcBef>
              <a:spcAft>
                <a:spcPct val="0"/>
              </a:spcAft>
              <a:buClrTx/>
              <a:buFontTx/>
              <a:buChar char="•"/>
            </a:pPr>
            <a:endParaRPr lang="en-US" altLang="en-US" dirty="0"/>
          </a:p>
          <a:p>
            <a:pPr lvl="0" eaLnBrk="0" fontAlgn="base" hangingPunct="0">
              <a:lnSpc>
                <a:spcPct val="100000"/>
              </a:lnSpc>
              <a:spcBef>
                <a:spcPct val="0"/>
              </a:spcBef>
              <a:spcAft>
                <a:spcPct val="0"/>
              </a:spcAft>
              <a:buClrTx/>
              <a:buFontTx/>
              <a:buChar char="•"/>
            </a:pPr>
            <a:r>
              <a:rPr lang="en-US" altLang="en-US" b="1" dirty="0"/>
              <a:t>Data Modeling</a:t>
            </a:r>
            <a:br>
              <a:rPr lang="en-US" altLang="en-US" dirty="0"/>
            </a:br>
            <a:r>
              <a:rPr lang="en-US" altLang="en-US" dirty="0"/>
              <a:t> Fact–Dimension (Star Schema) model </a:t>
            </a:r>
            <a:br>
              <a:rPr lang="en-US" altLang="en-US" dirty="0"/>
            </a:br>
            <a:r>
              <a:rPr lang="en-US" altLang="en-US" dirty="0"/>
              <a:t> Enables fast aggregation and filtering</a:t>
            </a:r>
            <a:endParaRPr lang="en-US" altLang="en-US" dirty="0"/>
          </a:p>
          <a:p>
            <a:pPr lvl="0" eaLnBrk="0" fontAlgn="base" hangingPunct="0">
              <a:lnSpc>
                <a:spcPct val="100000"/>
              </a:lnSpc>
              <a:spcBef>
                <a:spcPct val="0"/>
              </a:spcBef>
              <a:spcAft>
                <a:spcPct val="0"/>
              </a:spcAft>
              <a:buClrTx/>
            </a:pPr>
            <a:endParaRPr lang="en-US" altLang="en-US" dirty="0"/>
          </a:p>
          <a:p>
            <a:pPr lvl="0" eaLnBrk="0" fontAlgn="base" hangingPunct="0">
              <a:lnSpc>
                <a:spcPct val="100000"/>
              </a:lnSpc>
              <a:spcBef>
                <a:spcPct val="0"/>
              </a:spcBef>
              <a:spcAft>
                <a:spcPct val="0"/>
              </a:spcAft>
              <a:buClrTx/>
              <a:buFontTx/>
              <a:buChar char="•"/>
            </a:pPr>
            <a:r>
              <a:rPr lang="en-US" altLang="en-US" b="1" dirty="0"/>
              <a:t>Visualization Tool</a:t>
            </a:r>
            <a:br>
              <a:rPr lang="en-US" altLang="en-US" dirty="0"/>
            </a:br>
            <a:r>
              <a:rPr lang="en-US" altLang="en-US" dirty="0"/>
              <a:t> Power BI for interactive dashboards and analytics</a:t>
            </a:r>
            <a:endParaRPr lang="en-US" altLang="en-US" dirty="0"/>
          </a:p>
          <a:p>
            <a:endParaRPr lang="en-IN" dirty="0"/>
          </a:p>
        </p:txBody>
      </p:sp>
      <p:sp>
        <p:nvSpPr>
          <p:cNvPr id="4" name="TextBox 3"/>
          <p:cNvSpPr txBox="1"/>
          <p:nvPr/>
        </p:nvSpPr>
        <p:spPr>
          <a:xfrm>
            <a:off x="9454896" y="1216152"/>
            <a:ext cx="2532888" cy="3139321"/>
          </a:xfrm>
          <a:prstGeom prst="rect">
            <a:avLst/>
          </a:prstGeom>
          <a:noFill/>
        </p:spPr>
        <p:txBody>
          <a:bodyPr wrap="square" rtlCol="0">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Infosys Springboard Data Visualization Internship 6.0 PPT</a:t>
            </a:r>
            <a:endParaRPr lang="en-US" b="1" dirty="0">
              <a:latin typeface="Calibri" panose="020F0502020204030204" pitchFamily="34" charset="0"/>
              <a:ea typeface="Calibri" panose="020F0502020204030204" pitchFamily="34" charset="0"/>
              <a:cs typeface="Calibri" panose="020F0502020204030204" pitchFamily="34" charset="0"/>
            </a:endParaRPr>
          </a:p>
          <a:p>
            <a:endParaRPr lang="en-US" b="1" dirty="0">
              <a:latin typeface="Calibri" panose="020F0502020204030204" pitchFamily="34" charset="0"/>
              <a:ea typeface="Calibri" panose="020F0502020204030204" pitchFamily="34" charset="0"/>
              <a:cs typeface="Calibri" panose="020F0502020204030204" pitchFamily="34" charset="0"/>
            </a:endParaRPr>
          </a:p>
          <a:p>
            <a:r>
              <a:rPr lang="en-US" b="1" dirty="0">
                <a:latin typeface="Calibri" panose="020F0502020204030204" pitchFamily="34" charset="0"/>
                <a:ea typeface="Calibri" panose="020F0502020204030204" pitchFamily="34" charset="0"/>
                <a:cs typeface="Calibri" panose="020F0502020204030204" pitchFamily="34" charset="0"/>
              </a:rPr>
              <a:t>By</a:t>
            </a:r>
            <a:endParaRPr lang="en-US" b="1" dirty="0">
              <a:latin typeface="Calibri" panose="020F0502020204030204" pitchFamily="34" charset="0"/>
              <a:ea typeface="Calibri" panose="020F0502020204030204" pitchFamily="34" charset="0"/>
              <a:cs typeface="Calibri" panose="020F0502020204030204" pitchFamily="34" charset="0"/>
            </a:endParaRPr>
          </a:p>
          <a:p>
            <a:r>
              <a:rPr lang="en-US" b="1" dirty="0">
                <a:latin typeface="Calibri" panose="020F0502020204030204" pitchFamily="34" charset="0"/>
                <a:ea typeface="Calibri" panose="020F0502020204030204" pitchFamily="34" charset="0"/>
                <a:cs typeface="Calibri" panose="020F0502020204030204" pitchFamily="34" charset="0"/>
              </a:rPr>
              <a:t>Diksha Palliwal,</a:t>
            </a:r>
            <a:endParaRPr lang="en-US" b="1" dirty="0">
              <a:latin typeface="Calibri" panose="020F0502020204030204" pitchFamily="34" charset="0"/>
              <a:ea typeface="Calibri" panose="020F0502020204030204" pitchFamily="34" charset="0"/>
              <a:cs typeface="Calibri" panose="020F0502020204030204" pitchFamily="34" charset="0"/>
            </a:endParaRPr>
          </a:p>
          <a:p>
            <a:r>
              <a:rPr lang="en-US" b="1" dirty="0">
                <a:latin typeface="Calibri" panose="020F0502020204030204" pitchFamily="34" charset="0"/>
                <a:ea typeface="Calibri" panose="020F0502020204030204" pitchFamily="34" charset="0"/>
                <a:cs typeface="Calibri" panose="020F0502020204030204" pitchFamily="34" charset="0"/>
              </a:rPr>
              <a:t>Batch 11, Team A</a:t>
            </a:r>
            <a:endParaRPr lang="en-US" b="1" dirty="0">
              <a:latin typeface="Calibri" panose="020F0502020204030204" pitchFamily="34" charset="0"/>
              <a:ea typeface="Calibri" panose="020F0502020204030204" pitchFamily="34" charset="0"/>
              <a:cs typeface="Calibri" panose="020F0502020204030204" pitchFamily="34" charset="0"/>
            </a:endParaRPr>
          </a:p>
          <a:p>
            <a:endParaRPr lang="en-US" b="1" dirty="0">
              <a:latin typeface="Calibri" panose="020F0502020204030204" pitchFamily="34" charset="0"/>
              <a:ea typeface="Calibri" panose="020F0502020204030204" pitchFamily="34" charset="0"/>
              <a:cs typeface="Calibri" panose="020F0502020204030204" pitchFamily="34" charset="0"/>
            </a:endParaRPr>
          </a:p>
          <a:p>
            <a:endParaRPr lang="en-US" b="1" dirty="0">
              <a:latin typeface="Calibri" panose="020F0502020204030204" pitchFamily="34" charset="0"/>
              <a:ea typeface="Calibri" panose="020F0502020204030204" pitchFamily="34" charset="0"/>
              <a:cs typeface="Calibri" panose="020F0502020204030204" pitchFamily="34" charset="0"/>
            </a:endParaRPr>
          </a:p>
          <a:p>
            <a:r>
              <a:rPr lang="en-US" b="1" dirty="0">
                <a:latin typeface="Calibri" panose="020F0502020204030204" pitchFamily="34" charset="0"/>
                <a:ea typeface="Calibri" panose="020F0502020204030204" pitchFamily="34" charset="0"/>
                <a:cs typeface="Calibri" panose="020F0502020204030204" pitchFamily="34" charset="0"/>
              </a:rPr>
              <a:t>Mentor</a:t>
            </a:r>
            <a:endParaRPr lang="en-US" b="1" dirty="0">
              <a:latin typeface="Calibri" panose="020F0502020204030204" pitchFamily="34" charset="0"/>
              <a:ea typeface="Calibri" panose="020F0502020204030204" pitchFamily="34" charset="0"/>
              <a:cs typeface="Calibri" panose="020F0502020204030204" pitchFamily="34" charset="0"/>
            </a:endParaRPr>
          </a:p>
          <a:p>
            <a:r>
              <a:rPr lang="en-US" b="1" dirty="0">
                <a:latin typeface="Calibri" panose="020F0502020204030204" pitchFamily="34" charset="0"/>
                <a:ea typeface="Calibri" panose="020F0502020204030204" pitchFamily="34" charset="0"/>
                <a:cs typeface="Calibri" panose="020F0502020204030204" pitchFamily="34" charset="0"/>
              </a:rPr>
              <a:t>Nityashri S. J.</a:t>
            </a:r>
            <a:endParaRPr lang="en-US" b="1" dirty="0">
              <a:latin typeface="Calibri" panose="020F0502020204030204" pitchFamily="34" charset="0"/>
              <a:ea typeface="Calibri" panose="020F0502020204030204" pitchFamily="34" charset="0"/>
              <a:cs typeface="Calibri" panose="020F0502020204030204" pitchFamily="34" charset="0"/>
            </a:endParaRPr>
          </a:p>
        </p:txBody>
      </p:sp>
      <p:pic>
        <p:nvPicPr>
          <p:cNvPr id="8" name="Picture 7"/>
          <p:cNvPicPr>
            <a:picLocks noChangeAspect="1"/>
          </p:cNvPicPr>
          <p:nvPr/>
        </p:nvPicPr>
        <p:blipFill>
          <a:blip r:embed="rId1"/>
          <a:stretch>
            <a:fillRect/>
          </a:stretch>
        </p:blipFill>
        <p:spPr>
          <a:xfrm>
            <a:off x="9273540" y="723900"/>
            <a:ext cx="2895600" cy="54102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1110397" y="780661"/>
            <a:ext cx="4718792" cy="2643661"/>
          </a:xfrm>
          <a:prstGeom prst="rect">
            <a:avLst/>
          </a:prstGeom>
        </p:spPr>
      </p:pic>
      <p:pic>
        <p:nvPicPr>
          <p:cNvPr id="3" name="Picture 2"/>
          <p:cNvPicPr>
            <a:picLocks noChangeAspect="1"/>
          </p:cNvPicPr>
          <p:nvPr/>
        </p:nvPicPr>
        <p:blipFill>
          <a:blip r:embed="rId2"/>
          <a:stretch>
            <a:fillRect/>
          </a:stretch>
        </p:blipFill>
        <p:spPr>
          <a:xfrm>
            <a:off x="6362813" y="775983"/>
            <a:ext cx="4718793" cy="2648339"/>
          </a:xfrm>
          <a:prstGeom prst="rect">
            <a:avLst/>
          </a:prstGeom>
        </p:spPr>
      </p:pic>
      <p:pic>
        <p:nvPicPr>
          <p:cNvPr id="4" name="Picture 3"/>
          <p:cNvPicPr>
            <a:picLocks noChangeAspect="1"/>
          </p:cNvPicPr>
          <p:nvPr/>
        </p:nvPicPr>
        <p:blipFill>
          <a:blip r:embed="rId3"/>
          <a:stretch>
            <a:fillRect/>
          </a:stretch>
        </p:blipFill>
        <p:spPr>
          <a:xfrm>
            <a:off x="1110397" y="3850060"/>
            <a:ext cx="4718792" cy="2655659"/>
          </a:xfrm>
          <a:prstGeom prst="rect">
            <a:avLst/>
          </a:prstGeom>
        </p:spPr>
      </p:pic>
      <p:pic>
        <p:nvPicPr>
          <p:cNvPr id="5" name="Picture 4"/>
          <p:cNvPicPr>
            <a:picLocks noChangeAspect="1"/>
          </p:cNvPicPr>
          <p:nvPr/>
        </p:nvPicPr>
        <p:blipFill>
          <a:blip r:embed="rId4"/>
          <a:stretch>
            <a:fillRect/>
          </a:stretch>
        </p:blipFill>
        <p:spPr>
          <a:xfrm>
            <a:off x="6348099" y="3850060"/>
            <a:ext cx="4733504" cy="2648339"/>
          </a:xfrm>
          <a:prstGeom prst="rect">
            <a:avLst/>
          </a:prstGeom>
        </p:spPr>
      </p:pic>
      <p:sp>
        <p:nvSpPr>
          <p:cNvPr id="6" name="TextBox 5"/>
          <p:cNvSpPr txBox="1"/>
          <p:nvPr/>
        </p:nvSpPr>
        <p:spPr>
          <a:xfrm>
            <a:off x="1110397" y="91440"/>
            <a:ext cx="9826843" cy="584775"/>
          </a:xfrm>
          <a:prstGeom prst="rect">
            <a:avLst/>
          </a:prstGeom>
          <a:noFill/>
        </p:spPr>
        <p:txBody>
          <a:bodyPr wrap="square" rtlCol="0">
            <a:spAutoFit/>
          </a:bodyPr>
          <a:lstStyle/>
          <a:p>
            <a:r>
              <a:rPr lang="en-US" sz="3200" b="1" dirty="0">
                <a:latin typeface="Arial Black" panose="020B0A04020102020204" pitchFamily="34" charset="0"/>
              </a:rPr>
              <a:t>SNAPSHOTS</a:t>
            </a:r>
            <a:endParaRPr lang="en-IN" sz="3200" b="1" dirty="0">
              <a:latin typeface="Arial Black" panose="020B0A040201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110397" y="91440"/>
            <a:ext cx="9826843" cy="584775"/>
          </a:xfrm>
          <a:prstGeom prst="rect">
            <a:avLst/>
          </a:prstGeom>
          <a:noFill/>
        </p:spPr>
        <p:txBody>
          <a:bodyPr wrap="square" rtlCol="0">
            <a:spAutoFit/>
          </a:bodyPr>
          <a:lstStyle/>
          <a:p>
            <a:r>
              <a:rPr lang="en-US" sz="3200" b="1" dirty="0">
                <a:latin typeface="Arial Black" panose="020B0A04020102020204" pitchFamily="34" charset="0"/>
              </a:rPr>
              <a:t>SNAPSHOTS</a:t>
            </a:r>
            <a:endParaRPr lang="en-IN" sz="3200" b="1" dirty="0">
              <a:latin typeface="Arial Black" panose="020B0A04020102020204" pitchFamily="34" charset="0"/>
            </a:endParaRPr>
          </a:p>
        </p:txBody>
      </p:sp>
      <p:pic>
        <p:nvPicPr>
          <p:cNvPr id="7" name="Picture 6"/>
          <p:cNvPicPr>
            <a:picLocks noChangeAspect="1"/>
          </p:cNvPicPr>
          <p:nvPr/>
        </p:nvPicPr>
        <p:blipFill>
          <a:blip r:embed="rId1"/>
          <a:stretch>
            <a:fillRect/>
          </a:stretch>
        </p:blipFill>
        <p:spPr>
          <a:xfrm>
            <a:off x="1217543" y="865855"/>
            <a:ext cx="4363278" cy="2439753"/>
          </a:xfrm>
          <a:prstGeom prst="rect">
            <a:avLst/>
          </a:prstGeom>
        </p:spPr>
      </p:pic>
      <p:pic>
        <p:nvPicPr>
          <p:cNvPr id="8" name="Picture 7"/>
          <p:cNvPicPr>
            <a:picLocks noChangeAspect="1"/>
          </p:cNvPicPr>
          <p:nvPr/>
        </p:nvPicPr>
        <p:blipFill>
          <a:blip r:embed="rId2"/>
          <a:stretch>
            <a:fillRect/>
          </a:stretch>
        </p:blipFill>
        <p:spPr>
          <a:xfrm>
            <a:off x="6292319" y="865855"/>
            <a:ext cx="4363279" cy="2451465"/>
          </a:xfrm>
          <a:prstGeom prst="rect">
            <a:avLst/>
          </a:prstGeom>
        </p:spPr>
      </p:pic>
      <p:pic>
        <p:nvPicPr>
          <p:cNvPr id="9" name="Picture 8"/>
          <p:cNvPicPr>
            <a:picLocks noChangeAspect="1"/>
          </p:cNvPicPr>
          <p:nvPr/>
        </p:nvPicPr>
        <p:blipFill>
          <a:blip r:embed="rId3"/>
          <a:stretch>
            <a:fillRect/>
          </a:stretch>
        </p:blipFill>
        <p:spPr>
          <a:xfrm>
            <a:off x="3399182" y="3791671"/>
            <a:ext cx="4827103" cy="269664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Key Insights Gained – ElectViz Dashboard</a:t>
            </a:r>
            <a:endParaRPr lang="en-IN" b="1" dirty="0"/>
          </a:p>
        </p:txBody>
      </p:sp>
      <p:sp>
        <p:nvSpPr>
          <p:cNvPr id="3" name="Content Placeholder 2"/>
          <p:cNvSpPr>
            <a:spLocks noGrp="1"/>
          </p:cNvSpPr>
          <p:nvPr>
            <p:ph idx="1"/>
          </p:nvPr>
        </p:nvSpPr>
        <p:spPr/>
        <p:txBody>
          <a:bodyPr>
            <a:normAutofit fontScale="92500"/>
          </a:bodyPr>
          <a:lstStyle/>
          <a:p>
            <a:pPr marL="0" lvl="0" indent="0" eaLnBrk="0" fontAlgn="base" hangingPunct="0">
              <a:lnSpc>
                <a:spcPct val="100000"/>
              </a:lnSpc>
              <a:spcBef>
                <a:spcPct val="0"/>
              </a:spcBef>
              <a:spcAft>
                <a:spcPct val="0"/>
              </a:spcAft>
              <a:buClrTx/>
              <a:buFontTx/>
              <a:buChar char="•"/>
            </a:pPr>
            <a:r>
              <a:rPr lang="en-US" altLang="en-US" dirty="0">
                <a:solidFill>
                  <a:schemeClr val="tx1"/>
                </a:solidFill>
                <a:latin typeface="Times New Roman" panose="02020603050405020304" pitchFamily="18" charset="0"/>
                <a:cs typeface="Times New Roman" panose="02020603050405020304" pitchFamily="18" charset="0"/>
              </a:rPr>
              <a:t>Identified major political parties’ performance trends across multiple election years</a:t>
            </a:r>
            <a:endParaRPr lang="en-US" altLang="en-US"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None/>
            </a:pPr>
            <a:endParaRPr lang="en-US" altLang="en-US"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FontTx/>
              <a:buChar char="•"/>
            </a:pPr>
            <a:r>
              <a:rPr lang="en-US" altLang="en-US" dirty="0">
                <a:solidFill>
                  <a:schemeClr val="tx1"/>
                </a:solidFill>
                <a:latin typeface="Times New Roman" panose="02020603050405020304" pitchFamily="18" charset="0"/>
                <a:cs typeface="Times New Roman" panose="02020603050405020304" pitchFamily="18" charset="0"/>
              </a:rPr>
              <a:t>Observed significant variations in voter turnout across states and regions</a:t>
            </a:r>
            <a:endParaRPr lang="en-US" altLang="en-US"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None/>
            </a:pPr>
            <a:endParaRPr lang="en-US" altLang="en-US"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FontTx/>
              <a:buChar char="•"/>
            </a:pPr>
            <a:r>
              <a:rPr lang="en-US" altLang="en-US" dirty="0">
                <a:solidFill>
                  <a:schemeClr val="tx1"/>
                </a:solidFill>
                <a:latin typeface="Times New Roman" panose="02020603050405020304" pitchFamily="18" charset="0"/>
                <a:cs typeface="Times New Roman" panose="02020603050405020304" pitchFamily="18" charset="0"/>
              </a:rPr>
              <a:t>Analyzed vote share distribution to understand party dominance and competition</a:t>
            </a:r>
            <a:endParaRPr lang="en-US" altLang="en-US"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None/>
            </a:pPr>
            <a:endParaRPr lang="en-US" altLang="en-US"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FontTx/>
              <a:buChar char="•"/>
            </a:pPr>
            <a:r>
              <a:rPr lang="en-US" altLang="en-US" dirty="0">
                <a:solidFill>
                  <a:schemeClr val="tx1"/>
                </a:solidFill>
                <a:latin typeface="Times New Roman" panose="02020603050405020304" pitchFamily="18" charset="0"/>
                <a:cs typeface="Times New Roman" panose="02020603050405020304" pitchFamily="18" charset="0"/>
              </a:rPr>
              <a:t>Found demographic patterns such as age and gender influencing election outcomes</a:t>
            </a:r>
            <a:endParaRPr lang="en-US" altLang="en-US"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None/>
            </a:pPr>
            <a:endParaRPr lang="en-US" altLang="en-US"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FontTx/>
              <a:buChar char="•"/>
            </a:pPr>
            <a:r>
              <a:rPr lang="en-US" altLang="en-US" dirty="0">
                <a:solidFill>
                  <a:schemeClr val="tx1"/>
                </a:solidFill>
                <a:latin typeface="Times New Roman" panose="02020603050405020304" pitchFamily="18" charset="0"/>
                <a:cs typeface="Times New Roman" panose="02020603050405020304" pitchFamily="18" charset="0"/>
              </a:rPr>
              <a:t>Detected closely contested constituencies using winning margin analysis</a:t>
            </a:r>
            <a:endParaRPr lang="en-US" altLang="en-US"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None/>
            </a:pPr>
            <a:endParaRPr lang="en-US" altLang="en-US"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FontTx/>
              <a:buChar char="•"/>
            </a:pPr>
            <a:r>
              <a:rPr lang="en-US" altLang="en-US" dirty="0">
                <a:solidFill>
                  <a:schemeClr val="tx1"/>
                </a:solidFill>
                <a:latin typeface="Times New Roman" panose="02020603050405020304" pitchFamily="18" charset="0"/>
                <a:cs typeface="Times New Roman" panose="02020603050405020304" pitchFamily="18" charset="0"/>
              </a:rPr>
              <a:t>Highlighted regional strongholds and weak zones for major parties</a:t>
            </a:r>
            <a:endParaRPr lang="en-US" altLang="en-US"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None/>
            </a:pPr>
            <a:endParaRPr lang="en-US" altLang="en-US"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FontTx/>
              <a:buChar char="•"/>
            </a:pPr>
            <a:r>
              <a:rPr lang="en-US" altLang="en-US" dirty="0">
                <a:solidFill>
                  <a:schemeClr val="tx1"/>
                </a:solidFill>
                <a:latin typeface="Times New Roman" panose="02020603050405020304" pitchFamily="18" charset="0"/>
                <a:cs typeface="Times New Roman" panose="02020603050405020304" pitchFamily="18" charset="0"/>
              </a:rPr>
              <a:t>Revealed long-term electoral trends through year-wise comparative analysis</a:t>
            </a:r>
            <a:endParaRPr lang="en-US" altLang="en-US" dirty="0">
              <a:solidFill>
                <a:schemeClr val="tx1"/>
              </a:solidFill>
              <a:latin typeface="Times New Roman" panose="02020603050405020304" pitchFamily="18" charset="0"/>
              <a:cs typeface="Times New Roman" panose="02020603050405020304" pitchFamily="18" charset="0"/>
            </a:endParaRPr>
          </a:p>
          <a:p>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Future Enhancements</a:t>
            </a:r>
            <a:endParaRPr lang="en-US"/>
          </a:p>
        </p:txBody>
      </p:sp>
      <p:sp>
        <p:nvSpPr>
          <p:cNvPr id="3" name="Content Placeholder 2"/>
          <p:cNvSpPr>
            <a:spLocks noGrp="1"/>
          </p:cNvSpPr>
          <p:nvPr>
            <p:ph idx="1"/>
          </p:nvPr>
        </p:nvSpPr>
        <p:spPr/>
        <p:txBody>
          <a:bodyPr>
            <a:normAutofit lnSpcReduction="10000"/>
          </a:bodyPr>
          <a:p>
            <a:pPr marL="0" marR="0" lvl="0" indent="0" algn="l" defTabSz="914400" rtl="0" eaLnBrk="0" fontAlgn="base" latinLnBrk="0" hangingPunct="0">
              <a:lnSpc>
                <a:spcPct val="100000"/>
              </a:lnSpc>
              <a:spcBef>
                <a:spcPct val="0"/>
              </a:spcBef>
              <a:spcAft>
                <a:spcPct val="0"/>
              </a:spcAft>
              <a:buClrTx/>
              <a:buSzTx/>
              <a:buFontTx/>
              <a:buChar char="•"/>
            </a:pPr>
            <a:r>
              <a:rPr lang="en-US" altLang="en-US" b="1" dirty="0">
                <a:ln>
                  <a:noFill/>
                </a:ln>
                <a:solidFill>
                  <a:schemeClr val="tx1"/>
                </a:solidFill>
                <a:effectLst/>
                <a:latin typeface="Times New Roman" panose="02020603050405020304" pitchFamily="18" charset="0"/>
                <a:cs typeface="Times New Roman" panose="02020603050405020304" pitchFamily="18" charset="0"/>
                <a:sym typeface="+mn-ea"/>
              </a:rPr>
              <a:t>Real-time Data Integration</a:t>
            </a:r>
            <a:br>
              <a:rPr lang="en-US" altLang="en-US" dirty="0">
                <a:ln>
                  <a:noFill/>
                </a:ln>
                <a:solidFill>
                  <a:schemeClr val="tx1"/>
                </a:solidFill>
                <a:effectLst/>
                <a:latin typeface="Times New Roman" panose="02020603050405020304" pitchFamily="18" charset="0"/>
                <a:cs typeface="Times New Roman" panose="02020603050405020304" pitchFamily="18" charset="0"/>
                <a:sym typeface="+mn-ea"/>
              </a:rPr>
            </a:br>
            <a:r>
              <a:rPr lang="en-US" altLang="en-US" dirty="0">
                <a:ln>
                  <a:noFill/>
                </a:ln>
                <a:solidFill>
                  <a:schemeClr val="tx1"/>
                </a:solidFill>
                <a:effectLst/>
                <a:latin typeface="Times New Roman" panose="02020603050405020304" pitchFamily="18" charset="0"/>
                <a:cs typeface="Times New Roman" panose="02020603050405020304" pitchFamily="18" charset="0"/>
                <a:sym typeface="+mn-ea"/>
              </a:rPr>
              <a:t> Connect live election APIs for real-time result updates</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lang="en-US" altLang="en-US" b="1" dirty="0">
                <a:ln>
                  <a:noFill/>
                </a:ln>
                <a:solidFill>
                  <a:schemeClr val="tx1"/>
                </a:solidFill>
                <a:effectLst/>
                <a:latin typeface="Times New Roman" panose="02020603050405020304" pitchFamily="18" charset="0"/>
                <a:cs typeface="Times New Roman" panose="02020603050405020304" pitchFamily="18" charset="0"/>
                <a:sym typeface="+mn-ea"/>
              </a:rPr>
              <a:t>Predictive Analytics</a:t>
            </a:r>
            <a:br>
              <a:rPr lang="en-US" altLang="en-US" dirty="0">
                <a:ln>
                  <a:noFill/>
                </a:ln>
                <a:solidFill>
                  <a:schemeClr val="tx1"/>
                </a:solidFill>
                <a:effectLst/>
                <a:latin typeface="Times New Roman" panose="02020603050405020304" pitchFamily="18" charset="0"/>
                <a:cs typeface="Times New Roman" panose="02020603050405020304" pitchFamily="18" charset="0"/>
                <a:sym typeface="+mn-ea"/>
              </a:rPr>
            </a:br>
            <a:r>
              <a:rPr lang="en-US" altLang="en-US" dirty="0">
                <a:ln>
                  <a:noFill/>
                </a:ln>
                <a:solidFill>
                  <a:schemeClr val="tx1"/>
                </a:solidFill>
                <a:effectLst/>
                <a:latin typeface="Times New Roman" panose="02020603050405020304" pitchFamily="18" charset="0"/>
                <a:cs typeface="Times New Roman" panose="02020603050405020304" pitchFamily="18" charset="0"/>
                <a:sym typeface="+mn-ea"/>
              </a:rPr>
              <a:t> Use machine learning models to forecast election outcomes and voter turnout</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lang="en-US" altLang="en-US" b="1" dirty="0">
                <a:ln>
                  <a:noFill/>
                </a:ln>
                <a:solidFill>
                  <a:schemeClr val="tx1"/>
                </a:solidFill>
                <a:effectLst/>
                <a:latin typeface="Times New Roman" panose="02020603050405020304" pitchFamily="18" charset="0"/>
                <a:cs typeface="Times New Roman" panose="02020603050405020304" pitchFamily="18" charset="0"/>
                <a:sym typeface="+mn-ea"/>
              </a:rPr>
              <a:t>Sentiment Analysis</a:t>
            </a:r>
            <a:br>
              <a:rPr lang="en-US" altLang="en-US" dirty="0">
                <a:ln>
                  <a:noFill/>
                </a:ln>
                <a:solidFill>
                  <a:schemeClr val="tx1"/>
                </a:solidFill>
                <a:effectLst/>
                <a:latin typeface="Times New Roman" panose="02020603050405020304" pitchFamily="18" charset="0"/>
                <a:cs typeface="Times New Roman" panose="02020603050405020304" pitchFamily="18" charset="0"/>
                <a:sym typeface="+mn-ea"/>
              </a:rPr>
            </a:br>
            <a:r>
              <a:rPr lang="en-US" altLang="en-US" dirty="0">
                <a:ln>
                  <a:noFill/>
                </a:ln>
                <a:solidFill>
                  <a:schemeClr val="tx1"/>
                </a:solidFill>
                <a:effectLst/>
                <a:latin typeface="Times New Roman" panose="02020603050405020304" pitchFamily="18" charset="0"/>
                <a:cs typeface="Times New Roman" panose="02020603050405020304" pitchFamily="18" charset="0"/>
                <a:sym typeface="+mn-ea"/>
              </a:rPr>
              <a:t> Integrate social media and news sentiment to analyze public opinion trends</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lang="en-US" altLang="en-US" b="1" dirty="0">
                <a:ln>
                  <a:noFill/>
                </a:ln>
                <a:solidFill>
                  <a:schemeClr val="tx1"/>
                </a:solidFill>
                <a:effectLst/>
                <a:latin typeface="Times New Roman" panose="02020603050405020304" pitchFamily="18" charset="0"/>
                <a:cs typeface="Times New Roman" panose="02020603050405020304" pitchFamily="18" charset="0"/>
                <a:sym typeface="+mn-ea"/>
              </a:rPr>
              <a:t>Advanced Drill-Downs</a:t>
            </a:r>
            <a:br>
              <a:rPr lang="en-US" altLang="en-US" dirty="0">
                <a:ln>
                  <a:noFill/>
                </a:ln>
                <a:solidFill>
                  <a:schemeClr val="tx1"/>
                </a:solidFill>
                <a:effectLst/>
                <a:latin typeface="Times New Roman" panose="02020603050405020304" pitchFamily="18" charset="0"/>
                <a:cs typeface="Times New Roman" panose="02020603050405020304" pitchFamily="18" charset="0"/>
                <a:sym typeface="+mn-ea"/>
              </a:rPr>
            </a:br>
            <a:r>
              <a:rPr lang="en-US" altLang="en-US" dirty="0">
                <a:ln>
                  <a:noFill/>
                </a:ln>
                <a:solidFill>
                  <a:schemeClr val="tx1"/>
                </a:solidFill>
                <a:effectLst/>
                <a:latin typeface="Times New Roman" panose="02020603050405020304" pitchFamily="18" charset="0"/>
                <a:cs typeface="Times New Roman" panose="02020603050405020304" pitchFamily="18" charset="0"/>
                <a:sym typeface="+mn-ea"/>
              </a:rPr>
              <a:t>  Enable constituency-level and booth-level analysis for deeper insights</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lang="en-US" altLang="en-US" b="1" dirty="0">
                <a:ln>
                  <a:noFill/>
                </a:ln>
                <a:solidFill>
                  <a:schemeClr val="tx1"/>
                </a:solidFill>
                <a:effectLst/>
                <a:latin typeface="Times New Roman" panose="02020603050405020304" pitchFamily="18" charset="0"/>
                <a:cs typeface="Times New Roman" panose="02020603050405020304" pitchFamily="18" charset="0"/>
                <a:sym typeface="+mn-ea"/>
              </a:rPr>
              <a:t>Geospatial Enhancements</a:t>
            </a:r>
            <a:br>
              <a:rPr lang="en-US" altLang="en-US" dirty="0">
                <a:ln>
                  <a:noFill/>
                </a:ln>
                <a:solidFill>
                  <a:schemeClr val="tx1"/>
                </a:solidFill>
                <a:effectLst/>
                <a:latin typeface="Times New Roman" panose="02020603050405020304" pitchFamily="18" charset="0"/>
                <a:cs typeface="Times New Roman" panose="02020603050405020304" pitchFamily="18" charset="0"/>
                <a:sym typeface="+mn-ea"/>
              </a:rPr>
            </a:br>
            <a:r>
              <a:rPr lang="en-US" altLang="en-US" dirty="0">
                <a:ln>
                  <a:noFill/>
                </a:ln>
                <a:solidFill>
                  <a:schemeClr val="tx1"/>
                </a:solidFill>
                <a:effectLst/>
                <a:latin typeface="Times New Roman" panose="02020603050405020304" pitchFamily="18" charset="0"/>
                <a:cs typeface="Times New Roman" panose="02020603050405020304" pitchFamily="18" charset="0"/>
                <a:sym typeface="+mn-ea"/>
              </a:rPr>
              <a:t>  Add heatmaps and spatial clustering for regional voting patterns</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1123837"/>
            <a:ext cx="3210560" cy="4616563"/>
          </a:xfrm>
        </p:spPr>
        <p:txBody>
          <a:bodyPr>
            <a:normAutofit fontScale="90000"/>
          </a:bodyPr>
          <a:lstStyle/>
          <a:p>
            <a:pPr algn="ctr"/>
            <a:br>
              <a:rPr lang="en-US" b="1" dirty="0"/>
            </a:br>
            <a:br>
              <a:rPr lang="en-US" b="1" dirty="0"/>
            </a:br>
            <a:br>
              <a:rPr lang="en-US" b="1" dirty="0"/>
            </a:br>
            <a:br>
              <a:rPr lang="en-US" b="1" dirty="0"/>
            </a:br>
            <a:br>
              <a:rPr lang="en-US" b="1" dirty="0"/>
            </a:br>
            <a:br>
              <a:rPr lang="en-US" b="1" dirty="0"/>
            </a:br>
            <a:br>
              <a:rPr lang="en-US" b="1" dirty="0"/>
            </a:br>
            <a:br>
              <a:rPr lang="en-US" b="1" dirty="0"/>
            </a:br>
            <a:r>
              <a:rPr lang="en-US" b="1" dirty="0"/>
              <a:t>Conclusion</a:t>
            </a:r>
            <a:br>
              <a:rPr lang="en-US" sz="3200" b="1" dirty="0"/>
            </a:br>
            <a:br>
              <a:rPr lang="en-US" sz="3200" dirty="0"/>
            </a:br>
            <a:br>
              <a:rPr lang="en-US" sz="3200" dirty="0"/>
            </a:br>
            <a:br>
              <a:rPr lang="en-US" sz="3200" dirty="0"/>
            </a:br>
            <a:br>
              <a:rPr lang="en-US" sz="3200" dirty="0"/>
            </a:br>
            <a:br>
              <a:rPr lang="en-US" sz="3200" dirty="0"/>
            </a:br>
            <a:br>
              <a:rPr lang="en-US" sz="3200" dirty="0"/>
            </a:br>
            <a:br>
              <a:rPr lang="en-US" sz="3200" dirty="0"/>
            </a:br>
            <a:br>
              <a:rPr lang="en-US" sz="3200" dirty="0"/>
            </a:br>
            <a:br>
              <a:rPr lang="en-US" sz="3200" dirty="0"/>
            </a:br>
            <a:endParaRPr lang="en-IN" sz="3200" b="1" dirty="0">
              <a:latin typeface="Arial Black" panose="020B0A04020102020204" pitchFamily="34" charset="0"/>
            </a:endParaRPr>
          </a:p>
        </p:txBody>
      </p:sp>
      <p:sp>
        <p:nvSpPr>
          <p:cNvPr id="3" name="Content Placeholder 2"/>
          <p:cNvSpPr>
            <a:spLocks noGrp="1"/>
          </p:cNvSpPr>
          <p:nvPr>
            <p:ph idx="1"/>
          </p:nvPr>
        </p:nvSpPr>
        <p:spPr>
          <a:xfrm>
            <a:off x="3869268" y="741680"/>
            <a:ext cx="7315200" cy="5243068"/>
          </a:xfrm>
          <a:noFill/>
        </p:spPr>
        <p:txBody>
          <a:bodyPr/>
          <a:lstStyle/>
          <a:p>
            <a:r>
              <a:rPr lang="en-US" b="1" dirty="0">
                <a:solidFill>
                  <a:schemeClr val="accent2">
                    <a:lumMod val="75000"/>
                  </a:schemeClr>
                </a:solidFill>
                <a:latin typeface="Times New Roman" panose="02020603050405020304" pitchFamily="18" charset="0"/>
                <a:cs typeface="Times New Roman" panose="02020603050405020304" pitchFamily="18" charset="0"/>
              </a:rPr>
              <a:t>ElectViz successfully transforms raw election data into meaningful insights using data science and visualization techniques.</a:t>
            </a:r>
            <a:endParaRPr lang="en-US" b="1" dirty="0">
              <a:solidFill>
                <a:schemeClr val="accent2">
                  <a:lumMod val="75000"/>
                </a:schemeClr>
              </a:solidFill>
              <a:latin typeface="Times New Roman" panose="02020603050405020304" pitchFamily="18" charset="0"/>
              <a:cs typeface="Times New Roman" panose="02020603050405020304" pitchFamily="18" charset="0"/>
            </a:endParaRPr>
          </a:p>
          <a:p>
            <a:r>
              <a:rPr lang="en-US" b="1" dirty="0">
                <a:solidFill>
                  <a:schemeClr val="accent2">
                    <a:lumMod val="75000"/>
                  </a:schemeClr>
                </a:solidFill>
                <a:latin typeface="Times New Roman" panose="02020603050405020304" pitchFamily="18" charset="0"/>
                <a:cs typeface="Times New Roman" panose="02020603050405020304" pitchFamily="18" charset="0"/>
              </a:rPr>
              <a:t>The dashboard enables clear analysis of party performance, voter behavior, and electoral trends across regions and years.</a:t>
            </a:r>
            <a:endParaRPr lang="en-US" b="1" dirty="0">
              <a:solidFill>
                <a:schemeClr val="accent2">
                  <a:lumMod val="75000"/>
                </a:schemeClr>
              </a:solidFill>
              <a:latin typeface="Times New Roman" panose="02020603050405020304" pitchFamily="18" charset="0"/>
              <a:cs typeface="Times New Roman" panose="02020603050405020304" pitchFamily="18" charset="0"/>
            </a:endParaRPr>
          </a:p>
          <a:p>
            <a:r>
              <a:rPr lang="en-US" b="1" dirty="0">
                <a:solidFill>
                  <a:schemeClr val="accent2">
                    <a:lumMod val="75000"/>
                  </a:schemeClr>
                </a:solidFill>
                <a:latin typeface="Times New Roman" panose="02020603050405020304" pitchFamily="18" charset="0"/>
                <a:cs typeface="Times New Roman" panose="02020603050405020304" pitchFamily="18" charset="0"/>
              </a:rPr>
              <a:t>Interactive Power BI visuals make complex data easy to explore and understand.</a:t>
            </a:r>
            <a:endParaRPr lang="en-US" b="1" dirty="0">
              <a:solidFill>
                <a:schemeClr val="accent2">
                  <a:lumMod val="75000"/>
                </a:schemeClr>
              </a:solidFill>
              <a:latin typeface="Times New Roman" panose="02020603050405020304" pitchFamily="18" charset="0"/>
              <a:cs typeface="Times New Roman" panose="02020603050405020304" pitchFamily="18" charset="0"/>
            </a:endParaRPr>
          </a:p>
          <a:p>
            <a:r>
              <a:rPr lang="en-US" b="1" dirty="0">
                <a:solidFill>
                  <a:schemeClr val="accent2">
                    <a:lumMod val="75000"/>
                  </a:schemeClr>
                </a:solidFill>
                <a:latin typeface="Times New Roman" panose="02020603050405020304" pitchFamily="18" charset="0"/>
                <a:cs typeface="Times New Roman" panose="02020603050405020304" pitchFamily="18" charset="0"/>
              </a:rPr>
              <a:t>This project demonstrates the effective use of data preprocessing, analytical modeling, and visual storytelling for decision support.</a:t>
            </a:r>
            <a:endParaRPr lang="en-US" b="1" dirty="0">
              <a:solidFill>
                <a:schemeClr val="accent2">
                  <a:lumMod val="75000"/>
                </a:schemeClr>
              </a:solidFill>
              <a:latin typeface="Times New Roman" panose="02020603050405020304" pitchFamily="18" charset="0"/>
              <a:cs typeface="Times New Roman" panose="02020603050405020304" pitchFamily="18" charset="0"/>
            </a:endParaRPr>
          </a:p>
          <a:p>
            <a:r>
              <a:rPr lang="en-US" b="1" dirty="0">
                <a:solidFill>
                  <a:schemeClr val="accent2">
                    <a:lumMod val="75000"/>
                  </a:schemeClr>
                </a:solidFill>
                <a:latin typeface="Times New Roman" panose="02020603050405020304" pitchFamily="18" charset="0"/>
                <a:cs typeface="Times New Roman" panose="02020603050405020304" pitchFamily="18" charset="0"/>
              </a:rPr>
              <a:t>ElectViz can be further enhanced with predictive analytics and real-time data to support advanced electoral analysis.</a:t>
            </a:r>
            <a:endParaRPr lang="en-US" b="1" dirty="0">
              <a:solidFill>
                <a:schemeClr val="accent2">
                  <a:lumMod val="75000"/>
                </a:schemeClr>
              </a:solidFill>
              <a:latin typeface="Times New Roman" panose="02020603050405020304" pitchFamily="18" charset="0"/>
              <a:cs typeface="Times New Roman" panose="02020603050405020304" pitchFamily="18" charset="0"/>
            </a:endParaRPr>
          </a:p>
          <a:p>
            <a:pPr marL="0" indent="0" algn="just">
              <a:buNone/>
            </a:pPr>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1123837"/>
            <a:ext cx="3210560" cy="4616563"/>
          </a:xfrm>
        </p:spPr>
        <p:txBody>
          <a:bodyPr>
            <a:normAutofit fontScale="90000"/>
          </a:bodyPr>
          <a:lstStyle/>
          <a:p>
            <a:pPr algn="ctr"/>
            <a:br>
              <a:rPr lang="en-US" b="1" dirty="0">
                <a:effectLst/>
              </a:rPr>
            </a:br>
            <a:br>
              <a:rPr lang="en-US" b="1" dirty="0">
                <a:effectLst/>
              </a:rPr>
            </a:br>
            <a:br>
              <a:rPr lang="en-US" b="1" dirty="0">
                <a:effectLst/>
              </a:rPr>
            </a:br>
            <a:br>
              <a:rPr lang="en-US" b="1" dirty="0">
                <a:effectLst/>
              </a:rPr>
            </a:br>
            <a:br>
              <a:rPr lang="en-US" b="1" dirty="0">
                <a:effectLst/>
              </a:rPr>
            </a:br>
            <a:br>
              <a:rPr lang="en-US" b="1" dirty="0">
                <a:effectLst/>
              </a:rPr>
            </a:br>
            <a:br>
              <a:rPr lang="en-US" b="1" dirty="0">
                <a:effectLst/>
              </a:rPr>
            </a:br>
            <a:br>
              <a:rPr lang="en-US" b="1" dirty="0">
                <a:effectLst/>
              </a:rPr>
            </a:br>
            <a:r>
              <a:rPr lang="en-US" b="1" dirty="0">
                <a:effectLst/>
              </a:rPr>
              <a:t>Acknowledgment</a:t>
            </a:r>
            <a:br>
              <a:rPr lang="en-US" b="1" dirty="0">
                <a:effectLst/>
              </a:rPr>
            </a:br>
            <a:r>
              <a:rPr lang="en-US" b="1" dirty="0">
                <a:effectLst/>
              </a:rPr>
              <a:t>&amp;</a:t>
            </a:r>
            <a:br>
              <a:rPr lang="en-US" b="1" dirty="0">
                <a:effectLst/>
              </a:rPr>
            </a:br>
            <a:r>
              <a:rPr lang="en-US" b="1" dirty="0">
                <a:effectLst/>
              </a:rPr>
              <a:t>References</a:t>
            </a:r>
            <a:br>
              <a:rPr lang="en-US" sz="3200" b="1" dirty="0"/>
            </a:br>
            <a:br>
              <a:rPr lang="en-US" sz="3200" dirty="0"/>
            </a:br>
            <a:br>
              <a:rPr lang="en-US" sz="3200" dirty="0"/>
            </a:br>
            <a:br>
              <a:rPr lang="en-US" sz="3200" dirty="0"/>
            </a:br>
            <a:br>
              <a:rPr lang="en-US" sz="3200" dirty="0"/>
            </a:br>
            <a:br>
              <a:rPr lang="en-US" sz="3200" dirty="0"/>
            </a:br>
            <a:br>
              <a:rPr lang="en-US" sz="3200" dirty="0"/>
            </a:br>
            <a:br>
              <a:rPr lang="en-US" sz="3200" dirty="0"/>
            </a:br>
            <a:br>
              <a:rPr lang="en-US" sz="3200" dirty="0"/>
            </a:br>
            <a:br>
              <a:rPr lang="en-US" sz="3200" dirty="0"/>
            </a:br>
            <a:endParaRPr lang="en-IN" sz="3200" b="1" dirty="0">
              <a:latin typeface="Arial Black" panose="020B0A04020102020204" pitchFamily="34" charset="0"/>
            </a:endParaRPr>
          </a:p>
        </p:txBody>
      </p:sp>
      <p:sp>
        <p:nvSpPr>
          <p:cNvPr id="3" name="Content Placeholder 2"/>
          <p:cNvSpPr>
            <a:spLocks noGrp="1"/>
          </p:cNvSpPr>
          <p:nvPr>
            <p:ph idx="1"/>
          </p:nvPr>
        </p:nvSpPr>
        <p:spPr>
          <a:xfrm>
            <a:off x="3869055" y="741680"/>
            <a:ext cx="7315200" cy="3389630"/>
          </a:xfrm>
          <a:noFill/>
        </p:spPr>
        <p:txBody>
          <a:bodyPr/>
          <a:lstStyle/>
          <a:p>
            <a:pPr marL="0" indent="0" algn="ctr">
              <a:buNone/>
            </a:pPr>
            <a:r>
              <a:rPr lang="en-US" b="1" dirty="0">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rgbClr val="002060"/>
                </a:solidFill>
                <a:effectLst/>
              </a:rPr>
              <a:t>We sincerely thank the Infosys Springboard Team for organizing this valuable internship opportunity. We are grateful to our mentor for her continuous guidance and support, and to our teammates for their collaboration and encouragement.</a:t>
            </a:r>
            <a:endParaRPr lang="en-US" b="1" dirty="0">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rgbClr val="002060"/>
              </a:solidFill>
              <a:effectLst/>
            </a:endParaRPr>
          </a:p>
          <a:p>
            <a:pPr marL="0" indent="0" algn="ctr">
              <a:buNone/>
            </a:pPr>
            <a:endParaRPr lang="en-US" b="1" dirty="0">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rgbClr val="002060"/>
              </a:solidFill>
              <a:effectLst/>
            </a:endParaRPr>
          </a:p>
          <a:p>
            <a:pPr marL="0" indent="0" algn="ctr">
              <a:buNone/>
            </a:pPr>
            <a:r>
              <a:rPr lang="en-US" b="1" dirty="0">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rgbClr val="002060"/>
                </a:solidFill>
                <a:effectLst/>
              </a:rPr>
              <a:t>This internship has been an important step in our professional and technical growth.</a:t>
            </a:r>
            <a:endParaRPr lang="en-US" b="1" dirty="0">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rgbClr val="002060"/>
              </a:solidFill>
              <a:effectLst/>
            </a:endParaRPr>
          </a:p>
          <a:p>
            <a:pPr marL="0" indent="0" algn="just">
              <a:buNone/>
            </a:pPr>
            <a:endParaRPr lang="en-IN" dirty="0"/>
          </a:p>
        </p:txBody>
      </p:sp>
      <p:sp>
        <p:nvSpPr>
          <p:cNvPr id="4" name="Text Box 3"/>
          <p:cNvSpPr txBox="1"/>
          <p:nvPr>
            <p:custDataLst>
              <p:tags r:id="rId1"/>
            </p:custDataLst>
          </p:nvPr>
        </p:nvSpPr>
        <p:spPr>
          <a:xfrm>
            <a:off x="4129405" y="4131310"/>
            <a:ext cx="7342505" cy="1990090"/>
          </a:xfrm>
          <a:prstGeom prst="rect">
            <a:avLst/>
          </a:prstGeom>
          <a:noFill/>
        </p:spPr>
        <p:txBody>
          <a:bodyPr wrap="square" rtlCol="0">
            <a:noAutofit/>
          </a:bodyPr>
          <a:p>
            <a:r>
              <a:rPr lang="en-US" altLang="en-US" b="1">
                <a:solidFill>
                  <a:schemeClr val="tx1">
                    <a:lumMod val="60000"/>
                    <a:lumOff val="40000"/>
                  </a:schemeClr>
                </a:solidFill>
              </a:rPr>
              <a:t>References</a:t>
            </a:r>
            <a:endParaRPr lang="en-US" altLang="en-US" b="1">
              <a:solidFill>
                <a:schemeClr val="tx1">
                  <a:lumMod val="60000"/>
                  <a:lumOff val="40000"/>
                </a:schemeClr>
              </a:solidFill>
            </a:endParaRPr>
          </a:p>
          <a:p>
            <a:pPr marL="285750" lvl="0" indent="-285750">
              <a:buFont typeface="Arial" panose="020B0604020202020204" pitchFamily="34" charset="0"/>
              <a:buChar char="•"/>
            </a:pPr>
            <a:r>
              <a:rPr lang="en-US" sz="1600" b="1"/>
              <a:t>Election Commission of India (ECI) statistical reports on general elections (2009–2021).</a:t>
            </a:r>
            <a:endParaRPr lang="en-US" sz="1600" b="1"/>
          </a:p>
          <a:p>
            <a:pPr marL="285750" lvl="0" indent="-285750">
              <a:buFont typeface="Arial" panose="020B0604020202020204" pitchFamily="34" charset="0"/>
              <a:buChar char="•"/>
            </a:pPr>
            <a:r>
              <a:rPr lang="en-US" sz="1600" b="1"/>
              <a:t>Infosys Springboard data visualization internship 6.0 – learning resources and project guidelines.</a:t>
            </a:r>
            <a:endParaRPr lang="en-US" sz="1600" b="1"/>
          </a:p>
          <a:p>
            <a:pPr marL="285750" lvl="0" indent="-285750">
              <a:buFont typeface="Arial" panose="020B0604020202020204" pitchFamily="34" charset="0"/>
              <a:buChar char="•"/>
            </a:pPr>
            <a:r>
              <a:rPr lang="en-US" sz="1600" b="1"/>
              <a:t>Microsoft Learn DAX (Data Analysis Expressions) reference guide.</a:t>
            </a:r>
            <a:endParaRPr lang="en-US" sz="1600" b="1"/>
          </a:p>
          <a:p>
            <a:pPr marL="285750" indent="-285750">
              <a:buFont typeface="Arial" panose="020B0604020202020204" pitchFamily="34" charset="0"/>
              <a:buChar char="•"/>
            </a:pPr>
            <a:r>
              <a:rPr lang="en-US" sz="1600" b="1"/>
              <a:t>Power Query documentation – Microsoft Learn</a:t>
            </a:r>
            <a:r>
              <a:rPr lang="en-US" sz="1600"/>
              <a:t>.</a:t>
            </a:r>
            <a:endParaRPr lang="en-US" sz="16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69848" y="1298448"/>
            <a:ext cx="7315200" cy="2130552"/>
          </a:xfrm>
        </p:spPr>
        <p:txBody>
          <a:bodyPr/>
          <a:lstStyle/>
          <a:p>
            <a:r>
              <a:rPr lang="en-US" b="1" dirty="0">
                <a:effectLst>
                  <a:glow rad="38100">
                    <a:schemeClr val="tx2">
                      <a:lumMod val="75000"/>
                    </a:schemeClr>
                  </a:glow>
                </a:effectLst>
                <a:latin typeface="Arial Black" panose="020B0A04020102020204" pitchFamily="34" charset="0"/>
              </a:rPr>
              <a:t>Thankyou</a:t>
            </a:r>
            <a:endParaRPr lang="en-IN" b="1" dirty="0">
              <a:effectLst>
                <a:glow rad="38100">
                  <a:schemeClr val="tx2">
                    <a:lumMod val="75000"/>
                  </a:schemeClr>
                </a:glow>
              </a:effectLst>
              <a:latin typeface="Arial Black" panose="020B0A04020102020204" pitchFamily="34" charset="0"/>
            </a:endParaRPr>
          </a:p>
        </p:txBody>
      </p:sp>
    </p:spTree>
  </p:cSld>
  <p:clrMapOvr>
    <a:masterClrMapping/>
  </p:clrMapOvr>
</p:sld>
</file>

<file path=ppt/tags/tag1.xml><?xml version="1.0" encoding="utf-8"?>
<p:tagLst xmlns:p="http://schemas.openxmlformats.org/presentationml/2006/main">
  <p:tag name="wpp_generatetext" val="1"/>
</p:tagLst>
</file>

<file path=ppt/theme/theme1.xml><?xml version="1.0" encoding="utf-8"?>
<a:theme xmlns:a="http://schemas.openxmlformats.org/drawingml/2006/main" name="Frame">
  <a:themeElements>
    <a:clrScheme name="Custom 1">
      <a:dk1>
        <a:srgbClr val="17406D"/>
      </a:dk1>
      <a:lt1>
        <a:sysClr val="window" lastClr="FFFFFF"/>
      </a:lt1>
      <a:dk2>
        <a:srgbClr val="17406D"/>
      </a:dk2>
      <a:lt2>
        <a:srgbClr val="17406D"/>
      </a:lt2>
      <a:accent1>
        <a:srgbClr val="17406D"/>
      </a:accent1>
      <a:accent2>
        <a:srgbClr val="17406D"/>
      </a:accent2>
      <a:accent3>
        <a:srgbClr val="0BD0D9"/>
      </a:accent3>
      <a:accent4>
        <a:srgbClr val="10CF9B"/>
      </a:accent4>
      <a:accent5>
        <a:srgbClr val="7CCA62"/>
      </a:accent5>
      <a:accent6>
        <a:srgbClr val="A5C249"/>
      </a:accent6>
      <a:hlink>
        <a:srgbClr val="F49100"/>
      </a:hlink>
      <a:folHlink>
        <a:srgbClr val="17406D"/>
      </a:folHlink>
    </a:clrScheme>
    <a:fontScheme name="Frame">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{D2846DD4-3D67-4B2D-97FD-9FACDC3B1432}TF5b254a55-10e1-4643-bbf8-937ce7de93d8c0d90256-2070aae5d615</Template>
  <TotalTime>0</TotalTime>
  <Words>4108</Words>
  <Application>WPS Presentation</Application>
  <PresentationFormat>Widescreen</PresentationFormat>
  <Paragraphs>114</Paragraphs>
  <Slides>11</Slides>
  <Notes>2</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11</vt:i4>
      </vt:variant>
    </vt:vector>
  </HeadingPairs>
  <TitlesOfParts>
    <vt:vector size="22" baseType="lpstr">
      <vt:lpstr>Arial</vt:lpstr>
      <vt:lpstr>SimSun</vt:lpstr>
      <vt:lpstr>Wingdings</vt:lpstr>
      <vt:lpstr>Wingdings 2</vt:lpstr>
      <vt:lpstr>Arial Black</vt:lpstr>
      <vt:lpstr>Calibri</vt:lpstr>
      <vt:lpstr>Times New Roman</vt:lpstr>
      <vt:lpstr>Corbel</vt:lpstr>
      <vt:lpstr>Microsoft YaHei</vt:lpstr>
      <vt:lpstr>Arial Unicode MS</vt:lpstr>
      <vt:lpstr>Frame</vt:lpstr>
      <vt:lpstr> ELECTVIZ</vt:lpstr>
      <vt:lpstr>Introduction</vt:lpstr>
      <vt:lpstr>Milestones</vt:lpstr>
      <vt:lpstr> System Design                             – High Level Architecture</vt:lpstr>
      <vt:lpstr>PowerPoint 演示文稿</vt:lpstr>
      <vt:lpstr>PowerPoint 演示文稿</vt:lpstr>
      <vt:lpstr>Key Insights Gained – ElectViz Dashboard</vt:lpstr>
      <vt:lpstr>Future Enhancements</vt:lpstr>
      <vt:lpstr>        Conclusion          </vt:lpstr>
      <vt:lpstr>        Acknowledgment &amp; References          </vt:lpstr>
      <vt:lpstr>Thankyou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Diksha Palliwal</dc:creator>
  <cp:lastModifiedBy>Diksha Palliwal</cp:lastModifiedBy>
  <cp:revision>4</cp:revision>
  <dcterms:created xsi:type="dcterms:W3CDTF">2026-02-12T11:57:00Z</dcterms:created>
  <dcterms:modified xsi:type="dcterms:W3CDTF">2026-02-23T09:53:51Z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BA02283E3DC8456EBF94EB1569C0CBA6_12</vt:lpwstr>
  </property>
  <property fmtid="{D5CDD505-2E9C-101B-9397-08002B2CF9AE}" pid="3" name="KSOProductBuildVer">
    <vt:lpwstr>1033-12.2.0.23196</vt:lpwstr>
  </property>
</Properties>
</file>