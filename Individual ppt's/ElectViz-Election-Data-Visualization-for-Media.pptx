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slideLayout" Target="../slideLayouts/slideLayout9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28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ElectViz – Election Data Visualization for Media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50607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Power BI solution for analyzing electoral trends, party performance, and voter behaviour across India's democratic landscape (2009-2021)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233863"/>
            <a:ext cx="1366480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278" y="4347210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8455" y="4301847"/>
            <a:ext cx="82212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60018" y="4226243"/>
            <a:ext cx="1425059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3726" y="4347210"/>
            <a:ext cx="181451" cy="181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5903" y="4301847"/>
            <a:ext cx="86546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2009-2021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280190" y="474035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12" name="Text 7"/>
          <p:cNvSpPr/>
          <p:nvPr/>
        </p:nvSpPr>
        <p:spPr>
          <a:xfrm>
            <a:off x="6280190" y="5505807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280190" y="6101120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Creator: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SHARMIKA SHRI R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280190" y="6696432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Mentor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Mrs.Nithyasri S.J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8529"/>
            <a:ext cx="169926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3790" y="1999417"/>
            <a:ext cx="110623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India's Electoral Complexity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048357"/>
            <a:ext cx="4196358" cy="3680579"/>
          </a:xfrm>
          <a:prstGeom prst="roundRect">
            <a:avLst>
              <a:gd name="adj" fmla="val 258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282791"/>
            <a:ext cx="31367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Scale of Indian Elections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773210"/>
            <a:ext cx="3727490" cy="272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India's elections represent one of the world's largest democratic exercises, generating massive datasets encompassing thousands of candidates, multiple political parties, diverse constituencies, and millions of votes cast across varied demographics.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048357"/>
            <a:ext cx="4196358" cy="3680579"/>
          </a:xfrm>
          <a:prstGeom prst="roundRect">
            <a:avLst>
              <a:gd name="adj" fmla="val 258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282791"/>
            <a:ext cx="2839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Traditional Challenges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773210"/>
            <a:ext cx="372749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analytical methods struggle with this scale and complexity, making it difficult to extract meaningful patterns and insights from raw electoral data.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048357"/>
            <a:ext cx="4196358" cy="3680579"/>
          </a:xfrm>
          <a:prstGeom prst="roundRect">
            <a:avLst>
              <a:gd name="adj" fmla="val 258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282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ElectViz Solution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773210"/>
            <a:ext cx="3727490" cy="272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ElectViz transforms this challenge into opportunity through interactive visualization, enabling stakeholders to quickly understand party performance trends, voter turnout patterns, demographic shifts, and constituency-level outcomes with clarity and precision.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949" y="843915"/>
            <a:ext cx="1554242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949" y="1147643"/>
            <a:ext cx="7101126" cy="561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Design and Data Workflow</a:t>
            </a:r>
            <a:endParaRPr lang="en-US" sz="3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949" y="1922026"/>
            <a:ext cx="897969" cy="10775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59079" y="2101572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Collection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159079" y="2467451"/>
            <a:ext cx="1135225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datasets spanning multiple election cycles, covering candidates, parties, constituencies, and voting statistics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49" y="2999542"/>
            <a:ext cx="897969" cy="1207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59079" y="3179088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2159079" y="3544967"/>
            <a:ext cx="11352252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 and standardization processes to eliminate inconsistencies, handle missing values, and ensure data quality using power query editor in PowerBI.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49" y="4206954"/>
            <a:ext cx="897969" cy="10775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59079" y="4386501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Modeling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2159079" y="4752380"/>
            <a:ext cx="1135225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relationships between entities—candidates, parties, states, constituencies, and election years for comprehensive analysis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49" y="5284470"/>
            <a:ext cx="897969" cy="10775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59079" y="5464016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Metric Calculation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2159079" y="5829895"/>
            <a:ext cx="1135225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DAX formulas computing vote share percentages, seats won, voter turnout rates, and winning margin statistics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949" y="6361986"/>
            <a:ext cx="897969" cy="10775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59079" y="6541532"/>
            <a:ext cx="2527816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Development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2159079" y="6907411"/>
            <a:ext cx="1135225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visualizations using charts, maps, KPIs, and dynamic slicers enabling multi-dimensional exploration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40675"/>
            <a:ext cx="9254966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Features and Capabilities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80812" y="1666994"/>
            <a:ext cx="3102531" cy="2948940"/>
          </a:xfrm>
          <a:prstGeom prst="roundRect">
            <a:avLst>
              <a:gd name="adj" fmla="val 317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1436" y="1897618"/>
            <a:ext cx="2641283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Party Performance Analysis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011436" y="2726174"/>
            <a:ext cx="2641283" cy="132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seats won and vote share percentages across multiple parties and election cycles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02775" y="1666994"/>
            <a:ext cx="3102650" cy="2948940"/>
          </a:xfrm>
          <a:prstGeom prst="roundRect">
            <a:avLst>
              <a:gd name="adj" fmla="val 317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3399" y="1897618"/>
            <a:ext cx="2641402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Geographic Visualization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333399" y="2726174"/>
            <a:ext cx="2641402" cy="132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State-wise electoral maps revealing regional voting patterns and constituency distributions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4857" y="1666994"/>
            <a:ext cx="3102650" cy="2948940"/>
          </a:xfrm>
          <a:prstGeom prst="roundRect">
            <a:avLst>
              <a:gd name="adj" fmla="val 317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5481" y="1897618"/>
            <a:ext cx="2641402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Demographic Insights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55481" y="2726174"/>
            <a:ext cx="2641402" cy="165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 distribution of candidates and voting behavior analysis across different demographic segments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6938" y="1666994"/>
            <a:ext cx="3102650" cy="2948940"/>
          </a:xfrm>
          <a:prstGeom prst="roundRect">
            <a:avLst>
              <a:gd name="adj" fmla="val 317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7562" y="1897618"/>
            <a:ext cx="2641402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Trend Identification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0977562" y="2377678"/>
            <a:ext cx="2641402" cy="165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Year-over-year comparisons showing electoral shifts, winning margins, and participation rates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80812" y="4945023"/>
            <a:ext cx="4838462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Transforming Data into Understanding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80812" y="5622607"/>
            <a:ext cx="13068776" cy="16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visualization of complex electoral dynamics across multiple dimensions</a:t>
            </a:r>
            <a:endParaRPr lang="en-US" sz="17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State-level and party-level performance comparisons enabling strategic analysis</a:t>
            </a:r>
            <a:endParaRPr lang="en-US" sz="17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 patterns revealing candidate diversity and representation trends</a:t>
            </a:r>
            <a:endParaRPr lang="en-US" sz="17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filtering allowing customized views for specific research questions</a:t>
            </a:r>
            <a:endParaRPr lang="en-US" sz="17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trend analysis showcasing electoral evolution over 13 years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0116"/>
            <a:ext cx="6612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 and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92523"/>
            <a:ext cx="4196358" cy="3000256"/>
          </a:xfrm>
          <a:prstGeom prst="roundRect">
            <a:avLst>
              <a:gd name="adj" fmla="val 31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326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Scale of Elections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817376"/>
            <a:ext cx="3727490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dashboard analyzes Indian election data from 2009 to 2021, covering more than 4,000 constituencies across the country. A total of 91,000+ candidates participated in the elections.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092523"/>
            <a:ext cx="4196358" cy="3000256"/>
          </a:xfrm>
          <a:prstGeom prst="roundRect">
            <a:avLst>
              <a:gd name="adj" fmla="val 31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326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Voter Participation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2817376"/>
            <a:ext cx="372749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total number of votes recorded is approximately 1.53 billion, showing strong voter participation.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092523"/>
            <a:ext cx="4196358" cy="3000256"/>
          </a:xfrm>
          <a:prstGeom prst="roundRect">
            <a:avLst>
              <a:gd name="adj" fmla="val 31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326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Party Dominance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2817376"/>
            <a:ext cx="3727490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BJP and INC emerge as the dominant parties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terms of total seats won over multiple election cycles. Vote share analysis highlights close competition among major parties.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19593"/>
            <a:ext cx="64079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554028"/>
            <a:ext cx="32905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Candidate Demographics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6044446"/>
            <a:ext cx="59390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Middle-aged candidates have won the highest number of seats. Male candidates form the majority, with significantly lower female participation.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5319593"/>
            <a:ext cx="64079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554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Electoral Trends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6044446"/>
            <a:ext cx="59390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State-wise voter turnout varies widely. Trend analysis reveals fluctuations in winning margins and close contests, indicating increasing electoral competitiveness.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6458" y="667345"/>
            <a:ext cx="1228249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6458" y="966192"/>
            <a:ext cx="4441150" cy="555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186458" y="1729859"/>
            <a:ext cx="12257484" cy="106584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9318" y="1752719"/>
            <a:ext cx="710565" cy="1020128"/>
          </a:xfrm>
          <a:prstGeom prst="roundRect">
            <a:avLst>
              <a:gd name="adj" fmla="val 6640"/>
            </a:avLst>
          </a:prstGeom>
          <a:solidFill>
            <a:srgbClr val="D9EDF2"/>
          </a:solidFill>
          <a:ln/>
        </p:spPr>
      </p:sp>
      <p:sp>
        <p:nvSpPr>
          <p:cNvPr id="6" name="Text 4"/>
          <p:cNvSpPr/>
          <p:nvPr/>
        </p:nvSpPr>
        <p:spPr>
          <a:xfrm>
            <a:off x="1427559" y="2096214"/>
            <a:ext cx="26646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2058948" y="1930360"/>
            <a:ext cx="267676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Data Integration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58948" y="2291358"/>
            <a:ext cx="111844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live election data feeds for immediate analysis during active electoral cycles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86458" y="2934772"/>
            <a:ext cx="12257484" cy="106584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9318" y="2957632"/>
            <a:ext cx="710565" cy="1020128"/>
          </a:xfrm>
          <a:prstGeom prst="roundRect">
            <a:avLst>
              <a:gd name="adj" fmla="val 6640"/>
            </a:avLst>
          </a:prstGeom>
          <a:solidFill>
            <a:srgbClr val="D9EDF2"/>
          </a:solidFill>
          <a:ln/>
        </p:spPr>
      </p:sp>
      <p:sp>
        <p:nvSpPr>
          <p:cNvPr id="11" name="Text 9"/>
          <p:cNvSpPr/>
          <p:nvPr/>
        </p:nvSpPr>
        <p:spPr>
          <a:xfrm>
            <a:off x="1427559" y="3301127"/>
            <a:ext cx="26646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2058948" y="3135273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Predictive Analytics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58948" y="3496270"/>
            <a:ext cx="111844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machine learning algorithms to forecast election outcomes based on historical patterns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86458" y="4139684"/>
            <a:ext cx="12257484" cy="106584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9318" y="4162544"/>
            <a:ext cx="710565" cy="1020128"/>
          </a:xfrm>
          <a:prstGeom prst="roundRect">
            <a:avLst>
              <a:gd name="adj" fmla="val 6640"/>
            </a:avLst>
          </a:prstGeom>
          <a:solidFill>
            <a:srgbClr val="D9EDF2"/>
          </a:solidFill>
          <a:ln/>
        </p:spPr>
      </p:sp>
      <p:sp>
        <p:nvSpPr>
          <p:cNvPr id="16" name="Text 14"/>
          <p:cNvSpPr/>
          <p:nvPr/>
        </p:nvSpPr>
        <p:spPr>
          <a:xfrm>
            <a:off x="1427559" y="4506039"/>
            <a:ext cx="26646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2058948" y="4340185"/>
            <a:ext cx="2894290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Enhanced Candidate Profiles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58948" y="4701183"/>
            <a:ext cx="111844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additional dimensions including educational backgrounds, criminal records, and asset declarations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86458" y="5344597"/>
            <a:ext cx="12257484" cy="106584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9318" y="5367457"/>
            <a:ext cx="710565" cy="1020128"/>
          </a:xfrm>
          <a:prstGeom prst="roundRect">
            <a:avLst>
              <a:gd name="adj" fmla="val 6640"/>
            </a:avLst>
          </a:prstGeom>
          <a:solidFill>
            <a:srgbClr val="D9EDF2"/>
          </a:solidFill>
          <a:ln/>
        </p:spPr>
      </p:sp>
      <p:sp>
        <p:nvSpPr>
          <p:cNvPr id="21" name="Text 19"/>
          <p:cNvSpPr/>
          <p:nvPr/>
        </p:nvSpPr>
        <p:spPr>
          <a:xfrm>
            <a:off x="1427559" y="5710952"/>
            <a:ext cx="26646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2058948" y="5545098"/>
            <a:ext cx="24539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Constituency Deep-dive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58948" y="5906095"/>
            <a:ext cx="111844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granular drill-down analysis to individual constituency level with voter demographics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86458" y="6549509"/>
            <a:ext cx="12257484" cy="106584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9318" y="6572369"/>
            <a:ext cx="710565" cy="1020128"/>
          </a:xfrm>
          <a:prstGeom prst="roundRect">
            <a:avLst>
              <a:gd name="adj" fmla="val 6640"/>
            </a:avLst>
          </a:prstGeom>
          <a:solidFill>
            <a:srgbClr val="D9EDF2"/>
          </a:solidFill>
          <a:ln/>
        </p:spPr>
      </p:sp>
      <p:sp>
        <p:nvSpPr>
          <p:cNvPr id="26" name="Text 24"/>
          <p:cNvSpPr/>
          <p:nvPr/>
        </p:nvSpPr>
        <p:spPr>
          <a:xfrm>
            <a:off x="1427559" y="6915864"/>
            <a:ext cx="26646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2058948" y="6750010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Cloud Deployment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058948" y="7111008"/>
            <a:ext cx="111844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through Power BI Service for broader accessibility and collaborative analysis capabilities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753"/>
            <a:ext cx="19308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3790" y="11226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511742"/>
            <a:ext cx="4196358" cy="2335173"/>
          </a:xfrm>
          <a:prstGeom prst="roundRect">
            <a:avLst>
              <a:gd name="adj" fmla="val 6265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81262"/>
            <a:ext cx="4196358" cy="121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2171581"/>
            <a:ext cx="680442" cy="68044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2375654"/>
            <a:ext cx="272177" cy="2721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74351" y="307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Complex to Clear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51084" y="3569137"/>
            <a:ext cx="368177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transformed intricate electoral datasets into accessible, actionable insights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5216962" y="2511742"/>
            <a:ext cx="4196358" cy="2335173"/>
          </a:xfrm>
          <a:prstGeom prst="roundRect">
            <a:avLst>
              <a:gd name="adj" fmla="val 6265"/>
            </a:avLst>
          </a:prstGeom>
          <a:solidFill>
            <a:srgbClr val="FAF9F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62" y="2481262"/>
            <a:ext cx="4196358" cy="12192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860" y="2171581"/>
            <a:ext cx="680442" cy="68044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8933" y="2375654"/>
            <a:ext cx="272177" cy="27217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897523" y="307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Complex to Clear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5474256" y="3569137"/>
            <a:ext cx="368177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transformed intricate electoral datasets into accessible, actionable insights</a:t>
            </a:r>
            <a:endParaRPr lang="en-US" sz="1750" dirty="0"/>
          </a:p>
        </p:txBody>
      </p:sp>
      <p:sp>
        <p:nvSpPr>
          <p:cNvPr id="16" name="Shape 8"/>
          <p:cNvSpPr/>
          <p:nvPr/>
        </p:nvSpPr>
        <p:spPr>
          <a:xfrm>
            <a:off x="9640133" y="2511742"/>
            <a:ext cx="4196358" cy="2335173"/>
          </a:xfrm>
          <a:prstGeom prst="roundRect">
            <a:avLst>
              <a:gd name="adj" fmla="val 6265"/>
            </a:avLst>
          </a:prstGeom>
          <a:solidFill>
            <a:srgbClr val="FAF9F5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0133" y="2481262"/>
            <a:ext cx="4196358" cy="12192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98032" y="2171581"/>
            <a:ext cx="680442" cy="680442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02105" y="2375654"/>
            <a:ext cx="272177" cy="27217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0296525" y="3078718"/>
            <a:ext cx="28835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Comprehensive Vision</a:t>
            </a:r>
            <a:endParaRPr lang="en-US" sz="2200" dirty="0"/>
          </a:p>
        </p:txBody>
      </p:sp>
      <p:sp>
        <p:nvSpPr>
          <p:cNvPr id="21" name="Text 10"/>
          <p:cNvSpPr/>
          <p:nvPr/>
        </p:nvSpPr>
        <p:spPr>
          <a:xfrm>
            <a:off x="9897427" y="3569137"/>
            <a:ext cx="368177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holistic view of party performance, voter behaviour, and demographic patterns</a:t>
            </a:r>
            <a:endParaRPr lang="en-US" sz="1750" dirty="0"/>
          </a:p>
        </p:txBody>
      </p:sp>
      <p:sp>
        <p:nvSpPr>
          <p:cNvPr id="22" name="Shape 11"/>
          <p:cNvSpPr/>
          <p:nvPr/>
        </p:nvSpPr>
        <p:spPr>
          <a:xfrm>
            <a:off x="793790" y="5413891"/>
            <a:ext cx="6407944" cy="1995011"/>
          </a:xfrm>
          <a:prstGeom prst="roundRect">
            <a:avLst>
              <a:gd name="adj" fmla="val 7333"/>
            </a:avLst>
          </a:prstGeom>
          <a:solidFill>
            <a:srgbClr val="FAF9F5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790" y="5383411"/>
            <a:ext cx="6407944" cy="121920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540" y="5073729"/>
            <a:ext cx="680442" cy="680442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61614" y="5277803"/>
            <a:ext cx="272177" cy="272177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2546866" y="5980867"/>
            <a:ext cx="29017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Interactive Intelligence</a:t>
            </a:r>
            <a:endParaRPr lang="en-US" sz="2200" dirty="0"/>
          </a:p>
        </p:txBody>
      </p:sp>
      <p:sp>
        <p:nvSpPr>
          <p:cNvPr id="27" name="Text 13"/>
          <p:cNvSpPr/>
          <p:nvPr/>
        </p:nvSpPr>
        <p:spPr>
          <a:xfrm>
            <a:off x="1051084" y="6471285"/>
            <a:ext cx="589335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cross-state and multi-year comparisons through dynamic, user-driven exploration</a:t>
            </a:r>
            <a:endParaRPr lang="en-US" sz="1750" dirty="0"/>
          </a:p>
        </p:txBody>
      </p:sp>
      <p:sp>
        <p:nvSpPr>
          <p:cNvPr id="28" name="Shape 14"/>
          <p:cNvSpPr/>
          <p:nvPr/>
        </p:nvSpPr>
        <p:spPr>
          <a:xfrm>
            <a:off x="7428548" y="5413891"/>
            <a:ext cx="6407944" cy="1995011"/>
          </a:xfrm>
          <a:prstGeom prst="roundRect">
            <a:avLst>
              <a:gd name="adj" fmla="val 7333"/>
            </a:avLst>
          </a:prstGeom>
          <a:solidFill>
            <a:srgbClr val="FAF9F5"/>
          </a:solidFill>
          <a:ln/>
        </p:spPr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8548" y="5383411"/>
            <a:ext cx="6407944" cy="121920"/>
          </a:xfrm>
          <a:prstGeom prst="rect">
            <a:avLst/>
          </a:prstGeom>
        </p:spPr>
      </p:pic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92298" y="5073729"/>
            <a:ext cx="680442" cy="680442"/>
          </a:xfrm>
          <a:prstGeom prst="rect">
            <a:avLst/>
          </a:prstGeom>
        </p:spPr>
      </p:pic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496371" y="5277803"/>
            <a:ext cx="272177" cy="272177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9214842" y="5980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Proven Approach</a:t>
            </a:r>
            <a:endParaRPr lang="en-US" sz="2200" dirty="0"/>
          </a:p>
        </p:txBody>
      </p:sp>
      <p:sp>
        <p:nvSpPr>
          <p:cNvPr id="33" name="Text 16"/>
          <p:cNvSpPr/>
          <p:nvPr/>
        </p:nvSpPr>
        <p:spPr>
          <a:xfrm>
            <a:off x="7685842" y="6471285"/>
            <a:ext cx="589335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Power BI's effectiveness for large-scale political data analysis and visualization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040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608784"/>
            <a:ext cx="48276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Questions &amp; Discussion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515922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welcome your insights and queries about ElectViz and its applications in electoral data analysis.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24615"/>
            <a:ext cx="13042821" cy="3595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5515689"/>
            <a:ext cx="1371362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5636657"/>
            <a:ext cx="181451" cy="1814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9675" y="5591294"/>
            <a:ext cx="8117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78499" y="5515689"/>
            <a:ext cx="2046922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2208" y="5636657"/>
            <a:ext cx="181451" cy="1814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4384" y="5591294"/>
            <a:ext cx="148732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438769" y="5515689"/>
            <a:ext cx="1447086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2478" y="5636657"/>
            <a:ext cx="181451" cy="1814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54654" y="5591294"/>
            <a:ext cx="8874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2026-02-08T09:33:06Z</dcterms:created>
  <dcterms:modified xsi:type="dcterms:W3CDTF">2026-02-08T09:33:06Z</dcterms:modified>
</cp:coreProperties>
</file>