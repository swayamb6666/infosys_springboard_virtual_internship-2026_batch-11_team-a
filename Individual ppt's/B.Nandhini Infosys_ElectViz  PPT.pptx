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9" r:id="rId1"/>
  </p:sldMasterIdLst>
  <p:notesMasterIdLst>
    <p:notesMasterId r:id="rId14"/>
  </p:notesMasterIdLst>
  <p:sldIdLst>
    <p:sldId id="256" r:id="rId2"/>
    <p:sldId id="257" r:id="rId3"/>
    <p:sldId id="258" r:id="rId4"/>
    <p:sldId id="274" r:id="rId5"/>
    <p:sldId id="259" r:id="rId6"/>
    <p:sldId id="270" r:id="rId7"/>
    <p:sldId id="271" r:id="rId8"/>
    <p:sldId id="273" r:id="rId9"/>
    <p:sldId id="267" r:id="rId10"/>
    <p:sldId id="268" r:id="rId11"/>
    <p:sldId id="272" r:id="rId12"/>
    <p:sldId id="269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7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39E3D07-401E-4738-8697-244C859D712E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04C4EB-097C-4414-BCD2-56A004D7591F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95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04C4EB-097C-4414-BCD2-56A004D7591F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34414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C456CE-36DF-8FF3-7CA2-86D55DAC52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FDB9E67-18E8-5C8D-F4E9-CAF4074B810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3F06E-D1C8-7A40-CDAF-C4A23A1A9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3494F-92C4-4A6F-B3DE-29E8BC47DC98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61D743-CB51-7F44-77C8-3DDAD762A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A91767-1737-2CFD-7F8B-80D56D012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FC49E-C7A7-4A34-AE87-D7D2035A4E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88080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28859-55B7-5304-E76F-6181094F5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262398-5692-0568-8327-C38227E1B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006E4-56F8-8E4C-68D7-7E6EE4CE76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3494F-92C4-4A6F-B3DE-29E8BC47DC98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9AF015-0478-0B0F-2BF1-B3782706D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F43ED-4229-3AB8-A530-0C165C906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FC49E-C7A7-4A34-AE87-D7D2035A4E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61023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33FB0B-92B9-DF66-D711-E5ACEC565E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C7107C-E414-EA45-9F6A-B880D6815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1C95E1-58EA-7AC2-760F-FCD58A1DF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3494F-92C4-4A6F-B3DE-29E8BC47DC98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B9BCFA-8F4C-172E-174E-A80E45625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EB95CE-8B84-9219-30EA-CDB571C9D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FC49E-C7A7-4A34-AE87-D7D2035A4E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464032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5ED68-0A86-5002-12C1-D0CE42FFD7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32EE44-319A-FF0E-6F2D-651458E536D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2D751E-0E2C-00C2-1069-0514D17A1D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E656DE-4A17-4EB4-1068-C0C3095C59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3494F-92C4-4A6F-B3DE-29E8BC47DC98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9130AB-7DE1-A8E0-B6A2-C9744762E2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128727-8EF0-0BCD-4B5B-65190D2E7A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FC49E-C7A7-4A34-AE87-D7D2035A4E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859949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566F8-C0CF-E803-E3A6-81D0AD5A80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C5B7EC-46D3-D44E-9887-CC80B32D0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720250-2EBD-0EEB-364A-7B49B4A93F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0C9455-8CB3-567D-FD8C-E9B98ABD9F7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12F32B9-C416-56AE-BDA0-4D2C877E53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47AAB6-3A05-2562-6F9E-9AB06D30A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3494F-92C4-4A6F-B3DE-29E8BC47DC98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00EE17-7ACC-B6B0-F905-CC801ED16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5E785B-3D22-DA9B-DB2B-371C5C6A2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FC49E-C7A7-4A34-AE87-D7D2035A4E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943263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B9E71-53D8-2F1E-9B4B-49BEDA8BA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7B2987-CB96-8497-6819-BE4D012BFD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3494F-92C4-4A6F-B3DE-29E8BC47DC98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7373140-605D-6A51-8913-BA1739FD6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A81867-C18A-8297-0DAA-08562DA55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FC49E-C7A7-4A34-AE87-D7D2035A4E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035060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30A771-E07A-89C0-9501-777FCA8C90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3494F-92C4-4A6F-B3DE-29E8BC47DC98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C303B4-9EF5-7D34-9C59-F9D1C8CAA8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22E85D-7D80-D8A6-ADDB-21D05D136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FC49E-C7A7-4A34-AE87-D7D2035A4E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627365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D2BE6-494B-C02D-291B-568B40D737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25C1A7-997A-B563-B5D4-48058577C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D0D04A-34D3-AAE4-A729-61F77FB78E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E2C4B-19A7-83F8-5180-57A53187F7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3494F-92C4-4A6F-B3DE-29E8BC47DC98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C1B6BE-5ECA-F207-01B5-261C55FC8B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52A4AAD-52BB-188C-6FE5-D138A1492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FC49E-C7A7-4A34-AE87-D7D2035A4E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0374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274838-C115-BAB7-9C22-CF3CECBF7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1C9B6D-BDBB-7317-B82F-F6C7843F967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F96906-3525-D52D-F74C-CDCAD3F374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16CB09-42C8-5E41-4D76-39DABC194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3494F-92C4-4A6F-B3DE-29E8BC47DC98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0F58DB-603A-3741-F843-839551672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D41270-04FB-FEC7-9552-B7447F98C1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FC49E-C7A7-4A34-AE87-D7D2035A4E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0092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E661F-7ED9-003C-F781-70B0A7E7DD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C9DFB8-8028-B42D-903D-3C60922628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FD5EB4-7B02-EA7D-7514-BCF6E5E6C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3494F-92C4-4A6F-B3DE-29E8BC47DC98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95630B-1BBA-2004-0DB6-F7C969527B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43BC4-7591-41FB-611E-9F6B213DF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FC49E-C7A7-4A34-AE87-D7D2035A4E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8260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2784BC0-FEC9-C703-5778-67C9CA01681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49949A-0322-FE8A-D1DF-3CBC71C279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15D24D-1712-1D6F-00DC-74BA183AB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3494F-92C4-4A6F-B3DE-29E8BC47DC98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9F6BE-6D9D-ADD3-7A29-35609DF4A3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F02FFE-A2A7-FE74-CBA9-35141B2C8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FC49E-C7A7-4A34-AE87-D7D2035A4E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599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0A17ED3-893D-4692-C4C5-4A79A66A6E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C7360D-5900-93DE-1926-36EF51DE5B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05E087-BA95-F57B-FC8D-82B806E235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03494F-92C4-4A6F-B3DE-29E8BC47DC98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13A247-8419-78BA-6A38-516E2A8C7B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4E56B-04E3-7516-6BFA-C6CE4EEC9D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3FC49E-C7A7-4A34-AE87-D7D2035A4E3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42734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70" r:id="rId1"/>
    <p:sldLayoutId id="2147483771" r:id="rId2"/>
    <p:sldLayoutId id="2147483772" r:id="rId3"/>
    <p:sldLayoutId id="2147483773" r:id="rId4"/>
    <p:sldLayoutId id="2147483774" r:id="rId5"/>
    <p:sldLayoutId id="2147483775" r:id="rId6"/>
    <p:sldLayoutId id="2147483776" r:id="rId7"/>
    <p:sldLayoutId id="2147483777" r:id="rId8"/>
    <p:sldLayoutId id="2147483778" r:id="rId9"/>
    <p:sldLayoutId id="2147483779" r:id="rId10"/>
    <p:sldLayoutId id="214748378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awadhi123/indian-election-dataset?select=indian-state-level-election.csv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78B5F0-F59F-2D53-B961-2C4AEE4632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19200" y="2241755"/>
            <a:ext cx="10343535" cy="1396908"/>
          </a:xfrm>
        </p:spPr>
        <p:txBody>
          <a:bodyPr>
            <a:normAutofit/>
          </a:bodyPr>
          <a:lstStyle/>
          <a:p>
            <a:r>
              <a:rPr lang="en-IN" sz="4000" b="1" dirty="0" err="1">
                <a:solidFill>
                  <a:schemeClr val="tx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Infosys_ElectViz</a:t>
            </a:r>
            <a:br>
              <a:rPr lang="en-IN" sz="3600" b="1" dirty="0">
                <a:solidFill>
                  <a:schemeClr val="tx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sz="3600" b="1" dirty="0">
                <a:solidFill>
                  <a:schemeClr val="tx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Election Data Visualization for media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0954EE-76D5-37D9-AFB5-0B59B25DC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1780" y="4060724"/>
            <a:ext cx="3346848" cy="2180303"/>
          </a:xfrm>
        </p:spPr>
        <p:txBody>
          <a:bodyPr>
            <a:normAutofit/>
          </a:bodyPr>
          <a:lstStyle/>
          <a:p>
            <a:pPr algn="r"/>
            <a:r>
              <a:rPr lang="en-IN" sz="3000" b="1" dirty="0">
                <a:solidFill>
                  <a:schemeClr val="tx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By:</a:t>
            </a:r>
          </a:p>
          <a:p>
            <a:pPr algn="r"/>
            <a:r>
              <a:rPr lang="en-IN" sz="3000" b="1" dirty="0">
                <a:solidFill>
                  <a:schemeClr val="tx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B. Nandhini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A88E54-CB7F-E835-C32B-6DDE769324BA}"/>
              </a:ext>
            </a:extLst>
          </p:cNvPr>
          <p:cNvSpPr txBox="1"/>
          <p:nvPr/>
        </p:nvSpPr>
        <p:spPr>
          <a:xfrm>
            <a:off x="1032388" y="4180008"/>
            <a:ext cx="6096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3200" b="1" dirty="0">
                <a:solidFill>
                  <a:schemeClr val="tx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Mentor : </a:t>
            </a:r>
          </a:p>
          <a:p>
            <a:pPr algn="l"/>
            <a:r>
              <a:rPr lang="en-IN" sz="3200" b="1" dirty="0">
                <a:solidFill>
                  <a:schemeClr val="tx2">
                    <a:lumMod val="1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Mrs. Nithyasri S J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62035F-593D-F18F-8389-9B7FF7795338}"/>
              </a:ext>
            </a:extLst>
          </p:cNvPr>
          <p:cNvSpPr txBox="1"/>
          <p:nvPr/>
        </p:nvSpPr>
        <p:spPr>
          <a:xfrm>
            <a:off x="1219200" y="742476"/>
            <a:ext cx="1053034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Infosys Springboard Virtual Internship- 6.0 </a:t>
            </a:r>
          </a:p>
          <a:p>
            <a:pPr algn="ctr"/>
            <a:r>
              <a:rPr lang="en-IN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Batch-11 </a:t>
            </a:r>
          </a:p>
        </p:txBody>
      </p:sp>
    </p:spTree>
    <p:extLst>
      <p:ext uri="{BB962C8B-B14F-4D97-AF65-F5344CB8AC3E}">
        <p14:creationId xmlns:p14="http://schemas.microsoft.com/office/powerpoint/2010/main" val="30098045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E01B7-3FE7-A7B2-B5FC-961A836221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2" y="682685"/>
            <a:ext cx="10364453" cy="761104"/>
          </a:xfrm>
        </p:spPr>
        <p:txBody>
          <a:bodyPr>
            <a:normAutofit/>
          </a:bodyPr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9D572-0CA8-DD4F-6B33-607D3ADF2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72" y="1620254"/>
            <a:ext cx="10364453" cy="4555062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Elections generate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large, complex datasets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involving candidates, parties, voters and constituencies.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Manual analysis of election data is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time-consuming and error-prone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ElectViz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an interactive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 dashboard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designed to: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Analyze Indian election data across multiple years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Identify party performance, voter behavior and winning patterns</a:t>
            </a: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data-driven insights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political analysis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transform raw election data into 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clear, interactive and meaningful visual insights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72764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D721C-E20D-843B-BA5E-5F4BD055D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527" y="51551"/>
            <a:ext cx="10515600" cy="629486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System Design and Workflow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76CBC-119A-43DB-68BA-EE396E1E50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058778"/>
            <a:ext cx="12031579" cy="5799221"/>
          </a:xfrm>
        </p:spPr>
        <p:txBody>
          <a:bodyPr>
            <a:normAutofit fontScale="85000" lnSpcReduction="20000"/>
          </a:bodyPr>
          <a:lstStyle/>
          <a:p>
            <a:r>
              <a:rPr lang="en-IN" sz="3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Collection</a:t>
            </a:r>
            <a:endParaRPr lang="en-IN" sz="3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Historical Indian election data (candidates, votes, constituencies, parties, demographics)</a:t>
            </a:r>
          </a:p>
          <a:p>
            <a:r>
              <a:rPr lang="en-IN" sz="3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Pre-processing</a:t>
            </a:r>
            <a:endParaRPr lang="en-IN" sz="3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cleaning and formatting</a:t>
            </a: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Handling missing values</a:t>
            </a: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Creating calculated columns and measures using </a:t>
            </a:r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DAX</a:t>
            </a:r>
            <a:endParaRPr lang="en-I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sz="3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Modelling</a:t>
            </a:r>
            <a:endParaRPr lang="en-IN" sz="3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Establishing relationships between tables</a:t>
            </a: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Optimizing star schema for performance</a:t>
            </a:r>
          </a:p>
          <a:p>
            <a:r>
              <a:rPr lang="en-IN" sz="3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Visualization (Power BI)</a:t>
            </a:r>
            <a:endParaRPr lang="en-IN" sz="3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Interactive dashboards</a:t>
            </a: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Filters, slicers, drill-down features</a:t>
            </a:r>
          </a:p>
          <a:p>
            <a:r>
              <a:rPr lang="en-IN" sz="3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 Generation</a:t>
            </a:r>
            <a:endParaRPr lang="en-IN" sz="33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Trend analysis</a:t>
            </a: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Party performance comparison</a:t>
            </a:r>
          </a:p>
          <a:p>
            <a:pPr lvl="1"/>
            <a:r>
              <a:rPr lang="en-IN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Electability and winning factor evaluation</a:t>
            </a:r>
          </a:p>
          <a:p>
            <a:endParaRPr lang="en-IN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4EB041F-A57E-D65A-D8ED-2D81B25B7774}"/>
              </a:ext>
            </a:extLst>
          </p:cNvPr>
          <p:cNvSpPr/>
          <p:nvPr/>
        </p:nvSpPr>
        <p:spPr>
          <a:xfrm>
            <a:off x="8721212" y="1789471"/>
            <a:ext cx="2694039" cy="363794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Source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A4EDC88-BE51-286D-432D-AA9380C56855}"/>
              </a:ext>
            </a:extLst>
          </p:cNvPr>
          <p:cNvSpPr/>
          <p:nvPr/>
        </p:nvSpPr>
        <p:spPr>
          <a:xfrm>
            <a:off x="8721212" y="2450007"/>
            <a:ext cx="2694039" cy="58993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ETL / Data pre-processing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DA0DB9-0BCA-2308-00F4-FC9C95E463DB}"/>
              </a:ext>
            </a:extLst>
          </p:cNvPr>
          <p:cNvSpPr/>
          <p:nvPr/>
        </p:nvSpPr>
        <p:spPr>
          <a:xfrm>
            <a:off x="8721212" y="3268907"/>
            <a:ext cx="2694039" cy="499421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Storage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FBFA9A-58A4-F6AB-1668-4F99513F052E}"/>
              </a:ext>
            </a:extLst>
          </p:cNvPr>
          <p:cNvSpPr/>
          <p:nvPr/>
        </p:nvSpPr>
        <p:spPr>
          <a:xfrm>
            <a:off x="8721212" y="4065070"/>
            <a:ext cx="2694039" cy="58993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Modelling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33E0B3-4A65-56C3-C1E1-248962301377}"/>
              </a:ext>
            </a:extLst>
          </p:cNvPr>
          <p:cNvSpPr/>
          <p:nvPr/>
        </p:nvSpPr>
        <p:spPr>
          <a:xfrm>
            <a:off x="8721212" y="6087577"/>
            <a:ext cx="2694039" cy="58993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and Insights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7E2C2E-C686-024C-0E5E-48EB83FE4788}"/>
              </a:ext>
            </a:extLst>
          </p:cNvPr>
          <p:cNvSpPr/>
          <p:nvPr/>
        </p:nvSpPr>
        <p:spPr>
          <a:xfrm>
            <a:off x="8721212" y="5055343"/>
            <a:ext cx="2694039" cy="589936"/>
          </a:xfrm>
          <a:prstGeom prst="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Power BI Reports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98D9119-E552-433C-527E-0845944B9F91}"/>
              </a:ext>
            </a:extLst>
          </p:cNvPr>
          <p:cNvCxnSpPr>
            <a:cxnSpLocks/>
          </p:cNvCxnSpPr>
          <p:nvPr/>
        </p:nvCxnSpPr>
        <p:spPr>
          <a:xfrm>
            <a:off x="9910916" y="2153265"/>
            <a:ext cx="0" cy="29674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BB9555F-067F-7FCA-E9F1-A2C09DCCD232}"/>
              </a:ext>
            </a:extLst>
          </p:cNvPr>
          <p:cNvCxnSpPr/>
          <p:nvPr/>
        </p:nvCxnSpPr>
        <p:spPr>
          <a:xfrm>
            <a:off x="9910916" y="3039943"/>
            <a:ext cx="0" cy="22896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1CB76C6-BE3B-5C49-10EE-25EC7D350AF4}"/>
              </a:ext>
            </a:extLst>
          </p:cNvPr>
          <p:cNvCxnSpPr>
            <a:cxnSpLocks/>
          </p:cNvCxnSpPr>
          <p:nvPr/>
        </p:nvCxnSpPr>
        <p:spPr>
          <a:xfrm>
            <a:off x="9935497" y="3768328"/>
            <a:ext cx="0" cy="29674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059DD850-2396-7DF0-875A-1796B7B431E6}"/>
              </a:ext>
            </a:extLst>
          </p:cNvPr>
          <p:cNvCxnSpPr>
            <a:cxnSpLocks/>
          </p:cNvCxnSpPr>
          <p:nvPr/>
        </p:nvCxnSpPr>
        <p:spPr>
          <a:xfrm>
            <a:off x="9935497" y="4655006"/>
            <a:ext cx="0" cy="40033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9B9485F-FA92-6FEB-B101-82D3D29FE39C}"/>
              </a:ext>
            </a:extLst>
          </p:cNvPr>
          <p:cNvCxnSpPr>
            <a:cxnSpLocks/>
          </p:cNvCxnSpPr>
          <p:nvPr/>
        </p:nvCxnSpPr>
        <p:spPr>
          <a:xfrm>
            <a:off x="9910916" y="5645279"/>
            <a:ext cx="0" cy="44229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33396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66A4A-5737-D612-8AEE-5B5B539B54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Milestones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BEF9A-76D4-DEB0-17B9-CA3453D2B1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Milestone 1: Data Preparation &amp; Modeling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understanding, dataset exploration, and data cleaning performed.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Initial data modeling and relationships established in Power BI.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Milestone 2: Core Dashboard Development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Developed key dashboards: Election Overview, Party Performance, and Gender Distribution.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Focused on foundational insights and comparative analysis.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Milestone 3: Advanced Analytics Implementation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 advanced dashboards for Candidate Demographics and Electability analysis.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Created custom DAX measures for deeper performance insights.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Milestone 4: Trend &amp; Outcome Analysis</a:t>
            </a:r>
          </a:p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Implemented Trend Analysis and Winning Factor dashboards.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insights derived and complete project documentation prepared.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440158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55E09-EE15-CC41-7EBF-F6072198EE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Dashboard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BE828-7436-8E3A-66A2-DD05983093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ElectViz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consists of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7 analytical pages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Election Overview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Party Performance Analysis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Gender Distribution Analysis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Candidate Demographic Analysis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Electability Analysis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Trend Analysis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Election Outcome &amp; Winning Factor Analysis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Each page focuses on a </a:t>
            </a: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specific analytical objective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487593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4">
            <a:extLst>
              <a:ext uri="{FF2B5EF4-FFF2-40B4-BE49-F238E27FC236}">
                <a16:creationId xmlns:a16="http://schemas.microsoft.com/office/drawing/2014/main" id="{34B49F8B-5B1D-4D45-0F2F-17F44966E2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89" t="18637" r="36741" b="20957"/>
          <a:stretch>
            <a:fillRect/>
          </a:stretch>
        </p:blipFill>
        <p:spPr>
          <a:xfrm>
            <a:off x="85469" y="533534"/>
            <a:ext cx="6010531" cy="271830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6E6467F-E21E-DAC2-3B1A-D4A1CC193A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631" t="19649" r="36447" b="21403"/>
          <a:stretch>
            <a:fillRect/>
          </a:stretch>
        </p:blipFill>
        <p:spPr>
          <a:xfrm>
            <a:off x="6430298" y="633608"/>
            <a:ext cx="5555224" cy="25247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10E2D48-065A-3B01-1907-A95D5CCB329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764" t="18246" r="36579" b="20234"/>
          <a:stretch>
            <a:fillRect/>
          </a:stretch>
        </p:blipFill>
        <p:spPr>
          <a:xfrm>
            <a:off x="85469" y="3291346"/>
            <a:ext cx="6010531" cy="34290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95F1134-BDAC-464A-EEC9-520606A6500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26" t="18246" r="36316" b="20234"/>
          <a:stretch>
            <a:fillRect/>
          </a:stretch>
        </p:blipFill>
        <p:spPr>
          <a:xfrm>
            <a:off x="6430297" y="3324688"/>
            <a:ext cx="5604387" cy="339565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906EFC-FBB8-ABD1-5C68-8375E18EC0F9}"/>
              </a:ext>
            </a:extLst>
          </p:cNvPr>
          <p:cNvSpPr txBox="1"/>
          <p:nvPr/>
        </p:nvSpPr>
        <p:spPr>
          <a:xfrm>
            <a:off x="3215148" y="32364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N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Screenshots</a:t>
            </a: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8910680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5E21500-37EB-3488-05DE-2AE3739C3C9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37" t="18479" r="36316" b="20468"/>
          <a:stretch>
            <a:fillRect/>
          </a:stretch>
        </p:blipFill>
        <p:spPr>
          <a:xfrm>
            <a:off x="230542" y="146579"/>
            <a:ext cx="5310182" cy="296778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A50B8F9-DFE3-9CCA-3338-5B8806EB61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68" t="18479" r="36842" b="20468"/>
          <a:stretch>
            <a:fillRect/>
          </a:stretch>
        </p:blipFill>
        <p:spPr>
          <a:xfrm>
            <a:off x="6096000" y="146579"/>
            <a:ext cx="5310182" cy="299990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BEE311F-9E5E-D487-DFC9-2521FACC05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6" t="18947" r="36184" b="19766"/>
          <a:stretch>
            <a:fillRect/>
          </a:stretch>
        </p:blipFill>
        <p:spPr>
          <a:xfrm>
            <a:off x="2723535" y="3711514"/>
            <a:ext cx="6086168" cy="2826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525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9DF296-DE24-958C-CAA2-12D54D2028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5470" y="167150"/>
            <a:ext cx="10446773" cy="599768"/>
          </a:xfrm>
        </p:spPr>
        <p:txBody>
          <a:bodyPr>
            <a:normAutofit fontScale="90000"/>
          </a:bodyPr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Insights and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0A17AD-58F8-26BF-4F7B-411E0887C7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470" y="1140542"/>
            <a:ext cx="11808541" cy="555030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sz="2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</a:t>
            </a: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Overview Dashboard: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Seat dominance contrasts with competitive vote share and shrinking margins.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highlight national electoral trends and overall competition patterns.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Party Performance Dashboard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Few parties dominate wins, while regional strength and vote-seat gaps persist.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evaluate party dominance, performance shifts and electoral efficiency.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State-wise Analysis Dashboard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Electoral outcomes and turnout vary significantly by region.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understand state-level political behavior and regional influence.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Candidate Demographics Dashboard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Mid-aged, experienced, and repeat candidates show higher success rates.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assess how demographics and background impact electability.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Constituency-level Insights Dashboard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Swing seats and narrow margins heavily influence overall results.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identify competitive constituencies and local electoral dynamics.</a:t>
            </a:r>
          </a:p>
          <a:p>
            <a:pPr marL="0" indent="0">
              <a:buNone/>
            </a:pP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Winning Margin &amp; Trend Dashboard</a:t>
            </a:r>
          </a:p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Insight: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Declining margins indicate rising competition and electoral volatility.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Purpose: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To track competitiveness trends and identify stronghold vs battleground areas.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2700996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D6773-8570-D5DA-CF6C-887D3B87B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56791"/>
            <a:ext cx="10515600" cy="1325563"/>
          </a:xfrm>
        </p:spPr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Enhancements</a:t>
            </a:r>
            <a:b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0333423-BF1A-90E1-D2B5-123B3D590FC7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690688"/>
            <a:ext cx="9990221" cy="41477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Integration of 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real-time election data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Advanced </a:t>
            </a:r>
            <a:r>
              <a:rPr kumimoji="0" lang="en-US" altLang="en-US" sz="3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predictive analytics using ML</a:t>
            </a:r>
            <a:endParaRPr kumimoji="0" lang="en-US" altLang="en-US" sz="3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Sentiment analysis using social media data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Constituency-level forecasting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Web-based deployment for public access</a:t>
            </a:r>
          </a:p>
        </p:txBody>
      </p:sp>
    </p:spTree>
    <p:extLst>
      <p:ext uri="{BB962C8B-B14F-4D97-AF65-F5344CB8AC3E}">
        <p14:creationId xmlns:p14="http://schemas.microsoft.com/office/powerpoint/2010/main" val="13086948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839D-A181-3506-409E-CFBA99E5E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9E9D8EAF-A6E9-348A-6B62-6CFA341847E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2177718"/>
            <a:ext cx="12972077" cy="36471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3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ElectViz</a:t>
            </a:r>
            <a:r>
              <a:rPr kumimoji="0" lang="en-US" altLang="en-US" sz="3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successfully converts </a:t>
            </a:r>
            <a:r>
              <a:rPr kumimoji="0" lang="en-US" altLang="en-US" sz="33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raw election data into actionable insights</a:t>
            </a:r>
            <a:endParaRPr kumimoji="0" lang="en-US" altLang="en-US" sz="3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3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Enables: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Better understanding of political performance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Identification of voter and candidate trends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Data-driven decision making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The dashboard is </a:t>
            </a:r>
            <a:r>
              <a:rPr kumimoji="0" lang="en-US" altLang="en-US" sz="33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interactive, scalable and insightful</a:t>
            </a:r>
            <a:endParaRPr kumimoji="0" lang="en-US" altLang="en-US" sz="3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3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Can be extended for </a:t>
            </a:r>
            <a:r>
              <a:rPr kumimoji="0" lang="en-US" altLang="en-US" sz="33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future elections and predictive analysis</a:t>
            </a:r>
            <a:endParaRPr kumimoji="0" lang="en-US" altLang="en-US" sz="33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1130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B79812-3AEF-00B3-C91F-66ECF41359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62187" cy="4667250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Acknowledgements: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would like to express our heartfelt gratitude to: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Infosys Springboard Team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for organizing this valuable internship opportunity.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Mentor(</a:t>
            </a:r>
            <a:r>
              <a:rPr lang="en-US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Nityashree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Ma'am)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for her continuous support and feedback.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My Teammates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for collaboration, encouragement, and insights.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internship has been a significant step in our professional growth and technical journey.</a:t>
            </a: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References: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Election Dataset Source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Kaggle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Link: [</a:t>
            </a:r>
            <a:r>
              <a:rPr lang="en-US" u="sng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https://www.kaggle.com/datasets/awadhi123/indian-election-dataset?select=indian-state-level-election.csv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]</a:t>
            </a: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Infosys Springboard Virtual Internship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Course materials and resources</a:t>
            </a:r>
          </a:p>
          <a:p>
            <a:endParaRPr lang="en-IN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70F3EF01-468F-202B-940D-C1B1D0542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Autofit/>
          </a:bodyPr>
          <a:lstStyle/>
          <a:p>
            <a:pPr algn="ctr"/>
            <a:br>
              <a:rPr lang="en-US" b="1" dirty="0"/>
            </a:b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Acknowledgements and References</a:t>
            </a:r>
            <a:br>
              <a:rPr lang="en-US" b="1" dirty="0"/>
            </a:b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24584328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2DA2B07-E88F-C1AE-B1CF-B1F0E01B8D7E}"/>
              </a:ext>
            </a:extLst>
          </p:cNvPr>
          <p:cNvSpPr txBox="1"/>
          <p:nvPr/>
        </p:nvSpPr>
        <p:spPr>
          <a:xfrm>
            <a:off x="3096125" y="2317902"/>
            <a:ext cx="802105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8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2781954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150</TotalTime>
  <Words>718</Words>
  <Application>Microsoft Office PowerPoint</Application>
  <PresentationFormat>Widescreen</PresentationFormat>
  <Paragraphs>98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Times New Roman</vt:lpstr>
      <vt:lpstr>Office Theme</vt:lpstr>
      <vt:lpstr>Infosys_ElectViz Election Data Visualization for media</vt:lpstr>
      <vt:lpstr>Introduction</vt:lpstr>
      <vt:lpstr>System Design and Workflow</vt:lpstr>
      <vt:lpstr>Milestones</vt:lpstr>
      <vt:lpstr>Dashboard Overview</vt:lpstr>
      <vt:lpstr>PowerPoint Presentation</vt:lpstr>
      <vt:lpstr>PowerPoint Presentation</vt:lpstr>
      <vt:lpstr>Key Insights and Purpose</vt:lpstr>
      <vt:lpstr>Future Enhancements </vt:lpstr>
      <vt:lpstr>Conclusion</vt:lpstr>
      <vt:lpstr> Acknowledgements and References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BALA MURUGAN</dc:creator>
  <cp:lastModifiedBy>BALA MURUGAN</cp:lastModifiedBy>
  <cp:revision>4</cp:revision>
  <dcterms:created xsi:type="dcterms:W3CDTF">2026-02-07T08:49:37Z</dcterms:created>
  <dcterms:modified xsi:type="dcterms:W3CDTF">2026-02-10T14:39:16Z</dcterms:modified>
</cp:coreProperties>
</file>