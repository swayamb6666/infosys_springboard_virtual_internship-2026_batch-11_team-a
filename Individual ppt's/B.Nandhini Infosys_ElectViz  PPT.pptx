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1"/>
  </p:sldMasterIdLst>
  <p:notesMasterIdLst>
    <p:notesMasterId r:id="rId14"/>
  </p:notesMasterIdLst>
  <p:sldIdLst>
    <p:sldId id="256" r:id="rId2"/>
    <p:sldId id="257" r:id="rId3"/>
    <p:sldId id="258" r:id="rId4"/>
    <p:sldId id="274" r:id="rId5"/>
    <p:sldId id="259" r:id="rId6"/>
    <p:sldId id="270" r:id="rId7"/>
    <p:sldId id="271" r:id="rId8"/>
    <p:sldId id="273" r:id="rId9"/>
    <p:sldId id="267" r:id="rId10"/>
    <p:sldId id="268" r:id="rId11"/>
    <p:sldId id="272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E3D07-401E-4738-8697-244C859D712E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04C4EB-097C-4414-BCD2-56A004D759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5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4C4EB-097C-4414-BCD2-56A004D7591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441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456CE-36DF-8FF3-7CA2-86D55DAC5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DB9E67-18E8-5C8D-F4E9-CAF4074B81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3F06E-D1C8-7A40-CDAF-C4A23A1A9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494F-92C4-4A6F-B3DE-29E8BC47DC9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1D743-CB51-7F44-77C8-3DDAD762A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91767-1737-2CFD-7F8B-80D56D012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FC49E-C7A7-4A34-AE87-D7D2035A4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808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28859-55B7-5304-E76F-6181094F5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62398-5692-0568-8327-C38227E1B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006E4-56F8-8E4C-68D7-7E6EE4CE7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494F-92C4-4A6F-B3DE-29E8BC47DC9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AF015-0478-0B0F-2BF1-B3782706D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F43ED-4229-3AB8-A530-0C165C906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FC49E-C7A7-4A34-AE87-D7D2035A4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023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3FB0B-92B9-DF66-D711-E5ACEC565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7107C-E414-EA45-9F6A-B880D6815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C95E1-58EA-7AC2-760F-FCD58A1DF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494F-92C4-4A6F-B3DE-29E8BC47DC9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9BCFA-8F4C-172E-174E-A80E45625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B95CE-8B84-9219-30EA-CDB571C9D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FC49E-C7A7-4A34-AE87-D7D2035A4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403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5ED68-0A86-5002-12C1-D0CE42FFD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2EE44-319A-FF0E-6F2D-651458E536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D751E-0E2C-00C2-1069-0514D17A1D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656DE-4A17-4EB4-1068-C0C3095C5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494F-92C4-4A6F-B3DE-29E8BC47DC9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130AB-7DE1-A8E0-B6A2-C9744762E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128727-8EF0-0BCD-4B5B-65190D2E7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FC49E-C7A7-4A34-AE87-D7D2035A4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994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566F8-C0CF-E803-E3A6-81D0AD5A8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5B7EC-46D3-D44E-9887-CC80B32D0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20250-2EBD-0EEB-364A-7B49B4A93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0C9455-8CB3-567D-FD8C-E9B98ABD9F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2F32B9-C416-56AE-BDA0-4D2C877E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47AAB6-3A05-2562-6F9E-9AB06D30A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494F-92C4-4A6F-B3DE-29E8BC47DC9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00EE17-7ACC-B6B0-F905-CC801ED1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E785B-3D22-DA9B-DB2B-371C5C6A2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FC49E-C7A7-4A34-AE87-D7D2035A4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326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B9E71-53D8-2F1E-9B4B-49BEDA8BA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7B2987-CB96-8497-6819-BE4D012BF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494F-92C4-4A6F-B3DE-29E8BC47DC9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373140-605D-6A51-8913-BA1739FD6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A81867-C18A-8297-0DAA-08562DA55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FC49E-C7A7-4A34-AE87-D7D2035A4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506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30A771-E07A-89C0-9501-777FCA8C9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494F-92C4-4A6F-B3DE-29E8BC47DC9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C303B4-9EF5-7D34-9C59-F9D1C8CA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2E85D-7D80-D8A6-ADDB-21D05D13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FC49E-C7A7-4A34-AE87-D7D2035A4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736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D2BE6-494B-C02D-291B-568B40D73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5C1A7-997A-B563-B5D4-48058577C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0D04A-34D3-AAE4-A729-61F77FB78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E2C4B-19A7-83F8-5180-57A53187F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494F-92C4-4A6F-B3DE-29E8BC47DC9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B6BE-5ECA-F207-01B5-261C55FC8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A4AAD-52BB-188C-6FE5-D138A1492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FC49E-C7A7-4A34-AE87-D7D2035A4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374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74838-C115-BAB7-9C22-CF3CECBF7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1C9B6D-BDBB-7317-B82F-F6C7843F96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96906-3525-D52D-F74C-CDCAD3F37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6CB09-42C8-5E41-4D76-39DABC194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494F-92C4-4A6F-B3DE-29E8BC47DC9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F58DB-603A-3741-F843-839551672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D41270-04FB-FEC7-9552-B7447F98C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FC49E-C7A7-4A34-AE87-D7D2035A4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009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E661F-7ED9-003C-F781-70B0A7E7D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9DFB8-8028-B42D-903D-3C6092262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D5EB4-7B02-EA7D-7514-BCF6E5E6C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494F-92C4-4A6F-B3DE-29E8BC47DC9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5630B-1BBA-2004-0DB6-F7C969527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43BC4-7591-41FB-611E-9F6B213DF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FC49E-C7A7-4A34-AE87-D7D2035A4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26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784BC0-FEC9-C703-5778-67C9CA0168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9949A-0322-FE8A-D1DF-3CBC71C27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5D24D-1712-1D6F-00DC-74BA183AB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494F-92C4-4A6F-B3DE-29E8BC47DC9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9F6BE-6D9D-ADD3-7A29-35609DF4A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02FFE-A2A7-FE74-CBA9-35141B2C8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FC49E-C7A7-4A34-AE87-D7D2035A4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99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A17ED3-893D-4692-C4C5-4A79A66A6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7360D-5900-93DE-1926-36EF51DE5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5E087-BA95-F57B-FC8D-82B806E235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3494F-92C4-4A6F-B3DE-29E8BC47DC9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3A247-8419-78BA-6A38-516E2A8C7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4E56B-04E3-7516-6BFA-C6CE4EEC9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3FC49E-C7A7-4A34-AE87-D7D2035A4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273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awadhi123/indian-election-dataset?select=indian-state-level-election.csv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8B5F0-F59F-2D53-B961-2C4AEE4632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2707240"/>
            <a:ext cx="10343535" cy="1141861"/>
          </a:xfrm>
        </p:spPr>
        <p:txBody>
          <a:bodyPr>
            <a:normAutofit/>
          </a:bodyPr>
          <a:lstStyle/>
          <a:p>
            <a:r>
              <a:rPr lang="en-IN" sz="4000" b="1" dirty="0" err="1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Infosys_ElectViz</a:t>
            </a:r>
            <a:br>
              <a:rPr lang="en-IN" sz="36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Election Data Visualization for media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0954EE-76D5-37D9-AFB5-0B59B25DCF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1780" y="4060724"/>
            <a:ext cx="3346848" cy="2180303"/>
          </a:xfrm>
        </p:spPr>
        <p:txBody>
          <a:bodyPr>
            <a:normAutofit/>
          </a:bodyPr>
          <a:lstStyle/>
          <a:p>
            <a:pPr algn="r"/>
            <a:r>
              <a:rPr lang="en-IN" sz="30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pPr algn="r"/>
            <a:r>
              <a:rPr lang="en-IN" sz="30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Nandhini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A88E54-CB7F-E835-C32B-6DDE769324BA}"/>
              </a:ext>
            </a:extLst>
          </p:cNvPr>
          <p:cNvSpPr txBox="1"/>
          <p:nvPr/>
        </p:nvSpPr>
        <p:spPr>
          <a:xfrm>
            <a:off x="1032388" y="4180008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2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 : </a:t>
            </a:r>
          </a:p>
          <a:p>
            <a:pPr algn="l"/>
            <a:r>
              <a:rPr lang="en-IN" sz="32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Mrs. Nithyasri S 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2035F-593D-F18F-8389-9B7FF7795338}"/>
              </a:ext>
            </a:extLst>
          </p:cNvPr>
          <p:cNvSpPr txBox="1"/>
          <p:nvPr/>
        </p:nvSpPr>
        <p:spPr>
          <a:xfrm>
            <a:off x="1219200" y="742476"/>
            <a:ext cx="105303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Virtual Internship- 6.0 </a:t>
            </a:r>
          </a:p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Batch-11 </a:t>
            </a:r>
          </a:p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- 1</a:t>
            </a:r>
          </a:p>
        </p:txBody>
      </p:sp>
    </p:spTree>
    <p:extLst>
      <p:ext uri="{BB962C8B-B14F-4D97-AF65-F5344CB8AC3E}">
        <p14:creationId xmlns:p14="http://schemas.microsoft.com/office/powerpoint/2010/main" val="3009804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E01B7-3FE7-A7B2-B5FC-961A83622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2" y="682685"/>
            <a:ext cx="10364453" cy="761104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9D572-0CA8-DD4F-6B33-607D3ADF2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2" y="1620254"/>
            <a:ext cx="10364453" cy="4555062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Elections generate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large, complex datasets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involving candidates, parties, voters and constituencies.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of election data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error-prone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ElectViz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interactive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to: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Indian election data across multiple years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party performance, voter behavior and winning patterns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political analysis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transform raw election data into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clear, interactive and meaningful visual insights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7276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D721C-E20D-843B-BA5E-5F4BD055D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527" y="51551"/>
            <a:ext cx="10515600" cy="62948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and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76CBC-119A-43DB-68BA-EE396E1E5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58778"/>
            <a:ext cx="12031579" cy="5799221"/>
          </a:xfrm>
        </p:spPr>
        <p:txBody>
          <a:bodyPr>
            <a:normAutofit fontScale="85000" lnSpcReduction="20000"/>
          </a:bodyPr>
          <a:lstStyle/>
          <a:p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Indian election data (candidates, votes, constituencies, parties, demographics)</a:t>
            </a:r>
          </a:p>
          <a:p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</a:t>
            </a: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formatting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calculated columns and measures using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Modelling</a:t>
            </a: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Establishing relationships between tables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star schema for performance</a:t>
            </a:r>
          </a:p>
          <a:p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(Power BI)</a:t>
            </a: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Filters, slicers, drill-down features</a:t>
            </a:r>
          </a:p>
          <a:p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Generation</a:t>
            </a: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Party performance comparison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Electability and winning factor evaluation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EB041F-A57E-D65A-D8ED-2D81B25B7774}"/>
              </a:ext>
            </a:extLst>
          </p:cNvPr>
          <p:cNvSpPr/>
          <p:nvPr/>
        </p:nvSpPr>
        <p:spPr>
          <a:xfrm>
            <a:off x="8721212" y="1789471"/>
            <a:ext cx="2694039" cy="363794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4EDC88-BE51-286D-432D-AA9380C56855}"/>
              </a:ext>
            </a:extLst>
          </p:cNvPr>
          <p:cNvSpPr/>
          <p:nvPr/>
        </p:nvSpPr>
        <p:spPr>
          <a:xfrm>
            <a:off x="8721212" y="2450007"/>
            <a:ext cx="2694039" cy="58993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/ Data pre-processing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DA0DB9-0BCA-2308-00F4-FC9C95E463DB}"/>
              </a:ext>
            </a:extLst>
          </p:cNvPr>
          <p:cNvSpPr/>
          <p:nvPr/>
        </p:nvSpPr>
        <p:spPr>
          <a:xfrm>
            <a:off x="8721212" y="3268907"/>
            <a:ext cx="2694039" cy="499421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FBFA9A-58A4-F6AB-1668-4F99513F052E}"/>
              </a:ext>
            </a:extLst>
          </p:cNvPr>
          <p:cNvSpPr/>
          <p:nvPr/>
        </p:nvSpPr>
        <p:spPr>
          <a:xfrm>
            <a:off x="8721212" y="4065070"/>
            <a:ext cx="2694039" cy="58993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Modelling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33E0B3-4A65-56C3-C1E1-248962301377}"/>
              </a:ext>
            </a:extLst>
          </p:cNvPr>
          <p:cNvSpPr/>
          <p:nvPr/>
        </p:nvSpPr>
        <p:spPr>
          <a:xfrm>
            <a:off x="8721212" y="6087577"/>
            <a:ext cx="2694039" cy="58993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and Insights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7E2C2E-C686-024C-0E5E-48EB83FE4788}"/>
              </a:ext>
            </a:extLst>
          </p:cNvPr>
          <p:cNvSpPr/>
          <p:nvPr/>
        </p:nvSpPr>
        <p:spPr>
          <a:xfrm>
            <a:off x="8721212" y="5055343"/>
            <a:ext cx="2694039" cy="58993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Reports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8D9119-E552-433C-527E-0845944B9F91}"/>
              </a:ext>
            </a:extLst>
          </p:cNvPr>
          <p:cNvCxnSpPr>
            <a:cxnSpLocks/>
          </p:cNvCxnSpPr>
          <p:nvPr/>
        </p:nvCxnSpPr>
        <p:spPr>
          <a:xfrm>
            <a:off x="9910916" y="2153265"/>
            <a:ext cx="0" cy="2967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BB9555F-067F-7FCA-E9F1-A2C09DCCD232}"/>
              </a:ext>
            </a:extLst>
          </p:cNvPr>
          <p:cNvCxnSpPr/>
          <p:nvPr/>
        </p:nvCxnSpPr>
        <p:spPr>
          <a:xfrm>
            <a:off x="9910916" y="3039943"/>
            <a:ext cx="0" cy="2289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1CB76C6-BE3B-5C49-10EE-25EC7D350AF4}"/>
              </a:ext>
            </a:extLst>
          </p:cNvPr>
          <p:cNvCxnSpPr>
            <a:cxnSpLocks/>
          </p:cNvCxnSpPr>
          <p:nvPr/>
        </p:nvCxnSpPr>
        <p:spPr>
          <a:xfrm>
            <a:off x="9935497" y="3768328"/>
            <a:ext cx="0" cy="2967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59DD850-2396-7DF0-875A-1796B7B431E6}"/>
              </a:ext>
            </a:extLst>
          </p:cNvPr>
          <p:cNvCxnSpPr>
            <a:cxnSpLocks/>
          </p:cNvCxnSpPr>
          <p:nvPr/>
        </p:nvCxnSpPr>
        <p:spPr>
          <a:xfrm>
            <a:off x="9935497" y="4655006"/>
            <a:ext cx="0" cy="4003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9B9485F-FA92-6FEB-B101-82D3D29FE39C}"/>
              </a:ext>
            </a:extLst>
          </p:cNvPr>
          <p:cNvCxnSpPr>
            <a:cxnSpLocks/>
          </p:cNvCxnSpPr>
          <p:nvPr/>
        </p:nvCxnSpPr>
        <p:spPr>
          <a:xfrm>
            <a:off x="9910916" y="5645279"/>
            <a:ext cx="0" cy="4422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3339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66A4A-5737-D612-8AEE-5B5B539B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BEF9A-76D4-DEB0-17B9-CA3453D2B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1: Data Preparation &amp; Modeling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understanding, dataset exploration, and data cleaning performed.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data modeling and relationships established in Power BI.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2: Core Dashboard Development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key dashboards: Election Overview, Party Performance, and Gender Distribution.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foundational insights and comparative analysis.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3: Advanced Analytics Implementation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advanced dashboards for Candidate Demographics and Electability analysis.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custom DAX measures for deeper performance insights.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4: Trend &amp; Outcome Analysis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Trend Analysis and Winning Factor dashboards.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insights derived and complete project documentation prepared.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4015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55E09-EE15-CC41-7EBF-F6072198E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BE828-7436-8E3A-66A2-DD0598309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ElectViz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consists of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analytical pages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Election Overview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Party Performance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Distribution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Demographic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Electability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Election Outcome &amp; Winning Factor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page focuses on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analytical objective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7593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34B49F8B-5B1D-4D45-0F2F-17F44966E2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89" t="18637" r="36741" b="20957"/>
          <a:stretch>
            <a:fillRect/>
          </a:stretch>
        </p:blipFill>
        <p:spPr>
          <a:xfrm>
            <a:off x="85469" y="533534"/>
            <a:ext cx="6010531" cy="27183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E6467F-E21E-DAC2-3B1A-D4A1CC193A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31" t="19649" r="36447" b="21403"/>
          <a:stretch>
            <a:fillRect/>
          </a:stretch>
        </p:blipFill>
        <p:spPr>
          <a:xfrm>
            <a:off x="6430298" y="633608"/>
            <a:ext cx="5555224" cy="25247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0E2D48-065A-3B01-1907-A95D5CCB32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64" t="18246" r="36579" b="20234"/>
          <a:stretch>
            <a:fillRect/>
          </a:stretch>
        </p:blipFill>
        <p:spPr>
          <a:xfrm>
            <a:off x="85469" y="3291346"/>
            <a:ext cx="6010531" cy="34290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5F1134-BDAC-464A-EEC9-520606A650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6" t="18246" r="36316" b="20234"/>
          <a:stretch>
            <a:fillRect/>
          </a:stretch>
        </p:blipFill>
        <p:spPr>
          <a:xfrm>
            <a:off x="6430297" y="3324688"/>
            <a:ext cx="5604387" cy="33956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906EFC-FBB8-ABD1-5C68-8375E18EC0F9}"/>
              </a:ext>
            </a:extLst>
          </p:cNvPr>
          <p:cNvSpPr txBox="1"/>
          <p:nvPr/>
        </p:nvSpPr>
        <p:spPr>
          <a:xfrm>
            <a:off x="3215148" y="3236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91068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E21500-37EB-3488-05DE-2AE3739C3C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7" t="18479" r="36316" b="20468"/>
          <a:stretch>
            <a:fillRect/>
          </a:stretch>
        </p:blipFill>
        <p:spPr>
          <a:xfrm>
            <a:off x="230542" y="146579"/>
            <a:ext cx="5310182" cy="29677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50B8F9-DFE3-9CCA-3338-5B8806EB61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68" t="18479" r="36842" b="20468"/>
          <a:stretch>
            <a:fillRect/>
          </a:stretch>
        </p:blipFill>
        <p:spPr>
          <a:xfrm>
            <a:off x="6096000" y="146579"/>
            <a:ext cx="5310182" cy="29999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EE311F-9E5E-D487-DFC9-2521FACC05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6" t="18947" r="36184" b="19766"/>
          <a:stretch>
            <a:fillRect/>
          </a:stretch>
        </p:blipFill>
        <p:spPr>
          <a:xfrm>
            <a:off x="2723535" y="3711514"/>
            <a:ext cx="6086168" cy="282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525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DF296-DE24-958C-CAA2-12D54D202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70" y="167150"/>
            <a:ext cx="10446773" cy="599768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and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A17AD-58F8-26BF-4F7B-411E0887C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0" y="1140542"/>
            <a:ext cx="11808541" cy="555030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Overview Dashboard: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Seat dominance contrasts with competitive vote share and shrinking margins.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highlight national electoral trends and overall competition patterns.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Party Performance Dashboard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Few parties dominate wins, while regional strength and vote-seat gaps persist.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party dominance, performance shifts and electoral efficiency.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State-wise Analysis Dashboard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Electoral outcomes and turnout vary significantly by region.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state-level political behavior and regional influence.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Candidate Demographics Dashboard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Mid-aged, experienced, and repeat candidates show higher success rates.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assess how demographics and background impact electability.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Constituency-level Insights Dashboard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Swing seats and narrow margins heavily influence overall results.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competitive constituencies and local electoral dynamics.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Winning Margin &amp; Trend Dashboard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Declining margins indicate rising competition and electoral volatility.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track competitiveness trends and identify stronghold vs battleground areas.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0099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D6773-8570-D5DA-CF6C-887D3B87B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791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333423-BF1A-90E1-D2B5-123B3D590F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9990221" cy="4147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election data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 using ML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using social media data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Constituency-level forecasting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deployment for public access</a:t>
            </a:r>
          </a:p>
        </p:txBody>
      </p:sp>
    </p:spTree>
    <p:extLst>
      <p:ext uri="{BB962C8B-B14F-4D97-AF65-F5344CB8AC3E}">
        <p14:creationId xmlns:p14="http://schemas.microsoft.com/office/powerpoint/2010/main" val="1308694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8839D-A181-3506-409E-CFBA99E5E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9D8EAF-A6E9-348A-6B62-6CFA341847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77718"/>
            <a:ext cx="12972077" cy="3647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ElectViz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converts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raw election data into actionable insights</a:t>
            </a:r>
            <a:endParaRPr kumimoji="0" lang="en-US" altLang="en-US" sz="3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understanding of political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voter and candidate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 making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is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interactive, scalable and insightful</a:t>
            </a:r>
            <a:endParaRPr kumimoji="0" lang="en-US" altLang="en-US" sz="3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extended for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elections and predictive analysis</a:t>
            </a:r>
            <a:endParaRPr kumimoji="0" lang="en-US" altLang="en-US" sz="3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130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79812-3AEF-00B3-C91F-66ECF4135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62187" cy="46672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would like to express our heartfelt gratitude to: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Team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for organizing this valuable internship opportunity.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Mentor(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Nityashree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Ma'am)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for her continuous support and feedback.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Teammates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for collaboration, encouragement and insights.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has been a significant step in our professional growth and technical journey.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Election Dataset Source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Kaggle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Link: [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https://www.kaggle.com/datasets/awadhi123/indian-election-dataset?select=indian-state-level-election.csv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Virtual Internship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Course materials and resources</a:t>
            </a:r>
          </a:p>
          <a:p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0F3EF01-468F-202B-940D-C1B1D054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pPr algn="ctr"/>
            <a:br>
              <a:rPr lang="en-US" b="1" dirty="0"/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 and References</a:t>
            </a:r>
            <a:br>
              <a:rPr lang="en-US" b="1" dirty="0"/>
            </a:b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458432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2DA2B07-E88F-C1AE-B1CF-B1F0E01B8D7E}"/>
              </a:ext>
            </a:extLst>
          </p:cNvPr>
          <p:cNvSpPr txBox="1"/>
          <p:nvPr/>
        </p:nvSpPr>
        <p:spPr>
          <a:xfrm>
            <a:off x="3096125" y="2317902"/>
            <a:ext cx="802105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78195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</TotalTime>
  <Words>720</Words>
  <Application>Microsoft Office PowerPoint</Application>
  <PresentationFormat>Widescreen</PresentationFormat>
  <Paragraphs>99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Infosys_ElectViz Election Data Visualization for media</vt:lpstr>
      <vt:lpstr>Introduction</vt:lpstr>
      <vt:lpstr>System Design and Workflow</vt:lpstr>
      <vt:lpstr>Milestones</vt:lpstr>
      <vt:lpstr>Dashboard Overview</vt:lpstr>
      <vt:lpstr>PowerPoint Presentation</vt:lpstr>
      <vt:lpstr>PowerPoint Presentation</vt:lpstr>
      <vt:lpstr>Key Insights and Purpose</vt:lpstr>
      <vt:lpstr>Future Enhancements </vt:lpstr>
      <vt:lpstr>Conclusion</vt:lpstr>
      <vt:lpstr> Acknowledgements and 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 MURUGAN</dc:creator>
  <cp:lastModifiedBy>BALA MURUGAN</cp:lastModifiedBy>
  <cp:revision>6</cp:revision>
  <dcterms:created xsi:type="dcterms:W3CDTF">2026-02-07T08:49:37Z</dcterms:created>
  <dcterms:modified xsi:type="dcterms:W3CDTF">2026-02-16T14:01:54Z</dcterms:modified>
</cp:coreProperties>
</file>